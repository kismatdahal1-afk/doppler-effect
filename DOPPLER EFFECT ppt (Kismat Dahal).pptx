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28" r:id="rId1"/>
  </p:sldMasterIdLst>
  <p:sldIdLst>
    <p:sldId id="257" r:id="rId2"/>
    <p:sldId id="259" r:id="rId3"/>
    <p:sldId id="260" r:id="rId4"/>
    <p:sldId id="261" r:id="rId5"/>
    <p:sldId id="262" r:id="rId6"/>
    <p:sldId id="263" r:id="rId7"/>
    <p:sldId id="264" r:id="rId8"/>
    <p:sldId id="271" r:id="rId9"/>
    <p:sldId id="272" r:id="rId10"/>
    <p:sldId id="265" r:id="rId11"/>
    <p:sldId id="266" r:id="rId1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48A28"/>
    <a:srgbClr val="2200EE"/>
    <a:srgbClr val="603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9" d="100"/>
          <a:sy n="89" d="100"/>
        </p:scale>
        <p:origin x="-1258" y="-6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AD41AEEB-E82B-437B-826E-91DBA823FF18}" type="datetimeFigureOut">
              <a:rPr lang="en-US" smtClean="0"/>
              <a:t>7/29/2026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D2FBE44-5480-467D-8745-15F18BA4842F}" type="slidenum">
              <a:rPr lang="en-US" smtClean="0"/>
              <a:t>‹#›</a:t>
            </a:fld>
            <a:endParaRPr lang="en-US"/>
          </a:p>
        </p:txBody>
      </p:sp>
    </p:spTree>
    <p:extLst>
      <p:ext uri="{BB962C8B-B14F-4D97-AF65-F5344CB8AC3E}">
        <p14:creationId xmlns:p14="http://schemas.microsoft.com/office/powerpoint/2010/main" val="14529739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D41AEEB-E82B-437B-826E-91DBA823FF18}" type="datetimeFigureOut">
              <a:rPr lang="en-US" smtClean="0"/>
              <a:t>7/29/2026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D2FBE44-5480-467D-8745-15F18BA4842F}" type="slidenum">
              <a:rPr lang="en-US" smtClean="0"/>
              <a:t>‹#›</a:t>
            </a:fld>
            <a:endParaRPr lang="en-US"/>
          </a:p>
        </p:txBody>
      </p:sp>
    </p:spTree>
    <p:extLst>
      <p:ext uri="{BB962C8B-B14F-4D97-AF65-F5344CB8AC3E}">
        <p14:creationId xmlns:p14="http://schemas.microsoft.com/office/powerpoint/2010/main" val="23085389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D41AEEB-E82B-437B-826E-91DBA823FF18}" type="datetimeFigureOut">
              <a:rPr lang="en-US" smtClean="0"/>
              <a:t>7/29/2026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D2FBE44-5480-467D-8745-15F18BA4842F}" type="slidenum">
              <a:rPr lang="en-US" smtClean="0"/>
              <a:t>‹#›</a:t>
            </a:fld>
            <a:endParaRPr lang="en-US"/>
          </a:p>
        </p:txBody>
      </p:sp>
    </p:spTree>
    <p:extLst>
      <p:ext uri="{BB962C8B-B14F-4D97-AF65-F5344CB8AC3E}">
        <p14:creationId xmlns:p14="http://schemas.microsoft.com/office/powerpoint/2010/main" val="36773924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AD41AEEB-E82B-437B-826E-91DBA823FF18}" type="datetimeFigureOut">
              <a:rPr lang="en-US" smtClean="0"/>
              <a:t>7/29/2026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D2FBE44-5480-467D-8745-15F18BA4842F}" type="slidenum">
              <a:rPr lang="en-US" smtClean="0"/>
              <a:t>‹#›</a:t>
            </a:fld>
            <a:endParaRPr lang="en-US"/>
          </a:p>
        </p:txBody>
      </p:sp>
    </p:spTree>
    <p:extLst>
      <p:ext uri="{BB962C8B-B14F-4D97-AF65-F5344CB8AC3E}">
        <p14:creationId xmlns:p14="http://schemas.microsoft.com/office/powerpoint/2010/main" val="40539406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AD41AEEB-E82B-437B-826E-91DBA823FF18}" type="datetimeFigureOut">
              <a:rPr lang="en-US" smtClean="0"/>
              <a:t>7/29/2026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D2FBE44-5480-467D-8745-15F18BA4842F}" type="slidenum">
              <a:rPr lang="en-US" smtClean="0"/>
              <a:t>‹#›</a:t>
            </a:fld>
            <a:endParaRPr lang="en-US"/>
          </a:p>
        </p:txBody>
      </p:sp>
    </p:spTree>
    <p:extLst>
      <p:ext uri="{BB962C8B-B14F-4D97-AF65-F5344CB8AC3E}">
        <p14:creationId xmlns:p14="http://schemas.microsoft.com/office/powerpoint/2010/main" val="26954817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AD41AEEB-E82B-437B-826E-91DBA823FF18}" type="datetimeFigureOut">
              <a:rPr lang="en-US" smtClean="0"/>
              <a:t>7/29/2026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D2FBE44-5480-467D-8745-15F18BA4842F}" type="slidenum">
              <a:rPr lang="en-US" smtClean="0"/>
              <a:t>‹#›</a:t>
            </a:fld>
            <a:endParaRPr lang="en-US"/>
          </a:p>
        </p:txBody>
      </p:sp>
    </p:spTree>
    <p:extLst>
      <p:ext uri="{BB962C8B-B14F-4D97-AF65-F5344CB8AC3E}">
        <p14:creationId xmlns:p14="http://schemas.microsoft.com/office/powerpoint/2010/main" val="11858494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D41AEEB-E82B-437B-826E-91DBA823FF18}" type="datetimeFigureOut">
              <a:rPr lang="en-US" smtClean="0"/>
              <a:t>7/29/2026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D2FBE44-5480-467D-8745-15F18BA4842F}" type="slidenum">
              <a:rPr lang="en-US" smtClean="0"/>
              <a:t>‹#›</a:t>
            </a:fld>
            <a:endParaRPr lang="en-US"/>
          </a:p>
        </p:txBody>
      </p:sp>
    </p:spTree>
    <p:extLst>
      <p:ext uri="{BB962C8B-B14F-4D97-AF65-F5344CB8AC3E}">
        <p14:creationId xmlns:p14="http://schemas.microsoft.com/office/powerpoint/2010/main" val="40418868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D41AEEB-E82B-437B-826E-91DBA823FF18}" type="datetimeFigureOut">
              <a:rPr lang="en-US" smtClean="0"/>
              <a:t>7/29/2026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D2FBE44-5480-467D-8745-15F18BA4842F}" type="slidenum">
              <a:rPr lang="en-US" smtClean="0"/>
              <a:t>‹#›</a:t>
            </a:fld>
            <a:endParaRPr lang="en-US"/>
          </a:p>
        </p:txBody>
      </p:sp>
    </p:spTree>
    <p:extLst>
      <p:ext uri="{BB962C8B-B14F-4D97-AF65-F5344CB8AC3E}">
        <p14:creationId xmlns:p14="http://schemas.microsoft.com/office/powerpoint/2010/main" val="25467208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D41AEEB-E82B-437B-826E-91DBA823FF18}" type="datetimeFigureOut">
              <a:rPr lang="en-US" smtClean="0"/>
              <a:t>7/29/2026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D2FBE44-5480-467D-8745-15F18BA4842F}" type="slidenum">
              <a:rPr lang="en-US" smtClean="0"/>
              <a:t>‹#›</a:t>
            </a:fld>
            <a:endParaRPr lang="en-US"/>
          </a:p>
        </p:txBody>
      </p:sp>
    </p:spTree>
    <p:extLst>
      <p:ext uri="{BB962C8B-B14F-4D97-AF65-F5344CB8AC3E}">
        <p14:creationId xmlns:p14="http://schemas.microsoft.com/office/powerpoint/2010/main" val="28614446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D41AEEB-E82B-437B-826E-91DBA823FF18}" type="datetimeFigureOut">
              <a:rPr lang="en-US" smtClean="0"/>
              <a:t>7/29/2026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D2FBE44-5480-467D-8745-15F18BA4842F}" type="slidenum">
              <a:rPr lang="en-US" smtClean="0"/>
              <a:t>‹#›</a:t>
            </a:fld>
            <a:endParaRPr lang="en-US"/>
          </a:p>
        </p:txBody>
      </p:sp>
    </p:spTree>
    <p:extLst>
      <p:ext uri="{BB962C8B-B14F-4D97-AF65-F5344CB8AC3E}">
        <p14:creationId xmlns:p14="http://schemas.microsoft.com/office/powerpoint/2010/main" val="22729962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D41AEEB-E82B-437B-826E-91DBA823FF18}" type="datetimeFigureOut">
              <a:rPr lang="en-US" smtClean="0"/>
              <a:t>7/29/2026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D2FBE44-5480-467D-8745-15F18BA4842F}" type="slidenum">
              <a:rPr lang="en-US" smtClean="0"/>
              <a:t>‹#›</a:t>
            </a:fld>
            <a:endParaRPr lang="en-US"/>
          </a:p>
        </p:txBody>
      </p:sp>
    </p:spTree>
    <p:extLst>
      <p:ext uri="{BB962C8B-B14F-4D97-AF65-F5344CB8AC3E}">
        <p14:creationId xmlns:p14="http://schemas.microsoft.com/office/powerpoint/2010/main" val="1480517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95000"/>
            <a:lum/>
          </a:blip>
          <a:srcRect/>
          <a:stretch>
            <a:fillRect l="38000" r="-5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D41AEEB-E82B-437B-826E-91DBA823FF18}" type="datetimeFigureOut">
              <a:rPr lang="en-US" smtClean="0"/>
              <a:t>7/29/2026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D2FBE44-5480-467D-8745-15F18BA4842F}" type="slidenum">
              <a:rPr lang="en-US" smtClean="0"/>
              <a:t>‹#›</a:t>
            </a:fld>
            <a:endParaRPr lang="en-US"/>
          </a:p>
        </p:txBody>
      </p:sp>
      <p:sp>
        <p:nvSpPr>
          <p:cNvPr id="7" name="TextBox 6"/>
          <p:cNvSpPr txBox="1"/>
          <p:nvPr userDrawn="1"/>
        </p:nvSpPr>
        <p:spPr>
          <a:xfrm>
            <a:off x="990600" y="3200400"/>
            <a:ext cx="4648200" cy="369332"/>
          </a:xfrm>
          <a:prstGeom prst="rect">
            <a:avLst/>
          </a:prstGeom>
          <a:noFill/>
        </p:spPr>
        <p:txBody>
          <a:bodyPr wrap="square" rtlCol="0">
            <a:spAutoFit/>
          </a:bodyPr>
          <a:lstStyle/>
          <a:p>
            <a:endParaRPr lang="en-US" dirty="0"/>
          </a:p>
        </p:txBody>
      </p:sp>
      <p:sp>
        <p:nvSpPr>
          <p:cNvPr id="8" name="TextBox 7"/>
          <p:cNvSpPr txBox="1"/>
          <p:nvPr userDrawn="1"/>
        </p:nvSpPr>
        <p:spPr>
          <a:xfrm rot="19370924">
            <a:off x="2906742" y="3111667"/>
            <a:ext cx="2975923" cy="1107996"/>
          </a:xfrm>
          <a:prstGeom prst="rect">
            <a:avLst/>
          </a:prstGeom>
          <a:noFill/>
        </p:spPr>
        <p:txBody>
          <a:bodyPr wrap="square" rtlCol="0">
            <a:spAutoFit/>
          </a:bodyPr>
          <a:lstStyle/>
          <a:p>
            <a:r>
              <a:rPr lang="en-US" sz="6600" dirty="0" smtClean="0">
                <a:solidFill>
                  <a:schemeClr val="bg1">
                    <a:lumMod val="75000"/>
                  </a:schemeClr>
                </a:solidFill>
                <a:latin typeface="Lucida Calligraphy" pitchFamily="66" charset="0"/>
              </a:rPr>
              <a:t>KDC</a:t>
            </a:r>
            <a:endParaRPr lang="en-US" sz="6600" dirty="0">
              <a:solidFill>
                <a:schemeClr val="bg1">
                  <a:lumMod val="75000"/>
                </a:schemeClr>
              </a:solidFill>
              <a:latin typeface="Lucida Calligraphy" pitchFamily="66" charset="0"/>
            </a:endParaRPr>
          </a:p>
        </p:txBody>
      </p:sp>
    </p:spTree>
    <p:extLst>
      <p:ext uri="{BB962C8B-B14F-4D97-AF65-F5344CB8AC3E}">
        <p14:creationId xmlns:p14="http://schemas.microsoft.com/office/powerpoint/2010/main" val="2285074038"/>
      </p:ext>
    </p:extLst>
  </p:cSld>
  <p:clrMap bg1="lt1" tx1="dk1" bg2="lt2" tx2="dk2" accent1="accent1" accent2="accent2" accent3="accent3" accent4="accent4" accent5="accent5" accent6="accent6" hlink="hlink" folHlink="folHlink"/>
  <p:sldLayoutIdLst>
    <p:sldLayoutId id="2147483829" r:id="rId1"/>
    <p:sldLayoutId id="2147483830" r:id="rId2"/>
    <p:sldLayoutId id="2147483831" r:id="rId3"/>
    <p:sldLayoutId id="2147483832" r:id="rId4"/>
    <p:sldLayoutId id="2147483833" r:id="rId5"/>
    <p:sldLayoutId id="2147483834" r:id="rId6"/>
    <p:sldLayoutId id="2147483835" r:id="rId7"/>
    <p:sldLayoutId id="2147483836" r:id="rId8"/>
    <p:sldLayoutId id="2147483837" r:id="rId9"/>
    <p:sldLayoutId id="2147483838" r:id="rId10"/>
    <p:sldLayoutId id="214748383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0.png"/><Relationship Id="rId7" Type="http://schemas.openxmlformats.org/officeDocument/2006/relationships/image" Target="../media/image15.png"/><Relationship Id="rId2" Type="http://schemas.openxmlformats.org/officeDocument/2006/relationships/image" Target="../media/image8.jpe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1.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8" Type="http://schemas.openxmlformats.org/officeDocument/2006/relationships/image" Target="../media/image20.png"/><Relationship Id="rId7" Type="http://schemas.openxmlformats.org/officeDocument/2006/relationships/image" Target="../media/image8.jpeg"/><Relationship Id="rId1" Type="http://schemas.openxmlformats.org/officeDocument/2006/relationships/slideLayout" Target="../slideLayouts/slideLayout2.xml"/><Relationship Id="rId6" Type="http://schemas.openxmlformats.org/officeDocument/2006/relationships/image" Target="../media/image12.jpeg"/><Relationship Id="rId5" Type="http://schemas.openxmlformats.org/officeDocument/2006/relationships/image" Target="../media/image19.png"/><Relationship Id="rId4" Type="http://schemas.openxmlformats.org/officeDocument/2006/relationships/image" Target="../media/image18.png"/></Relationships>
</file>

<file path=ppt/slides/_rels/slide6.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8.jpeg"/><Relationship Id="rId7" Type="http://schemas.openxmlformats.org/officeDocument/2006/relationships/image" Target="../media/image23.png"/><Relationship Id="rId2" Type="http://schemas.openxmlformats.org/officeDocument/2006/relationships/image" Target="../media/image12.jpe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4.png"/><Relationship Id="rId9" Type="http://schemas.openxmlformats.org/officeDocument/2006/relationships/image" Target="../media/image25.png"/></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7.png"/><Relationship Id="rId7" Type="http://schemas.openxmlformats.org/officeDocument/2006/relationships/image" Target="../media/image28.png"/><Relationship Id="rId2" Type="http://schemas.openxmlformats.org/officeDocument/2006/relationships/image" Target="../media/image12.jpeg"/><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8.jpeg"/></Relationships>
</file>

<file path=ppt/slides/_rels/slide8.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jpeg"/><Relationship Id="rId7" Type="http://schemas.openxmlformats.org/officeDocument/2006/relationships/image" Target="../media/image32.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12.jpeg"/><Relationship Id="rId9" Type="http://schemas.openxmlformats.org/officeDocument/2006/relationships/image" Target="../media/image34.png"/></Relationships>
</file>

<file path=ppt/slides/_rels/slide9.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8.jpeg"/><Relationship Id="rId7" Type="http://schemas.openxmlformats.org/officeDocument/2006/relationships/image" Target="../media/image37.png"/><Relationship Id="rId2" Type="http://schemas.openxmlformats.org/officeDocument/2006/relationships/image" Target="../media/image12.jpeg"/><Relationship Id="rId1" Type="http://schemas.openxmlformats.org/officeDocument/2006/relationships/slideLayout" Target="../slideLayouts/slideLayout7.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7.png"/><Relationship Id="rId9" Type="http://schemas.openxmlformats.org/officeDocument/2006/relationships/image" Target="../media/image3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81000" y="125963"/>
            <a:ext cx="3886200" cy="584775"/>
          </a:xfrm>
          <a:prstGeom prst="rect">
            <a:avLst/>
          </a:prstGeom>
          <a:noFill/>
        </p:spPr>
        <p:txBody>
          <a:bodyPr wrap="square" rtlCol="0">
            <a:spAutoFit/>
          </a:bodyPr>
          <a:lstStyle/>
          <a:p>
            <a:r>
              <a:rPr lang="en-US" sz="3200" b="1" dirty="0" smtClean="0">
                <a:solidFill>
                  <a:srgbClr val="002060"/>
                </a:solidFill>
                <a:latin typeface="Times New Roman" pitchFamily="18" charset="0"/>
                <a:cs typeface="Times New Roman" pitchFamily="18" charset="0"/>
              </a:rPr>
              <a:t>INTRODUCTION</a:t>
            </a:r>
            <a:endParaRPr lang="en-US" sz="3200" b="1" dirty="0">
              <a:solidFill>
                <a:srgbClr val="002060"/>
              </a:solidFill>
              <a:latin typeface="Times New Roman" pitchFamily="18" charset="0"/>
              <a:cs typeface="Times New Roman" pitchFamily="18" charset="0"/>
            </a:endParaRPr>
          </a:p>
        </p:txBody>
      </p:sp>
      <p:sp>
        <p:nvSpPr>
          <p:cNvPr id="5" name="TextBox 4"/>
          <p:cNvSpPr txBox="1"/>
          <p:nvPr/>
        </p:nvSpPr>
        <p:spPr>
          <a:xfrm>
            <a:off x="381000" y="1219200"/>
            <a:ext cx="7543800" cy="1323439"/>
          </a:xfrm>
          <a:prstGeom prst="rect">
            <a:avLst/>
          </a:prstGeom>
          <a:noFill/>
        </p:spPr>
        <p:txBody>
          <a:bodyPr wrap="square" rtlCol="0">
            <a:spAutoFit/>
          </a:bodyPr>
          <a:lstStyle/>
          <a:p>
            <a:pPr algn="just"/>
            <a:r>
              <a:rPr lang="en-US" sz="2000" b="1" dirty="0" smtClean="0">
                <a:solidFill>
                  <a:srgbClr val="002060"/>
                </a:solidFill>
                <a:latin typeface="Times New Roman" pitchFamily="18" charset="0"/>
                <a:cs typeface="Times New Roman" pitchFamily="18" charset="0"/>
              </a:rPr>
              <a:t>Doppler’s Effect </a:t>
            </a:r>
            <a:r>
              <a:rPr lang="en-US" sz="2000" dirty="0" smtClean="0">
                <a:latin typeface="Times New Roman" pitchFamily="18" charset="0"/>
                <a:cs typeface="Times New Roman" pitchFamily="18" charset="0"/>
              </a:rPr>
              <a:t>is a physical phenomenon that describes the change in the frequency of sound heard by an observer when either the source of the sound or the observer or both are in motion relative to each other. This effect was first explained by Christian Doppler in 1842.</a:t>
            </a:r>
            <a:endParaRPr lang="en-US" sz="2000" dirty="0">
              <a:latin typeface="Times New Roman" pitchFamily="18" charset="0"/>
              <a:cs typeface="Times New Roman" pitchFamily="18" charset="0"/>
            </a:endParaRPr>
          </a:p>
        </p:txBody>
      </p:sp>
      <p:pic>
        <p:nvPicPr>
          <p:cNvPr id="17" name="Picture 16"/>
          <p:cNvPicPr>
            <a:picLocks noChangeAspect="1"/>
          </p:cNvPicPr>
          <p:nvPr/>
        </p:nvPicPr>
        <p:blipFill rotWithShape="1">
          <a:blip r:embed="rId2">
            <a:extLst>
              <a:ext uri="{28A0092B-C50C-407E-A947-70E740481C1C}">
                <a14:useLocalDpi xmlns:a14="http://schemas.microsoft.com/office/drawing/2010/main" val="0"/>
              </a:ext>
            </a:extLst>
          </a:blip>
          <a:srcRect t="8232" b="12037"/>
          <a:stretch/>
        </p:blipFill>
        <p:spPr>
          <a:xfrm>
            <a:off x="1219200" y="3505200"/>
            <a:ext cx="4800600" cy="2513185"/>
          </a:xfrm>
          <a:prstGeom prst="rect">
            <a:avLst/>
          </a:prstGeom>
        </p:spPr>
      </p:pic>
    </p:spTree>
    <p:extLst>
      <p:ext uri="{BB962C8B-B14F-4D97-AF65-F5344CB8AC3E}">
        <p14:creationId xmlns:p14="http://schemas.microsoft.com/office/powerpoint/2010/main" val="192770705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152400" y="657255"/>
            <a:ext cx="4953000" cy="400110"/>
          </a:xfrm>
          <a:prstGeom prst="rect">
            <a:avLst/>
          </a:prstGeom>
          <a:noFill/>
        </p:spPr>
        <p:txBody>
          <a:bodyPr wrap="square" rtlCol="0">
            <a:spAutoFit/>
          </a:bodyPr>
          <a:lstStyle/>
          <a:p>
            <a:r>
              <a:rPr lang="en-US" dirty="0" smtClean="0">
                <a:solidFill>
                  <a:srgbClr val="002060"/>
                </a:solidFill>
                <a:latin typeface="Times New Roman" pitchFamily="18" charset="0"/>
                <a:cs typeface="Times New Roman" pitchFamily="18" charset="0"/>
              </a:rPr>
              <a:t>1. </a:t>
            </a:r>
            <a:r>
              <a:rPr lang="en-US" sz="2000" dirty="0" smtClean="0">
                <a:solidFill>
                  <a:srgbClr val="002060"/>
                </a:solidFill>
                <a:latin typeface="Times New Roman" pitchFamily="18" charset="0"/>
                <a:cs typeface="Times New Roman" pitchFamily="18" charset="0"/>
              </a:rPr>
              <a:t>Observer moves towards stationary source.</a:t>
            </a:r>
            <a:endParaRPr lang="en-US" dirty="0" smtClean="0">
              <a:solidFill>
                <a:srgbClr val="002060"/>
              </a:solidFill>
              <a:latin typeface="Times New Roman" pitchFamily="18" charset="0"/>
              <a:cs typeface="Times New Roman" pitchFamily="18" charset="0"/>
            </a:endParaRPr>
          </a:p>
        </p:txBody>
      </p:sp>
      <p:sp>
        <p:nvSpPr>
          <p:cNvPr id="10" name="TextBox 9"/>
          <p:cNvSpPr txBox="1"/>
          <p:nvPr/>
        </p:nvSpPr>
        <p:spPr>
          <a:xfrm>
            <a:off x="152400" y="76200"/>
            <a:ext cx="1524000" cy="461665"/>
          </a:xfrm>
          <a:prstGeom prst="rect">
            <a:avLst/>
          </a:prstGeom>
          <a:noFill/>
        </p:spPr>
        <p:txBody>
          <a:bodyPr wrap="square" rtlCol="0">
            <a:spAutoFit/>
          </a:bodyPr>
          <a:lstStyle/>
          <a:p>
            <a:r>
              <a:rPr lang="en-US" sz="2400" b="1" dirty="0" smtClean="0">
                <a:solidFill>
                  <a:srgbClr val="002060"/>
                </a:solidFill>
                <a:latin typeface="Times New Roman" pitchFamily="18" charset="0"/>
                <a:cs typeface="Times New Roman" pitchFamily="18" charset="0"/>
              </a:rPr>
              <a:t>CASE I:</a:t>
            </a:r>
            <a:endParaRPr lang="en-US" sz="2400" b="1" dirty="0">
              <a:solidFill>
                <a:srgbClr val="002060"/>
              </a:solidFill>
              <a:latin typeface="Times New Roman" pitchFamily="18" charset="0"/>
              <a:cs typeface="Times New Roman" pitchFamily="18" charset="0"/>
            </a:endParaRPr>
          </a:p>
        </p:txBody>
      </p:sp>
      <p:pic>
        <p:nvPicPr>
          <p:cNvPr id="3078" name="Picture 6" descr="JaypeeDigital | eBook Reader"/>
          <p:cNvPicPr>
            <a:picLocks noChangeAspect="1" noChangeArrowheads="1"/>
          </p:cNvPicPr>
          <p:nvPr/>
        </p:nvPicPr>
        <p:blipFill rotWithShape="1">
          <a:blip r:embed="rId2">
            <a:extLst>
              <a:ext uri="{28A0092B-C50C-407E-A947-70E740481C1C}">
                <a14:useLocalDpi xmlns:a14="http://schemas.microsoft.com/office/drawing/2010/main" val="0"/>
              </a:ext>
            </a:extLst>
          </a:blip>
          <a:srcRect t="73" r="58317" b="-73"/>
          <a:stretch/>
        </p:blipFill>
        <p:spPr bwMode="auto">
          <a:xfrm>
            <a:off x="342900" y="1219200"/>
            <a:ext cx="1638300" cy="1572126"/>
          </a:xfrm>
          <a:prstGeom prst="rect">
            <a:avLst/>
          </a:prstGeom>
          <a:noFill/>
          <a:extLst>
            <a:ext uri="{909E8E84-426E-40DD-AFC4-6F175D3DCCD1}">
              <a14:hiddenFill xmlns:a14="http://schemas.microsoft.com/office/drawing/2010/main">
                <a:solidFill>
                  <a:srgbClr val="FFFFFF"/>
                </a:solidFill>
              </a14:hiddenFill>
            </a:ext>
          </a:extLst>
        </p:spPr>
      </p:pic>
      <p:sp>
        <p:nvSpPr>
          <p:cNvPr id="15" name="AutoShape 8" descr="Stick Figure Man Silhouette, Creative ..."/>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 name="AutoShape 12" descr="Doppler Effect"/>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3" name="AutoShape 14" descr="Doppler Effect"/>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3088" name="Picture 16" descr="Doppler Effect"/>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56870" t="14376" r="9607" b="49516"/>
          <a:stretch/>
        </p:blipFill>
        <p:spPr bwMode="auto">
          <a:xfrm>
            <a:off x="2248678" y="1752600"/>
            <a:ext cx="875522" cy="367923"/>
          </a:xfrm>
          <a:prstGeom prst="rect">
            <a:avLst/>
          </a:prstGeom>
          <a:noFill/>
          <a:extLst>
            <a:ext uri="{909E8E84-426E-40DD-AFC4-6F175D3DCCD1}">
              <a14:hiddenFill xmlns:a14="http://schemas.microsoft.com/office/drawing/2010/main">
                <a:solidFill>
                  <a:srgbClr val="FFFFFF"/>
                </a:solidFill>
              </a14:hiddenFill>
            </a:ext>
          </a:extLst>
        </p:spPr>
      </p:pic>
      <p:sp>
        <p:nvSpPr>
          <p:cNvPr id="26" name="TextBox 25"/>
          <p:cNvSpPr txBox="1"/>
          <p:nvPr/>
        </p:nvSpPr>
        <p:spPr>
          <a:xfrm>
            <a:off x="3352800" y="1223865"/>
            <a:ext cx="4876800" cy="1754326"/>
          </a:xfrm>
          <a:prstGeom prst="rect">
            <a:avLst/>
          </a:prstGeom>
          <a:noFill/>
        </p:spPr>
        <p:txBody>
          <a:bodyPr wrap="square" rtlCol="0">
            <a:spAutoFit/>
          </a:bodyPr>
          <a:lstStyle/>
          <a:p>
            <a:r>
              <a:rPr lang="en-US" dirty="0" smtClean="0">
                <a:latin typeface="Times New Roman" pitchFamily="18" charset="0"/>
                <a:cs typeface="Times New Roman" pitchFamily="18" charset="0"/>
              </a:rPr>
              <a:t>Here, the observer is moving toward the source. The observer meets the sound waves faster than normal.</a:t>
            </a:r>
            <a:br>
              <a:rPr lang="en-US" dirty="0" smtClean="0">
                <a:latin typeface="Times New Roman" pitchFamily="18" charset="0"/>
                <a:cs typeface="Times New Roman" pitchFamily="18" charset="0"/>
              </a:rPr>
            </a:br>
            <a:r>
              <a:rPr lang="en-US" dirty="0" smtClean="0">
                <a:latin typeface="Times New Roman" pitchFamily="18" charset="0"/>
                <a:cs typeface="Times New Roman" pitchFamily="18" charset="0"/>
              </a:rPr>
              <a:t>This causes the observer to hear a </a:t>
            </a:r>
            <a:r>
              <a:rPr lang="en-US" b="1" dirty="0" smtClean="0">
                <a:latin typeface="Times New Roman" pitchFamily="18" charset="0"/>
                <a:cs typeface="Times New Roman" pitchFamily="18" charset="0"/>
              </a:rPr>
              <a:t>higher frequency</a:t>
            </a:r>
            <a:r>
              <a:rPr lang="en-US" dirty="0" smtClean="0">
                <a:latin typeface="Times New Roman" pitchFamily="18" charset="0"/>
                <a:cs typeface="Times New Roman" pitchFamily="18" charset="0"/>
              </a:rPr>
              <a:t>, even though the source frequency remains the same.</a:t>
            </a:r>
            <a:endParaRPr lang="en-US" dirty="0">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27" name="TextBox 26"/>
              <p:cNvSpPr txBox="1"/>
              <p:nvPr/>
            </p:nvSpPr>
            <p:spPr>
              <a:xfrm>
                <a:off x="152400" y="2963446"/>
                <a:ext cx="7353300" cy="2930033"/>
              </a:xfrm>
              <a:prstGeom prst="rect">
                <a:avLst/>
              </a:prstGeom>
              <a:noFill/>
            </p:spPr>
            <p:txBody>
              <a:bodyPr wrap="square" rtlCol="0">
                <a:spAutoFit/>
              </a:bodyPr>
              <a:lstStyle/>
              <a:p>
                <a:r>
                  <a:rPr lang="en-US" dirty="0" smtClean="0">
                    <a:latin typeface="Times New Roman" pitchFamily="18" charset="0"/>
                    <a:cs typeface="Times New Roman" pitchFamily="18" charset="0"/>
                  </a:rPr>
                  <a:t>Apparent frequency heard by observer is,</a:t>
                </a:r>
              </a:p>
              <a:p>
                <a:endParaRPr lang="en-US" dirty="0" smtClean="0">
                  <a:latin typeface="Times New Roman" pitchFamily="18" charset="0"/>
                  <a:cs typeface="Times New Roman" pitchFamily="18" charset="0"/>
                </a:endParaRPr>
              </a:p>
              <a:p>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                     f '=</a:t>
                </a:r>
                <a14:m>
                  <m:oMath xmlns:m="http://schemas.openxmlformats.org/officeDocument/2006/math">
                    <m:f>
                      <m:fPr>
                        <m:ctrlPr>
                          <a:rPr lang="en-US" i="1" smtClean="0">
                            <a:latin typeface="Cambria Math"/>
                          </a:rPr>
                        </m:ctrlPr>
                      </m:fPr>
                      <m:num>
                        <m:r>
                          <a:rPr lang="en-US" b="0" i="1" smtClean="0">
                            <a:latin typeface="Cambria Math"/>
                          </a:rPr>
                          <m:t>𝑣</m:t>
                        </m:r>
                        <m:r>
                          <a:rPr lang="en-US" b="0" i="1" smtClean="0">
                            <a:latin typeface="Cambria Math"/>
                          </a:rPr>
                          <m:t>′</m:t>
                        </m:r>
                      </m:num>
                      <m:den>
                        <m:r>
                          <m:rPr>
                            <m:nor/>
                          </m:rPr>
                          <a:rPr lang="el-GR" smtClean="0">
                            <a:latin typeface="Times New Roman" pitchFamily="18" charset="0"/>
                            <a:cs typeface="Times New Roman" pitchFamily="18" charset="0"/>
                          </a:rPr>
                          <m:t>λ</m:t>
                        </m:r>
                      </m:den>
                    </m:f>
                  </m:oMath>
                </a14:m>
                <a:r>
                  <a:rPr lang="en-US" dirty="0" smtClean="0">
                    <a:latin typeface="Times New Roman" pitchFamily="18" charset="0"/>
                    <a:cs typeface="Times New Roman" pitchFamily="18" charset="0"/>
                  </a:rPr>
                  <a:t>……………(i)</a:t>
                </a:r>
              </a:p>
              <a:p>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Here, </a:t>
                </a:r>
                <a14:m>
                  <m:oMath xmlns:m="http://schemas.openxmlformats.org/officeDocument/2006/math">
                    <m:r>
                      <a:rPr lang="en-US" b="0" i="1" smtClean="0">
                        <a:latin typeface="Cambria Math"/>
                      </a:rPr>
                      <m:t>𝑣</m:t>
                    </m:r>
                    <m:r>
                      <a:rPr lang="en-US" b="0" i="1" smtClean="0">
                        <a:latin typeface="Cambria Math"/>
                      </a:rPr>
                      <m:t>′</m:t>
                    </m:r>
                  </m:oMath>
                </a14:m>
                <a:r>
                  <a:rPr lang="en-US" dirty="0" smtClean="0">
                    <a:latin typeface="Times New Roman" pitchFamily="18" charset="0"/>
                    <a:cs typeface="Times New Roman" pitchFamily="18" charset="0"/>
                  </a:rPr>
                  <a:t>= </a:t>
                </a:r>
                <a14:m>
                  <m:oMath xmlns:m="http://schemas.openxmlformats.org/officeDocument/2006/math">
                    <m:r>
                      <a:rPr lang="en-US" i="1" dirty="0" smtClean="0">
                        <a:latin typeface="Cambria Math"/>
                        <a:cs typeface="Times New Roman" pitchFamily="18" charset="0"/>
                      </a:rPr>
                      <m:t>𝑣</m:t>
                    </m:r>
                    <m:r>
                      <a:rPr lang="en-US" i="1" dirty="0" smtClean="0">
                        <a:latin typeface="Cambria Math"/>
                        <a:cs typeface="Times New Roman" pitchFamily="18" charset="0"/>
                      </a:rPr>
                      <m:t>+</m:t>
                    </m:r>
                    <m:r>
                      <a:rPr lang="en-US" i="1" dirty="0" smtClean="0">
                        <a:latin typeface="Cambria Math"/>
                        <a:cs typeface="Times New Roman" pitchFamily="18" charset="0"/>
                      </a:rPr>
                      <m:t>𝑣</m:t>
                    </m:r>
                    <m:r>
                      <a:rPr lang="en-US" i="1" dirty="0" smtClean="0">
                        <a:latin typeface="Cambria Math"/>
                        <a:cs typeface="Times New Roman" pitchFamily="18" charset="0"/>
                      </a:rPr>
                      <m:t>₀</m:t>
                    </m:r>
                    <m:r>
                      <m:rPr>
                        <m:nor/>
                      </m:rPr>
                      <a:rPr lang="en-US" dirty="0">
                        <a:latin typeface="Times New Roman" pitchFamily="18" charset="0"/>
                        <a:cs typeface="Times New Roman" pitchFamily="18" charset="0"/>
                      </a:rPr>
                      <m:t> </m:t>
                    </m:r>
                  </m:oMath>
                </a14:m>
                <a:r>
                  <a:rPr lang="en-US" dirty="0" smtClean="0">
                    <a:latin typeface="Times New Roman" pitchFamily="18" charset="0"/>
                    <a:cs typeface="Times New Roman" pitchFamily="18" charset="0"/>
                  </a:rPr>
                  <a:t>, so equation (i) can be written as,</a:t>
                </a:r>
              </a:p>
              <a:p>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                     f</a:t>
                </a:r>
                <a14:m>
                  <m:oMath xmlns:m="http://schemas.openxmlformats.org/officeDocument/2006/math">
                    <m:r>
                      <a:rPr lang="en-US" b="0" i="1" smtClean="0">
                        <a:latin typeface="Cambria Math"/>
                      </a:rPr>
                      <m:t>′</m:t>
                    </m:r>
                  </m:oMath>
                </a14:m>
                <a:r>
                  <a:rPr lang="en-US" dirty="0" smtClean="0">
                    <a:latin typeface="Times New Roman" pitchFamily="18" charset="0"/>
                    <a:cs typeface="Times New Roman" pitchFamily="18" charset="0"/>
                  </a:rPr>
                  <a:t>=</a:t>
                </a:r>
                <a14:m>
                  <m:oMath xmlns:m="http://schemas.openxmlformats.org/officeDocument/2006/math">
                    <m:f>
                      <m:fPr>
                        <m:ctrlPr>
                          <a:rPr lang="en-US" i="1" dirty="0" smtClean="0">
                            <a:latin typeface="Cambria Math"/>
                            <a:cs typeface="Times New Roman" pitchFamily="18" charset="0"/>
                          </a:rPr>
                        </m:ctrlPr>
                      </m:fPr>
                      <m:num>
                        <m:r>
                          <a:rPr lang="en-US" i="1" dirty="0" smtClean="0">
                            <a:latin typeface="Cambria Math"/>
                            <a:cs typeface="Times New Roman" pitchFamily="18" charset="0"/>
                          </a:rPr>
                          <m:t>𝑣</m:t>
                        </m:r>
                        <m:r>
                          <a:rPr lang="en-US" i="1" dirty="0" smtClean="0">
                            <a:latin typeface="Cambria Math"/>
                            <a:cs typeface="Times New Roman" pitchFamily="18" charset="0"/>
                          </a:rPr>
                          <m:t>+</m:t>
                        </m:r>
                        <m:r>
                          <a:rPr lang="en-US" i="1" dirty="0" smtClean="0">
                            <a:latin typeface="Cambria Math"/>
                            <a:cs typeface="Times New Roman" pitchFamily="18" charset="0"/>
                          </a:rPr>
                          <m:t>𝑣</m:t>
                        </m:r>
                        <m:r>
                          <a:rPr lang="en-US" i="1" dirty="0" smtClean="0">
                            <a:latin typeface="Cambria Math"/>
                            <a:cs typeface="Times New Roman" pitchFamily="18" charset="0"/>
                          </a:rPr>
                          <m:t>₀</m:t>
                        </m:r>
                        <m:r>
                          <m:rPr>
                            <m:nor/>
                          </m:rPr>
                          <a:rPr lang="en-US" dirty="0">
                            <a:latin typeface="Times New Roman" pitchFamily="18" charset="0"/>
                            <a:cs typeface="Times New Roman" pitchFamily="18" charset="0"/>
                          </a:rPr>
                          <m:t> </m:t>
                        </m:r>
                      </m:num>
                      <m:den>
                        <m:r>
                          <m:rPr>
                            <m:nor/>
                          </m:rPr>
                          <a:rPr lang="el-GR" smtClean="0">
                            <a:latin typeface="Times New Roman" pitchFamily="18" charset="0"/>
                            <a:cs typeface="Times New Roman" pitchFamily="18" charset="0"/>
                          </a:rPr>
                          <m:t>λ</m:t>
                        </m:r>
                      </m:den>
                    </m:f>
                    <m:r>
                      <a:rPr lang="en-US" b="0" i="0" dirty="0" smtClean="0">
                        <a:latin typeface="Cambria Math"/>
                        <a:cs typeface="Times New Roman" pitchFamily="18" charset="0"/>
                      </a:rPr>
                      <m:t> </m:t>
                    </m:r>
                  </m:oMath>
                </a14:m>
                <a:endParaRPr lang="en-US" dirty="0" smtClean="0">
                  <a:latin typeface="Times New Roman" pitchFamily="18" charset="0"/>
                  <a:cs typeface="Times New Roman" pitchFamily="18" charset="0"/>
                </a:endParaRPr>
              </a:p>
              <a:p>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                     f '=</a:t>
                </a:r>
                <a14:m>
                  <m:oMath xmlns:m="http://schemas.openxmlformats.org/officeDocument/2006/math">
                    <m:r>
                      <a:rPr lang="en-US" b="0" i="0" smtClean="0">
                        <a:latin typeface="Cambria Math"/>
                      </a:rPr>
                      <m:t>( </m:t>
                    </m:r>
                    <m:f>
                      <m:fPr>
                        <m:ctrlPr>
                          <a:rPr lang="en-US" i="1" smtClean="0">
                            <a:latin typeface="Cambria Math"/>
                          </a:rPr>
                        </m:ctrlPr>
                      </m:fPr>
                      <m:num>
                        <m:r>
                          <a:rPr lang="en-US" i="1" dirty="0" smtClean="0">
                            <a:latin typeface="Cambria Math"/>
                            <a:cs typeface="Times New Roman" pitchFamily="18" charset="0"/>
                          </a:rPr>
                          <m:t>𝑣</m:t>
                        </m:r>
                        <m:r>
                          <a:rPr lang="en-US" i="1" dirty="0" smtClean="0">
                            <a:latin typeface="Cambria Math"/>
                            <a:cs typeface="Times New Roman" pitchFamily="18" charset="0"/>
                          </a:rPr>
                          <m:t>+</m:t>
                        </m:r>
                        <m:r>
                          <a:rPr lang="en-US" i="1" dirty="0" smtClean="0">
                            <a:latin typeface="Cambria Math"/>
                            <a:cs typeface="Times New Roman" pitchFamily="18" charset="0"/>
                          </a:rPr>
                          <m:t>𝑣</m:t>
                        </m:r>
                        <m:r>
                          <a:rPr lang="en-US" i="1" dirty="0" smtClean="0">
                            <a:latin typeface="Cambria Math"/>
                            <a:cs typeface="Times New Roman" pitchFamily="18" charset="0"/>
                          </a:rPr>
                          <m:t>₀</m:t>
                        </m:r>
                      </m:num>
                      <m:den>
                        <m:r>
                          <m:rPr>
                            <m:nor/>
                          </m:rPr>
                          <a:rPr lang="en-US" b="0" i="0" smtClean="0">
                            <a:latin typeface="Times New Roman" pitchFamily="18" charset="0"/>
                            <a:cs typeface="Times New Roman" pitchFamily="18" charset="0"/>
                          </a:rPr>
                          <m:t>v</m:t>
                        </m:r>
                      </m:den>
                    </m:f>
                    <m:r>
                      <a:rPr lang="en-US" b="0" i="0" smtClean="0">
                        <a:latin typeface="Cambria Math"/>
                        <a:cs typeface="Times New Roman" pitchFamily="18" charset="0"/>
                      </a:rPr>
                      <m:t>)</m:t>
                    </m:r>
                  </m:oMath>
                </a14:m>
                <a:r>
                  <a:rPr lang="en-US" dirty="0" smtClean="0">
                    <a:latin typeface="Times New Roman" pitchFamily="18" charset="0"/>
                    <a:cs typeface="Times New Roman" pitchFamily="18" charset="0"/>
                  </a:rPr>
                  <a:t>f                [ ⸪ v=</a:t>
                </a:r>
                <a:r>
                  <a:rPr lang="el-GR" dirty="0" smtClean="0">
                    <a:cs typeface="Times New Roman" pitchFamily="18" charset="0"/>
                  </a:rPr>
                  <a:t> </a:t>
                </a:r>
                <a14:m>
                  <m:oMath xmlns:m="http://schemas.openxmlformats.org/officeDocument/2006/math">
                    <m:r>
                      <m:rPr>
                        <m:nor/>
                      </m:rPr>
                      <a:rPr lang="el-GR" smtClean="0">
                        <a:latin typeface="Times New Roman" pitchFamily="18" charset="0"/>
                        <a:cs typeface="Times New Roman" pitchFamily="18" charset="0"/>
                      </a:rPr>
                      <m:t>λ</m:t>
                    </m:r>
                  </m:oMath>
                </a14:m>
                <a:r>
                  <a:rPr lang="en-US" dirty="0" smtClean="0">
                    <a:latin typeface="Times New Roman" pitchFamily="18" charset="0"/>
                    <a:cs typeface="Times New Roman" pitchFamily="18" charset="0"/>
                  </a:rPr>
                  <a:t>f  ]</a:t>
                </a:r>
                <a:endParaRPr lang="en-US" dirty="0">
                  <a:latin typeface="Times New Roman" pitchFamily="18" charset="0"/>
                  <a:cs typeface="Times New Roman" pitchFamily="18" charset="0"/>
                </a:endParaRPr>
              </a:p>
            </p:txBody>
          </p:sp>
        </mc:Choice>
        <mc:Fallback xmlns="">
          <p:sp>
            <p:nvSpPr>
              <p:cNvPr id="27" name="TextBox 26"/>
              <p:cNvSpPr txBox="1">
                <a:spLocks noRot="1" noChangeAspect="1" noMove="1" noResize="1" noEditPoints="1" noAdjustHandles="1" noChangeArrowheads="1" noChangeShapeType="1" noTextEdit="1"/>
              </p:cNvSpPr>
              <p:nvPr/>
            </p:nvSpPr>
            <p:spPr>
              <a:xfrm>
                <a:off x="152400" y="2963446"/>
                <a:ext cx="7353300" cy="2930033"/>
              </a:xfrm>
              <a:prstGeom prst="rect">
                <a:avLst/>
              </a:prstGeom>
              <a:blipFill rotWithShape="1">
                <a:blip r:embed="rId4"/>
                <a:stretch>
                  <a:fillRect l="-663" t="-1040" b="-4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p:cNvSpPr txBox="1"/>
              <p:nvPr/>
            </p:nvSpPr>
            <p:spPr>
              <a:xfrm>
                <a:off x="5029200" y="3863417"/>
                <a:ext cx="2819401" cy="1077218"/>
              </a:xfrm>
              <a:prstGeom prst="rect">
                <a:avLst/>
              </a:prstGeom>
              <a:noFill/>
            </p:spPr>
            <p:txBody>
              <a:bodyPr wrap="square" rtlCol="0">
                <a:spAutoFit/>
              </a:bodyPr>
              <a:lstStyle/>
              <a:p>
                <a:r>
                  <a:rPr lang="en-US" sz="1600" b="1" dirty="0" smtClean="0">
                    <a:solidFill>
                      <a:srgbClr val="FF0000"/>
                    </a:solidFill>
                    <a:latin typeface="Times New Roman" pitchFamily="18" charset="0"/>
                    <a:cs typeface="Times New Roman" pitchFamily="18" charset="0"/>
                  </a:rPr>
                  <a:t>V</a:t>
                </a:r>
                <a:r>
                  <a:rPr lang="en-US" sz="1600" dirty="0" smtClean="0">
                    <a:latin typeface="Times New Roman" pitchFamily="18" charset="0"/>
                    <a:cs typeface="Times New Roman" pitchFamily="18" charset="0"/>
                  </a:rPr>
                  <a:t>=Velocity of sound</a:t>
                </a:r>
              </a:p>
              <a:p>
                <a14:m>
                  <m:oMath xmlns:m="http://schemas.openxmlformats.org/officeDocument/2006/math">
                    <m:r>
                      <a:rPr lang="en-US" sz="1600" b="1" i="0" dirty="0" smtClean="0">
                        <a:solidFill>
                          <a:srgbClr val="FF0000"/>
                        </a:solidFill>
                        <a:latin typeface="Cambria Math"/>
                        <a:cs typeface="Times New Roman" pitchFamily="18" charset="0"/>
                      </a:rPr>
                      <m:t>𝐯</m:t>
                    </m:r>
                    <m:r>
                      <a:rPr lang="en-US" sz="1600" b="1" i="0" dirty="0" smtClean="0">
                        <a:solidFill>
                          <a:srgbClr val="FF0000"/>
                        </a:solidFill>
                        <a:latin typeface="Cambria Math"/>
                        <a:cs typeface="Times New Roman" pitchFamily="18" charset="0"/>
                      </a:rPr>
                      <m:t>₀</m:t>
                    </m:r>
                  </m:oMath>
                </a14:m>
                <a:r>
                  <a:rPr lang="en-US" sz="1600" dirty="0" smtClean="0">
                    <a:latin typeface="Times New Roman" pitchFamily="18" charset="0"/>
                    <a:cs typeface="Times New Roman" pitchFamily="18" charset="0"/>
                  </a:rPr>
                  <a:t>= Velocity of observer</a:t>
                </a:r>
              </a:p>
              <a:p>
                <a:r>
                  <a:rPr lang="en-US" sz="1600" b="1" dirty="0" smtClean="0">
                    <a:solidFill>
                      <a:srgbClr val="FF0000"/>
                    </a:solidFill>
                    <a:latin typeface="Times New Roman" pitchFamily="18" charset="0"/>
                    <a:cs typeface="Times New Roman" pitchFamily="18" charset="0"/>
                  </a:rPr>
                  <a:t>f</a:t>
                </a:r>
                <a:r>
                  <a:rPr lang="en-US" sz="1600" dirty="0" smtClean="0">
                    <a:latin typeface="Times New Roman" pitchFamily="18" charset="0"/>
                    <a:cs typeface="Times New Roman" pitchFamily="18" charset="0"/>
                  </a:rPr>
                  <a:t>= </a:t>
                </a:r>
                <a:r>
                  <a:rPr lang="en-US" sz="1600" dirty="0" err="1" smtClean="0">
                    <a:latin typeface="Times New Roman" pitchFamily="18" charset="0"/>
                    <a:cs typeface="Times New Roman" pitchFamily="18" charset="0"/>
                  </a:rPr>
                  <a:t>Orginal</a:t>
                </a:r>
                <a:r>
                  <a:rPr lang="en-US" sz="1600" dirty="0" smtClean="0">
                    <a:latin typeface="Times New Roman" pitchFamily="18" charset="0"/>
                    <a:cs typeface="Times New Roman" pitchFamily="18" charset="0"/>
                  </a:rPr>
                  <a:t> frequency of sound</a:t>
                </a:r>
              </a:p>
              <a:p>
                <a:r>
                  <a:rPr lang="en-US" sz="1600" b="1" dirty="0" smtClean="0">
                    <a:solidFill>
                      <a:srgbClr val="FF0000"/>
                    </a:solidFill>
                    <a:latin typeface="Times New Roman" pitchFamily="18" charset="0"/>
                    <a:cs typeface="Times New Roman" pitchFamily="18" charset="0"/>
                  </a:rPr>
                  <a:t>f </a:t>
                </a:r>
                <a:r>
                  <a:rPr lang="en-US" sz="1600" b="1" dirty="0">
                    <a:solidFill>
                      <a:srgbClr val="FF0000"/>
                    </a:solidFill>
                    <a:latin typeface="Times New Roman" pitchFamily="18" charset="0"/>
                    <a:cs typeface="Times New Roman" pitchFamily="18" charset="0"/>
                  </a:rPr>
                  <a:t>'</a:t>
                </a:r>
                <a:r>
                  <a:rPr lang="en-US" sz="1600" dirty="0" smtClean="0">
                    <a:latin typeface="Times New Roman" pitchFamily="18" charset="0"/>
                    <a:cs typeface="Times New Roman" pitchFamily="18" charset="0"/>
                  </a:rPr>
                  <a:t>= Apparent frequency</a:t>
                </a:r>
                <a:endParaRPr lang="en-US" sz="1600" dirty="0">
                  <a:latin typeface="Times New Roman" pitchFamily="18" charset="0"/>
                  <a:cs typeface="Times New Roman" pitchFamily="18" charset="0"/>
                </a:endParaRPr>
              </a:p>
            </p:txBody>
          </p:sp>
        </mc:Choice>
        <mc:Fallback xmlns="">
          <p:sp>
            <p:nvSpPr>
              <p:cNvPr id="28" name="TextBox 27"/>
              <p:cNvSpPr txBox="1">
                <a:spLocks noRot="1" noChangeAspect="1" noMove="1" noResize="1" noEditPoints="1" noAdjustHandles="1" noChangeArrowheads="1" noChangeShapeType="1" noTextEdit="1"/>
              </p:cNvSpPr>
              <p:nvPr/>
            </p:nvSpPr>
            <p:spPr>
              <a:xfrm>
                <a:off x="5029200" y="3863417"/>
                <a:ext cx="2819401" cy="1077218"/>
              </a:xfrm>
              <a:prstGeom prst="rect">
                <a:avLst/>
              </a:prstGeom>
              <a:blipFill rotWithShape="1">
                <a:blip r:embed="rId5"/>
                <a:stretch>
                  <a:fillRect l="-1080" t="-1705" b="-6818"/>
                </a:stretch>
              </a:blipFill>
            </p:spPr>
            <p:txBody>
              <a:bodyPr/>
              <a:lstStyle/>
              <a:p>
                <a:r>
                  <a:rPr lang="en-US">
                    <a:noFill/>
                  </a:rPr>
                  <a:t> </a:t>
                </a:r>
              </a:p>
            </p:txBody>
          </p:sp>
        </mc:Fallback>
      </mc:AlternateContent>
    </p:spTree>
    <p:extLst>
      <p:ext uri="{BB962C8B-B14F-4D97-AF65-F5344CB8AC3E}">
        <p14:creationId xmlns:p14="http://schemas.microsoft.com/office/powerpoint/2010/main" val="89766058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784095"/>
            <a:ext cx="8246706" cy="5829827"/>
            <a:chOff x="76200" y="76200"/>
            <a:chExt cx="8246706" cy="5829827"/>
          </a:xfrm>
        </p:grpSpPr>
        <p:sp>
          <p:nvSpPr>
            <p:cNvPr id="8" name="TextBox 7"/>
            <p:cNvSpPr txBox="1"/>
            <p:nvPr/>
          </p:nvSpPr>
          <p:spPr>
            <a:xfrm>
              <a:off x="76200" y="76200"/>
              <a:ext cx="5562600" cy="400110"/>
            </a:xfrm>
            <a:prstGeom prst="rect">
              <a:avLst/>
            </a:prstGeom>
            <a:noFill/>
          </p:spPr>
          <p:txBody>
            <a:bodyPr wrap="square" rtlCol="0">
              <a:spAutoFit/>
            </a:bodyPr>
            <a:lstStyle/>
            <a:p>
              <a:r>
                <a:rPr lang="en-US" dirty="0" smtClean="0">
                  <a:solidFill>
                    <a:srgbClr val="002060"/>
                  </a:solidFill>
                  <a:latin typeface="Times New Roman" pitchFamily="18" charset="0"/>
                  <a:cs typeface="Times New Roman" pitchFamily="18" charset="0"/>
                </a:rPr>
                <a:t>1. </a:t>
              </a:r>
              <a:r>
                <a:rPr lang="en-US" sz="2000" dirty="0" smtClean="0">
                  <a:solidFill>
                    <a:srgbClr val="002060"/>
                  </a:solidFill>
                  <a:latin typeface="Times New Roman" pitchFamily="18" charset="0"/>
                  <a:cs typeface="Times New Roman" pitchFamily="18" charset="0"/>
                </a:rPr>
                <a:t>Observer moves away from stationary source.</a:t>
              </a:r>
              <a:endParaRPr lang="en-US" dirty="0" smtClean="0">
                <a:solidFill>
                  <a:srgbClr val="002060"/>
                </a:solidFill>
                <a:latin typeface="Times New Roman" pitchFamily="18" charset="0"/>
                <a:cs typeface="Times New Roman" pitchFamily="18" charset="0"/>
              </a:endParaRPr>
            </a:p>
          </p:txBody>
        </p:sp>
        <p:pic>
          <p:nvPicPr>
            <p:cNvPr id="10" name="Picture 6" descr="JaypeeDigital | eBook Reader"/>
            <p:cNvPicPr>
              <a:picLocks noChangeAspect="1" noChangeArrowheads="1"/>
            </p:cNvPicPr>
            <p:nvPr/>
          </p:nvPicPr>
          <p:blipFill rotWithShape="1">
            <a:blip r:embed="rId2">
              <a:extLst>
                <a:ext uri="{28A0092B-C50C-407E-A947-70E740481C1C}">
                  <a14:useLocalDpi xmlns:a14="http://schemas.microsoft.com/office/drawing/2010/main" val="0"/>
                </a:ext>
              </a:extLst>
            </a:blip>
            <a:srcRect t="73" r="58317" b="-73"/>
            <a:stretch/>
          </p:blipFill>
          <p:spPr bwMode="auto">
            <a:xfrm>
              <a:off x="342900" y="1219200"/>
              <a:ext cx="1638300" cy="1572126"/>
            </a:xfrm>
            <a:prstGeom prst="rect">
              <a:avLst/>
            </a:prstGeom>
            <a:noFill/>
            <a:extLst>
              <a:ext uri="{909E8E84-426E-40DD-AFC4-6F175D3DCCD1}">
                <a14:hiddenFill xmlns:a14="http://schemas.microsoft.com/office/drawing/2010/main">
                  <a:solidFill>
                    <a:srgbClr val="FFFFFF"/>
                  </a:solidFill>
                </a14:hiddenFill>
              </a:ext>
            </a:extLst>
          </p:spPr>
        </p:pic>
        <p:pic>
          <p:nvPicPr>
            <p:cNvPr id="4098" name="Picture 2" descr="Doppler Effect"/>
            <p:cNvPicPr>
              <a:picLocks noChangeAspect="1" noChangeArrowheads="1"/>
            </p:cNvPicPr>
            <p:nvPr/>
          </p:nvPicPr>
          <p:blipFill rotWithShape="1">
            <a:blip r:embed="rId3">
              <a:extLst>
                <a:ext uri="{28A0092B-C50C-407E-A947-70E740481C1C}">
                  <a14:useLocalDpi xmlns:a14="http://schemas.microsoft.com/office/drawing/2010/main" val="0"/>
                </a:ext>
              </a:extLst>
            </a:blip>
            <a:srcRect l="57597" t="19361" r="-23" b="40645"/>
            <a:stretch/>
          </p:blipFill>
          <p:spPr bwMode="auto">
            <a:xfrm>
              <a:off x="2206301" y="1828800"/>
              <a:ext cx="1146499" cy="420298"/>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3"/>
            <p:cNvSpPr>
              <a:spLocks noChangeArrowheads="1"/>
            </p:cNvSpPr>
            <p:nvPr/>
          </p:nvSpPr>
          <p:spPr bwMode="auto">
            <a:xfrm>
              <a:off x="3369906" y="556632"/>
              <a:ext cx="495300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dirty="0" smtClean="0">
                  <a:latin typeface="Times New Roman" pitchFamily="18" charset="0"/>
                  <a:cs typeface="Times New Roman" pitchFamily="18" charset="0"/>
                </a:rPr>
                <a:t>Here, the source is stationary, and the observer is moving away from the source.</a:t>
              </a:r>
            </a:p>
            <a:p>
              <a:r>
                <a:rPr lang="en-US" dirty="0" smtClean="0">
                  <a:latin typeface="Times New Roman" pitchFamily="18" charset="0"/>
                  <a:cs typeface="Times New Roman" pitchFamily="18" charset="0"/>
                </a:rPr>
                <a:t>Since the observer is moving away, they meet the sound waves less frequently than normal.</a:t>
              </a:r>
            </a:p>
            <a:p>
              <a:r>
                <a:rPr lang="en-US" dirty="0" smtClean="0">
                  <a:latin typeface="Times New Roman" pitchFamily="18" charset="0"/>
                  <a:cs typeface="Times New Roman" pitchFamily="18" charset="0"/>
                </a:rPr>
                <a:t>This causes the apparent </a:t>
              </a:r>
              <a:r>
                <a:rPr lang="en-US" b="1" dirty="0" smtClean="0">
                  <a:latin typeface="Times New Roman" pitchFamily="18" charset="0"/>
                  <a:cs typeface="Times New Roman" pitchFamily="18" charset="0"/>
                </a:rPr>
                <a:t>frequency to decrease</a:t>
              </a:r>
              <a:r>
                <a:rPr lang="en-US" dirty="0" smtClean="0">
                  <a:latin typeface="Times New Roman" pitchFamily="18" charset="0"/>
                  <a:cs typeface="Times New Roman" pitchFamily="18" charset="0"/>
                </a:rPr>
                <a:t>, even though the source frequency remains the same.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sz="1800" b="0" i="0" u="none" strike="noStrike" cap="none" normalizeH="0" baseline="0" dirty="0" smtClean="0">
                <a:ln>
                  <a:noFill/>
                </a:ln>
                <a:solidFill>
                  <a:schemeClr val="tx1"/>
                </a:solidFill>
                <a:effectLst/>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15" name="TextBox 14"/>
                <p:cNvSpPr txBox="1"/>
                <p:nvPr/>
              </p:nvSpPr>
              <p:spPr>
                <a:xfrm>
                  <a:off x="152400" y="2937009"/>
                  <a:ext cx="7353300" cy="2969018"/>
                </a:xfrm>
                <a:prstGeom prst="rect">
                  <a:avLst/>
                </a:prstGeom>
                <a:noFill/>
              </p:spPr>
              <p:txBody>
                <a:bodyPr wrap="square" rtlCol="0">
                  <a:spAutoFit/>
                </a:bodyPr>
                <a:lstStyle/>
                <a:p>
                  <a:r>
                    <a:rPr lang="en-US" dirty="0" smtClean="0">
                      <a:latin typeface="Times New Roman" pitchFamily="18" charset="0"/>
                      <a:cs typeface="Times New Roman" pitchFamily="18" charset="0"/>
                    </a:rPr>
                    <a:t>Apparent frequency heard by observer is,</a:t>
                  </a:r>
                </a:p>
                <a:p>
                  <a:endParaRPr lang="en-US" dirty="0" smtClean="0">
                    <a:latin typeface="Times New Roman" pitchFamily="18" charset="0"/>
                    <a:cs typeface="Times New Roman" pitchFamily="18" charset="0"/>
                  </a:endParaRPr>
                </a:p>
                <a:p>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                     f '=</a:t>
                  </a:r>
                  <a14:m>
                    <m:oMath xmlns:m="http://schemas.openxmlformats.org/officeDocument/2006/math">
                      <m:f>
                        <m:fPr>
                          <m:ctrlPr>
                            <a:rPr lang="en-US" i="1" smtClean="0">
                              <a:latin typeface="Cambria Math"/>
                            </a:rPr>
                          </m:ctrlPr>
                        </m:fPr>
                        <m:num>
                          <m:r>
                            <a:rPr lang="en-US" b="0" i="1" smtClean="0">
                              <a:latin typeface="Cambria Math"/>
                            </a:rPr>
                            <m:t>𝑣</m:t>
                          </m:r>
                          <m:r>
                            <a:rPr lang="en-US" b="0" i="1" smtClean="0">
                              <a:latin typeface="Cambria Math"/>
                            </a:rPr>
                            <m:t>′</m:t>
                          </m:r>
                        </m:num>
                        <m:den>
                          <m:r>
                            <m:rPr>
                              <m:nor/>
                            </m:rPr>
                            <a:rPr lang="el-GR" smtClean="0">
                              <a:latin typeface="Times New Roman" pitchFamily="18" charset="0"/>
                              <a:cs typeface="Times New Roman" pitchFamily="18" charset="0"/>
                            </a:rPr>
                            <m:t>λ</m:t>
                          </m:r>
                        </m:den>
                      </m:f>
                    </m:oMath>
                  </a14:m>
                  <a:r>
                    <a:rPr lang="en-US" dirty="0" smtClean="0">
                      <a:latin typeface="Times New Roman" pitchFamily="18" charset="0"/>
                      <a:cs typeface="Times New Roman" pitchFamily="18" charset="0"/>
                    </a:rPr>
                    <a:t>……………(ii)</a:t>
                  </a:r>
                </a:p>
                <a:p>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Here, </a:t>
                  </a:r>
                  <a14:m>
                    <m:oMath xmlns:m="http://schemas.openxmlformats.org/officeDocument/2006/math">
                      <m:r>
                        <a:rPr lang="en-US" b="0" i="1" smtClean="0">
                          <a:latin typeface="Cambria Math"/>
                        </a:rPr>
                        <m:t>𝑣</m:t>
                      </m:r>
                      <m:r>
                        <a:rPr lang="en-US" b="0" i="1" smtClean="0">
                          <a:latin typeface="Cambria Math"/>
                        </a:rPr>
                        <m:t>′</m:t>
                      </m:r>
                    </m:oMath>
                  </a14:m>
                  <a:r>
                    <a:rPr lang="en-US" dirty="0" smtClean="0">
                      <a:latin typeface="Times New Roman" pitchFamily="18" charset="0"/>
                      <a:cs typeface="Times New Roman" pitchFamily="18" charset="0"/>
                    </a:rPr>
                    <a:t>= </a:t>
                  </a:r>
                  <a14:m>
                    <m:oMath xmlns:m="http://schemas.openxmlformats.org/officeDocument/2006/math">
                      <m:r>
                        <a:rPr lang="en-US" i="1" dirty="0" smtClean="0">
                          <a:latin typeface="Cambria Math"/>
                          <a:cs typeface="Times New Roman" pitchFamily="18" charset="0"/>
                        </a:rPr>
                        <m:t>𝑣</m:t>
                      </m:r>
                      <m:r>
                        <a:rPr lang="en-US" b="0" i="1" dirty="0" smtClean="0">
                          <a:latin typeface="Cambria Math"/>
                          <a:cs typeface="Times New Roman" pitchFamily="18" charset="0"/>
                        </a:rPr>
                        <m:t>−</m:t>
                      </m:r>
                      <m:r>
                        <a:rPr lang="en-US" i="1" dirty="0" smtClean="0">
                          <a:latin typeface="Cambria Math"/>
                          <a:cs typeface="Times New Roman" pitchFamily="18" charset="0"/>
                        </a:rPr>
                        <m:t>𝑣</m:t>
                      </m:r>
                      <m:r>
                        <a:rPr lang="en-US" i="1" dirty="0" smtClean="0">
                          <a:latin typeface="Cambria Math"/>
                          <a:cs typeface="Times New Roman" pitchFamily="18" charset="0"/>
                        </a:rPr>
                        <m:t>₀</m:t>
                      </m:r>
                      <m:r>
                        <m:rPr>
                          <m:nor/>
                        </m:rPr>
                        <a:rPr lang="en-US" dirty="0">
                          <a:latin typeface="Times New Roman" pitchFamily="18" charset="0"/>
                          <a:cs typeface="Times New Roman" pitchFamily="18" charset="0"/>
                        </a:rPr>
                        <m:t> </m:t>
                      </m:r>
                    </m:oMath>
                  </a14:m>
                  <a:r>
                    <a:rPr lang="en-US" dirty="0" smtClean="0">
                      <a:latin typeface="Times New Roman" pitchFamily="18" charset="0"/>
                      <a:cs typeface="Times New Roman" pitchFamily="18" charset="0"/>
                    </a:rPr>
                    <a:t>, so equation (ii) can be written as,</a:t>
                  </a:r>
                </a:p>
                <a:p>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                     f</a:t>
                  </a:r>
                  <a14:m>
                    <m:oMath xmlns:m="http://schemas.openxmlformats.org/officeDocument/2006/math">
                      <m:r>
                        <a:rPr lang="en-US" b="0" i="1" smtClean="0">
                          <a:latin typeface="Cambria Math"/>
                        </a:rPr>
                        <m:t>′</m:t>
                      </m:r>
                    </m:oMath>
                  </a14:m>
                  <a:r>
                    <a:rPr lang="en-US" dirty="0" smtClean="0">
                      <a:latin typeface="Times New Roman" pitchFamily="18" charset="0"/>
                      <a:cs typeface="Times New Roman" pitchFamily="18" charset="0"/>
                    </a:rPr>
                    <a:t>=</a:t>
                  </a:r>
                  <a14:m>
                    <m:oMath xmlns:m="http://schemas.openxmlformats.org/officeDocument/2006/math">
                      <m:f>
                        <m:fPr>
                          <m:ctrlPr>
                            <a:rPr lang="en-US" i="1" dirty="0" smtClean="0">
                              <a:latin typeface="Cambria Math"/>
                              <a:cs typeface="Times New Roman" pitchFamily="18" charset="0"/>
                            </a:rPr>
                          </m:ctrlPr>
                        </m:fPr>
                        <m:num>
                          <m:r>
                            <a:rPr lang="en-US" i="1" dirty="0" smtClean="0">
                              <a:latin typeface="Cambria Math"/>
                              <a:cs typeface="Times New Roman" pitchFamily="18" charset="0"/>
                            </a:rPr>
                            <m:t>𝑣</m:t>
                          </m:r>
                          <m:r>
                            <a:rPr lang="en-US" b="0" i="1" dirty="0" smtClean="0">
                              <a:latin typeface="Cambria Math"/>
                              <a:cs typeface="Times New Roman" pitchFamily="18" charset="0"/>
                            </a:rPr>
                            <m:t>−</m:t>
                          </m:r>
                          <m:r>
                            <a:rPr lang="en-US" i="1" dirty="0" smtClean="0">
                              <a:latin typeface="Cambria Math"/>
                              <a:cs typeface="Times New Roman" pitchFamily="18" charset="0"/>
                            </a:rPr>
                            <m:t>𝑣</m:t>
                          </m:r>
                          <m:r>
                            <a:rPr lang="en-US" i="1" dirty="0" smtClean="0">
                              <a:latin typeface="Cambria Math"/>
                              <a:cs typeface="Times New Roman" pitchFamily="18" charset="0"/>
                            </a:rPr>
                            <m:t>₀</m:t>
                          </m:r>
                          <m:r>
                            <m:rPr>
                              <m:nor/>
                            </m:rPr>
                            <a:rPr lang="en-US" dirty="0">
                              <a:latin typeface="Times New Roman" pitchFamily="18" charset="0"/>
                              <a:cs typeface="Times New Roman" pitchFamily="18" charset="0"/>
                            </a:rPr>
                            <m:t> </m:t>
                          </m:r>
                        </m:num>
                        <m:den>
                          <m:r>
                            <m:rPr>
                              <m:nor/>
                            </m:rPr>
                            <a:rPr lang="el-GR" smtClean="0">
                              <a:latin typeface="Times New Roman" pitchFamily="18" charset="0"/>
                              <a:cs typeface="Times New Roman" pitchFamily="18" charset="0"/>
                            </a:rPr>
                            <m:t>λ</m:t>
                          </m:r>
                        </m:den>
                      </m:f>
                      <m:r>
                        <a:rPr lang="en-US" b="0" i="0" dirty="0" smtClean="0">
                          <a:latin typeface="Cambria Math"/>
                          <a:cs typeface="Times New Roman" pitchFamily="18" charset="0"/>
                        </a:rPr>
                        <m:t> </m:t>
                      </m:r>
                    </m:oMath>
                  </a14:m>
                  <a:endParaRPr lang="en-US" dirty="0" smtClean="0">
                    <a:latin typeface="Times New Roman" pitchFamily="18" charset="0"/>
                    <a:cs typeface="Times New Roman" pitchFamily="18" charset="0"/>
                  </a:endParaRPr>
                </a:p>
                <a:p>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                     f '= </a:t>
                  </a:r>
                  <a14:m>
                    <m:oMath xmlns:m="http://schemas.openxmlformats.org/officeDocument/2006/math">
                      <m:d>
                        <m:dPr>
                          <m:ctrlPr>
                            <a:rPr lang="en-US" b="0" i="1" smtClean="0">
                              <a:latin typeface="Cambria Math"/>
                            </a:rPr>
                          </m:ctrlPr>
                        </m:dPr>
                        <m:e>
                          <m:r>
                            <a:rPr lang="en-US" b="0" i="0" smtClean="0">
                              <a:latin typeface="Cambria Math"/>
                            </a:rPr>
                            <m:t> </m:t>
                          </m:r>
                          <m:f>
                            <m:fPr>
                              <m:ctrlPr>
                                <a:rPr lang="en-US" i="1" smtClean="0">
                                  <a:latin typeface="Cambria Math"/>
                                </a:rPr>
                              </m:ctrlPr>
                            </m:fPr>
                            <m:num>
                              <m:r>
                                <a:rPr lang="en-US" i="1" dirty="0" smtClean="0">
                                  <a:latin typeface="Cambria Math"/>
                                  <a:cs typeface="Times New Roman" pitchFamily="18" charset="0"/>
                                </a:rPr>
                                <m:t>𝑣</m:t>
                              </m:r>
                              <m:r>
                                <a:rPr lang="en-US" b="0" i="1" dirty="0" smtClean="0">
                                  <a:latin typeface="Cambria Math"/>
                                  <a:cs typeface="Times New Roman" pitchFamily="18" charset="0"/>
                                </a:rPr>
                                <m:t>−</m:t>
                              </m:r>
                              <m:sSup>
                                <m:sSupPr>
                                  <m:ctrlPr>
                                    <a:rPr lang="en-US" i="1" dirty="0" smtClean="0">
                                      <a:latin typeface="Cambria Math"/>
                                      <a:cs typeface="Times New Roman" pitchFamily="18" charset="0"/>
                                    </a:rPr>
                                  </m:ctrlPr>
                                </m:sSupPr>
                                <m:e>
                                  <m:r>
                                    <a:rPr lang="en-US" i="1" dirty="0" smtClean="0">
                                      <a:latin typeface="Cambria Math"/>
                                      <a:cs typeface="Times New Roman" pitchFamily="18" charset="0"/>
                                    </a:rPr>
                                    <m:t>𝑣</m:t>
                                  </m:r>
                                </m:e>
                                <m:sup>
                                  <m:r>
                                    <a:rPr lang="en-US" i="1" dirty="0" smtClean="0">
                                      <a:latin typeface="Cambria Math"/>
                                      <a:cs typeface="Times New Roman" pitchFamily="18" charset="0"/>
                                    </a:rPr>
                                    <m:t>0</m:t>
                                  </m:r>
                                </m:sup>
                              </m:sSup>
                            </m:num>
                            <m:den>
                              <m:r>
                                <m:rPr>
                                  <m:nor/>
                                </m:rPr>
                                <a:rPr lang="en-US" b="0" i="0" smtClean="0">
                                  <a:latin typeface="Times New Roman" pitchFamily="18" charset="0"/>
                                  <a:cs typeface="Times New Roman" pitchFamily="18" charset="0"/>
                                </a:rPr>
                                <m:t>v</m:t>
                              </m:r>
                            </m:den>
                          </m:f>
                        </m:e>
                      </m:d>
                    </m:oMath>
                  </a14:m>
                  <a:r>
                    <a:rPr lang="en-US" dirty="0" smtClean="0">
                      <a:latin typeface="Times New Roman" pitchFamily="18" charset="0"/>
                      <a:cs typeface="Times New Roman" pitchFamily="18" charset="0"/>
                    </a:rPr>
                    <a:t>f                [ ⸪ v=</a:t>
                  </a:r>
                  <a:r>
                    <a:rPr lang="el-GR" dirty="0" smtClean="0">
                      <a:cs typeface="Times New Roman" pitchFamily="18" charset="0"/>
                    </a:rPr>
                    <a:t> </a:t>
                  </a:r>
                  <a14:m>
                    <m:oMath xmlns:m="http://schemas.openxmlformats.org/officeDocument/2006/math">
                      <m:r>
                        <m:rPr>
                          <m:nor/>
                        </m:rPr>
                        <a:rPr lang="el-GR" smtClean="0">
                          <a:latin typeface="Times New Roman" pitchFamily="18" charset="0"/>
                          <a:cs typeface="Times New Roman" pitchFamily="18" charset="0"/>
                        </a:rPr>
                        <m:t>λ</m:t>
                      </m:r>
                    </m:oMath>
                  </a14:m>
                  <a:r>
                    <a:rPr lang="en-US" dirty="0" smtClean="0">
                      <a:latin typeface="Times New Roman" pitchFamily="18" charset="0"/>
                      <a:cs typeface="Times New Roman" pitchFamily="18" charset="0"/>
                    </a:rPr>
                    <a:t>f  ]</a:t>
                  </a:r>
                  <a:endParaRPr lang="en-US" dirty="0">
                    <a:latin typeface="Times New Roman" pitchFamily="18" charset="0"/>
                    <a:cs typeface="Times New Roman" pitchFamily="18" charset="0"/>
                  </a:endParaRPr>
                </a:p>
              </p:txBody>
            </p:sp>
          </mc:Choice>
          <mc:Fallback xmlns="">
            <p:sp>
              <p:nvSpPr>
                <p:cNvPr id="15" name="TextBox 14"/>
                <p:cNvSpPr txBox="1">
                  <a:spLocks noRot="1" noChangeAspect="1" noMove="1" noResize="1" noEditPoints="1" noAdjustHandles="1" noChangeArrowheads="1" noChangeShapeType="1" noTextEdit="1"/>
                </p:cNvSpPr>
                <p:nvPr/>
              </p:nvSpPr>
              <p:spPr>
                <a:xfrm>
                  <a:off x="152400" y="2937009"/>
                  <a:ext cx="7353300" cy="2969018"/>
                </a:xfrm>
                <a:prstGeom prst="rect">
                  <a:avLst/>
                </a:prstGeom>
                <a:blipFill rotWithShape="1">
                  <a:blip r:embed="rId4"/>
                  <a:stretch>
                    <a:fillRect l="-663" t="-1027" b="-2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p:cNvSpPr txBox="1"/>
                <p:nvPr/>
              </p:nvSpPr>
              <p:spPr>
                <a:xfrm>
                  <a:off x="5105400" y="3657600"/>
                  <a:ext cx="2819401" cy="1077218"/>
                </a:xfrm>
                <a:prstGeom prst="rect">
                  <a:avLst/>
                </a:prstGeom>
                <a:noFill/>
              </p:spPr>
              <p:txBody>
                <a:bodyPr wrap="square" rtlCol="0">
                  <a:spAutoFit/>
                </a:bodyPr>
                <a:lstStyle/>
                <a:p>
                  <a:r>
                    <a:rPr lang="en-US" sz="1600" b="1" dirty="0" smtClean="0">
                      <a:solidFill>
                        <a:srgbClr val="FF0000"/>
                      </a:solidFill>
                      <a:latin typeface="Times New Roman" pitchFamily="18" charset="0"/>
                      <a:cs typeface="Times New Roman" pitchFamily="18" charset="0"/>
                    </a:rPr>
                    <a:t>V</a:t>
                  </a:r>
                  <a:r>
                    <a:rPr lang="en-US" sz="1600" dirty="0" smtClean="0">
                      <a:latin typeface="Times New Roman" pitchFamily="18" charset="0"/>
                      <a:cs typeface="Times New Roman" pitchFamily="18" charset="0"/>
                    </a:rPr>
                    <a:t>=Velocity of sound</a:t>
                  </a:r>
                </a:p>
                <a:p>
                  <a14:m>
                    <m:oMath xmlns:m="http://schemas.openxmlformats.org/officeDocument/2006/math">
                      <m:r>
                        <a:rPr lang="en-US" sz="1600" b="1" i="0" dirty="0" smtClean="0">
                          <a:solidFill>
                            <a:srgbClr val="FF0000"/>
                          </a:solidFill>
                          <a:latin typeface="Cambria Math"/>
                          <a:cs typeface="Times New Roman" pitchFamily="18" charset="0"/>
                        </a:rPr>
                        <m:t>𝐯</m:t>
                      </m:r>
                      <m:r>
                        <a:rPr lang="en-US" sz="1600" b="1" i="0" dirty="0" smtClean="0">
                          <a:solidFill>
                            <a:srgbClr val="FF0000"/>
                          </a:solidFill>
                          <a:latin typeface="Cambria Math"/>
                          <a:cs typeface="Times New Roman" pitchFamily="18" charset="0"/>
                        </a:rPr>
                        <m:t>₀</m:t>
                      </m:r>
                    </m:oMath>
                  </a14:m>
                  <a:r>
                    <a:rPr lang="en-US" sz="1600" dirty="0" smtClean="0">
                      <a:latin typeface="Times New Roman" pitchFamily="18" charset="0"/>
                      <a:cs typeface="Times New Roman" pitchFamily="18" charset="0"/>
                    </a:rPr>
                    <a:t>= Velocity of observer</a:t>
                  </a:r>
                </a:p>
                <a:p>
                  <a:r>
                    <a:rPr lang="en-US" sz="1600" b="1" dirty="0" smtClean="0">
                      <a:solidFill>
                        <a:srgbClr val="FF0000"/>
                      </a:solidFill>
                      <a:latin typeface="Times New Roman" pitchFamily="18" charset="0"/>
                      <a:cs typeface="Times New Roman" pitchFamily="18" charset="0"/>
                    </a:rPr>
                    <a:t>f</a:t>
                  </a:r>
                  <a:r>
                    <a:rPr lang="en-US" sz="1600" dirty="0" smtClean="0">
                      <a:latin typeface="Times New Roman" pitchFamily="18" charset="0"/>
                      <a:cs typeface="Times New Roman" pitchFamily="18" charset="0"/>
                    </a:rPr>
                    <a:t>= </a:t>
                  </a:r>
                  <a:r>
                    <a:rPr lang="en-US" sz="1600" dirty="0" err="1" smtClean="0">
                      <a:latin typeface="Times New Roman" pitchFamily="18" charset="0"/>
                      <a:cs typeface="Times New Roman" pitchFamily="18" charset="0"/>
                    </a:rPr>
                    <a:t>Orginal</a:t>
                  </a:r>
                  <a:r>
                    <a:rPr lang="en-US" sz="1600" dirty="0" smtClean="0">
                      <a:latin typeface="Times New Roman" pitchFamily="18" charset="0"/>
                      <a:cs typeface="Times New Roman" pitchFamily="18" charset="0"/>
                    </a:rPr>
                    <a:t> frequency of sound</a:t>
                  </a:r>
                </a:p>
                <a:p>
                  <a:r>
                    <a:rPr lang="en-US" sz="1600" b="1" dirty="0">
                      <a:solidFill>
                        <a:srgbClr val="FF0000"/>
                      </a:solidFill>
                      <a:latin typeface="Times New Roman" pitchFamily="18" charset="0"/>
                      <a:cs typeface="Times New Roman" pitchFamily="18" charset="0"/>
                    </a:rPr>
                    <a:t>f '</a:t>
                  </a:r>
                  <a:r>
                    <a:rPr lang="en-US" sz="1600" dirty="0" smtClean="0">
                      <a:latin typeface="Times New Roman" pitchFamily="18" charset="0"/>
                      <a:cs typeface="Times New Roman" pitchFamily="18" charset="0"/>
                    </a:rPr>
                    <a:t>= Apparent frequency</a:t>
                  </a:r>
                  <a:endParaRPr lang="en-US" sz="1600" dirty="0">
                    <a:latin typeface="Times New Roman" pitchFamily="18" charset="0"/>
                    <a:cs typeface="Times New Roman" pitchFamily="18" charset="0"/>
                  </a:endParaRPr>
                </a:p>
              </p:txBody>
            </p:sp>
          </mc:Choice>
          <mc:Fallback xmlns="">
            <p:sp>
              <p:nvSpPr>
                <p:cNvPr id="16" name="TextBox 15"/>
                <p:cNvSpPr txBox="1">
                  <a:spLocks noRot="1" noChangeAspect="1" noMove="1" noResize="1" noEditPoints="1" noAdjustHandles="1" noChangeArrowheads="1" noChangeShapeType="1" noTextEdit="1"/>
                </p:cNvSpPr>
                <p:nvPr/>
              </p:nvSpPr>
              <p:spPr>
                <a:xfrm>
                  <a:off x="5105400" y="3657600"/>
                  <a:ext cx="2819401" cy="1077218"/>
                </a:xfrm>
                <a:prstGeom prst="rect">
                  <a:avLst/>
                </a:prstGeom>
                <a:blipFill rotWithShape="1">
                  <a:blip r:embed="rId5"/>
                  <a:stretch>
                    <a:fillRect l="-1299" t="-1695" b="-6215"/>
                  </a:stretch>
                </a:blipFill>
              </p:spPr>
              <p:txBody>
                <a:bodyPr/>
                <a:lstStyle/>
                <a:p>
                  <a:r>
                    <a:rPr lang="en-US">
                      <a:noFill/>
                    </a:rPr>
                    <a:t> </a:t>
                  </a:r>
                </a:p>
              </p:txBody>
            </p:sp>
          </mc:Fallback>
        </mc:AlternateContent>
      </p:grpSp>
      <p:sp>
        <p:nvSpPr>
          <p:cNvPr id="11" name="TextBox 10"/>
          <p:cNvSpPr txBox="1"/>
          <p:nvPr/>
        </p:nvSpPr>
        <p:spPr>
          <a:xfrm>
            <a:off x="193705" y="152400"/>
            <a:ext cx="1524000" cy="461665"/>
          </a:xfrm>
          <a:prstGeom prst="rect">
            <a:avLst/>
          </a:prstGeom>
          <a:noFill/>
        </p:spPr>
        <p:txBody>
          <a:bodyPr wrap="square" rtlCol="0">
            <a:spAutoFit/>
          </a:bodyPr>
          <a:lstStyle/>
          <a:p>
            <a:r>
              <a:rPr lang="en-US" sz="2400" b="1" dirty="0" smtClean="0">
                <a:solidFill>
                  <a:srgbClr val="002060"/>
                </a:solidFill>
                <a:latin typeface="Times New Roman" pitchFamily="18" charset="0"/>
                <a:cs typeface="Times New Roman" pitchFamily="18" charset="0"/>
              </a:rPr>
              <a:t>CASE </a:t>
            </a:r>
            <a:r>
              <a:rPr lang="en-US" sz="2400" b="1" dirty="0" smtClean="0">
                <a:solidFill>
                  <a:srgbClr val="002060"/>
                </a:solidFill>
                <a:latin typeface="Times New Roman" pitchFamily="18" charset="0"/>
                <a:cs typeface="Times New Roman" pitchFamily="18" charset="0"/>
              </a:rPr>
              <a:t>II</a:t>
            </a:r>
            <a:r>
              <a:rPr lang="en-US" sz="2400" b="1" dirty="0" smtClean="0">
                <a:solidFill>
                  <a:srgbClr val="002060"/>
                </a:solidFill>
                <a:latin typeface="Times New Roman" pitchFamily="18" charset="0"/>
                <a:cs typeface="Times New Roman" pitchFamily="18" charset="0"/>
              </a:rPr>
              <a:t>:</a:t>
            </a:r>
            <a:endParaRPr lang="en-US" sz="2400" b="1" dirty="0">
              <a:solidFill>
                <a:srgbClr val="002060"/>
              </a:solidFill>
              <a:latin typeface="Times New Roman" pitchFamily="18" charset="0"/>
              <a:cs typeface="Times New Roman" pitchFamily="18" charset="0"/>
            </a:endParaRPr>
          </a:p>
        </p:txBody>
      </p:sp>
    </p:spTree>
    <p:extLst>
      <p:ext uri="{BB962C8B-B14F-4D97-AF65-F5344CB8AC3E}">
        <p14:creationId xmlns:p14="http://schemas.microsoft.com/office/powerpoint/2010/main" val="277359021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Exploring the Doppler Effect With NASA – Science Lesson | NASA JPL Education"/>
          <p:cNvPicPr>
            <a:picLocks noChangeAspect="1" noChangeArrowheads="1"/>
          </p:cNvPicPr>
          <p:nvPr/>
        </p:nvPicPr>
        <p:blipFill rotWithShape="1">
          <a:blip r:embed="rId2">
            <a:extLst>
              <a:ext uri="{28A0092B-C50C-407E-A947-70E740481C1C}">
                <a14:useLocalDpi xmlns:a14="http://schemas.microsoft.com/office/drawing/2010/main" val="0"/>
              </a:ext>
            </a:extLst>
          </a:blip>
          <a:srcRect l="16597" r="15431"/>
          <a:stretch/>
        </p:blipFill>
        <p:spPr bwMode="auto">
          <a:xfrm>
            <a:off x="338455" y="790455"/>
            <a:ext cx="2537927" cy="1871762"/>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152400" y="76200"/>
            <a:ext cx="1982750" cy="461665"/>
          </a:xfrm>
          <a:prstGeom prst="rect">
            <a:avLst/>
          </a:prstGeom>
          <a:noFill/>
        </p:spPr>
        <p:txBody>
          <a:bodyPr wrap="square" rtlCol="0">
            <a:spAutoFit/>
          </a:bodyPr>
          <a:lstStyle/>
          <a:p>
            <a:r>
              <a:rPr lang="en-US" sz="2400" b="1" dirty="0" smtClean="0">
                <a:solidFill>
                  <a:srgbClr val="002060"/>
                </a:solidFill>
                <a:latin typeface="Times New Roman" pitchFamily="18" charset="0"/>
                <a:cs typeface="Times New Roman" pitchFamily="18" charset="0"/>
              </a:rPr>
              <a:t>CASE </a:t>
            </a:r>
            <a:r>
              <a:rPr lang="en-US" sz="2400" b="1" dirty="0" smtClean="0">
                <a:solidFill>
                  <a:srgbClr val="002060"/>
                </a:solidFill>
                <a:latin typeface="Times New Roman" pitchFamily="18" charset="0"/>
                <a:cs typeface="Times New Roman" pitchFamily="18" charset="0"/>
              </a:rPr>
              <a:t>III:</a:t>
            </a:r>
            <a:endParaRPr lang="en-US" sz="2400" b="1" dirty="0">
              <a:solidFill>
                <a:srgbClr val="002060"/>
              </a:solidFill>
              <a:latin typeface="Times New Roman" pitchFamily="18" charset="0"/>
              <a:cs typeface="Times New Roman" pitchFamily="18" charset="0"/>
            </a:endParaRPr>
          </a:p>
        </p:txBody>
      </p:sp>
      <p:sp>
        <p:nvSpPr>
          <p:cNvPr id="7" name="TextBox 6"/>
          <p:cNvSpPr txBox="1"/>
          <p:nvPr/>
        </p:nvSpPr>
        <p:spPr>
          <a:xfrm>
            <a:off x="0" y="412175"/>
            <a:ext cx="4953000" cy="400110"/>
          </a:xfrm>
          <a:prstGeom prst="rect">
            <a:avLst/>
          </a:prstGeom>
          <a:noFill/>
        </p:spPr>
        <p:txBody>
          <a:bodyPr wrap="square" rtlCol="0">
            <a:spAutoFit/>
          </a:bodyPr>
          <a:lstStyle/>
          <a:p>
            <a:r>
              <a:rPr lang="en-US" dirty="0" smtClean="0">
                <a:solidFill>
                  <a:srgbClr val="002060"/>
                </a:solidFill>
                <a:latin typeface="Times New Roman" pitchFamily="18" charset="0"/>
                <a:cs typeface="Times New Roman" pitchFamily="18" charset="0"/>
              </a:rPr>
              <a:t>1. </a:t>
            </a:r>
            <a:r>
              <a:rPr lang="en-US" dirty="0">
                <a:solidFill>
                  <a:srgbClr val="002060"/>
                </a:solidFill>
                <a:latin typeface="Times New Roman" pitchFamily="18" charset="0"/>
                <a:cs typeface="Times New Roman" pitchFamily="18" charset="0"/>
              </a:rPr>
              <a:t>S</a:t>
            </a:r>
            <a:r>
              <a:rPr lang="en-US" dirty="0" smtClean="0">
                <a:solidFill>
                  <a:srgbClr val="002060"/>
                </a:solidFill>
                <a:latin typeface="Times New Roman" pitchFamily="18" charset="0"/>
                <a:cs typeface="Times New Roman" pitchFamily="18" charset="0"/>
              </a:rPr>
              <a:t>ource </a:t>
            </a:r>
            <a:r>
              <a:rPr lang="en-US" sz="2000" dirty="0" smtClean="0">
                <a:solidFill>
                  <a:srgbClr val="002060"/>
                </a:solidFill>
                <a:latin typeface="Times New Roman" pitchFamily="18" charset="0"/>
                <a:cs typeface="Times New Roman" pitchFamily="18" charset="0"/>
              </a:rPr>
              <a:t>moves towards stationary observer.</a:t>
            </a:r>
            <a:endParaRPr lang="en-US" dirty="0" smtClean="0">
              <a:solidFill>
                <a:srgbClr val="002060"/>
              </a:solidFill>
              <a:latin typeface="Times New Roman" pitchFamily="18" charset="0"/>
              <a:cs typeface="Times New Roman" pitchFamily="18" charset="0"/>
            </a:endParaRPr>
          </a:p>
        </p:txBody>
      </p:sp>
      <p:sp>
        <p:nvSpPr>
          <p:cNvPr id="9" name="AutoShape 6" descr="🔊 Speaker High Volume Emoji: Meaning ..."/>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AutoShape 8" descr="🔊 Speaker High Volume Emoji: Meaning ..."/>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 name="AutoShape 10" descr="🔊 Speaker High Volume Emoji: Meaning ..."/>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 name="AutoShape 12" descr="🔊 · OpenMoji"/>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 name="AutoShape 14" descr="🔊 · OpenMoji"/>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nvGrpSpPr>
          <p:cNvPr id="38" name="Group 37"/>
          <p:cNvGrpSpPr/>
          <p:nvPr/>
        </p:nvGrpSpPr>
        <p:grpSpPr>
          <a:xfrm>
            <a:off x="-11903" y="2901403"/>
            <a:ext cx="2362200" cy="3109357"/>
            <a:chOff x="3725225" y="849868"/>
            <a:chExt cx="2362200" cy="3109357"/>
          </a:xfrm>
        </p:grpSpPr>
        <p:pic>
          <p:nvPicPr>
            <p:cNvPr id="5137" name="Picture 17"/>
            <p:cNvPicPr>
              <a:picLocks noChangeAspect="1" noChangeArrowheads="1"/>
            </p:cNvPicPr>
            <p:nvPr/>
          </p:nvPicPr>
          <p:blipFill rotWithShape="1">
            <a:blip r:embed="rId3">
              <a:extLst>
                <a:ext uri="{28A0092B-C50C-407E-A947-70E740481C1C}">
                  <a14:useLocalDpi xmlns:a14="http://schemas.microsoft.com/office/drawing/2010/main" val="0"/>
                </a:ext>
              </a:extLst>
            </a:blip>
            <a:srcRect t="14961" b="17228"/>
            <a:stretch/>
          </p:blipFill>
          <p:spPr bwMode="auto">
            <a:xfrm>
              <a:off x="3725225" y="1424939"/>
              <a:ext cx="2362200" cy="16660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2" name="TextBox 21"/>
            <p:cNvSpPr txBox="1"/>
            <p:nvPr/>
          </p:nvSpPr>
          <p:spPr>
            <a:xfrm rot="5400000">
              <a:off x="3398320" y="2404547"/>
              <a:ext cx="2740025" cy="369332"/>
            </a:xfrm>
            <a:prstGeom prst="rect">
              <a:avLst/>
            </a:prstGeom>
            <a:noFill/>
          </p:spPr>
          <p:txBody>
            <a:bodyPr wrap="square" rtlCol="0">
              <a:spAutoFit/>
            </a:bodyPr>
            <a:lstStyle/>
            <a:p>
              <a:r>
                <a:rPr lang="en-US" dirty="0" smtClean="0"/>
                <a:t>……………………………</a:t>
              </a:r>
              <a:endParaRPr lang="en-US" dirty="0"/>
            </a:p>
          </p:txBody>
        </p:sp>
        <p:sp>
          <p:nvSpPr>
            <p:cNvPr id="28" name="TextBox 27"/>
            <p:cNvSpPr txBox="1"/>
            <p:nvPr/>
          </p:nvSpPr>
          <p:spPr>
            <a:xfrm rot="5400000">
              <a:off x="4165877" y="2177536"/>
              <a:ext cx="2286001" cy="369332"/>
            </a:xfrm>
            <a:prstGeom prst="rect">
              <a:avLst/>
            </a:prstGeom>
            <a:noFill/>
          </p:spPr>
          <p:txBody>
            <a:bodyPr wrap="square" rtlCol="0">
              <a:spAutoFit/>
            </a:bodyPr>
            <a:lstStyle/>
            <a:p>
              <a:r>
                <a:rPr lang="en-US" dirty="0" smtClean="0"/>
                <a:t>……………………………</a:t>
              </a:r>
              <a:endParaRPr lang="en-US" dirty="0"/>
            </a:p>
          </p:txBody>
        </p:sp>
        <p:sp>
          <p:nvSpPr>
            <p:cNvPr id="29" name="TextBox 28"/>
            <p:cNvSpPr txBox="1"/>
            <p:nvPr/>
          </p:nvSpPr>
          <p:spPr>
            <a:xfrm rot="5400000">
              <a:off x="4881680" y="2032962"/>
              <a:ext cx="1981197" cy="369332"/>
            </a:xfrm>
            <a:prstGeom prst="rect">
              <a:avLst/>
            </a:prstGeom>
            <a:noFill/>
          </p:spPr>
          <p:txBody>
            <a:bodyPr wrap="square" rtlCol="0">
              <a:spAutoFit/>
            </a:bodyPr>
            <a:lstStyle/>
            <a:p>
              <a:r>
                <a:rPr lang="en-US" dirty="0" smtClean="0"/>
                <a:t>……………………………</a:t>
              </a:r>
              <a:endParaRPr lang="en-US" dirty="0"/>
            </a:p>
          </p:txBody>
        </p:sp>
        <mc:AlternateContent xmlns:mc="http://schemas.openxmlformats.org/markup-compatibility/2006" xmlns:a14="http://schemas.microsoft.com/office/drawing/2010/main">
          <mc:Choice Requires="a14">
            <p:sp>
              <p:nvSpPr>
                <p:cNvPr id="31" name="TextBox 30"/>
                <p:cNvSpPr txBox="1"/>
                <p:nvPr/>
              </p:nvSpPr>
              <p:spPr>
                <a:xfrm>
                  <a:off x="4871381" y="849868"/>
                  <a:ext cx="922258" cy="369332"/>
                </a:xfrm>
                <a:prstGeom prst="rect">
                  <a:avLst/>
                </a:prstGeom>
                <a:noFill/>
              </p:spPr>
              <p:txBody>
                <a:bodyPr wrap="square" rtlCol="0">
                  <a:spAutoFit/>
                </a:bodyPr>
                <a:lstStyle/>
                <a:p>
                  <a14:m>
                    <m:oMath xmlns:m="http://schemas.openxmlformats.org/officeDocument/2006/math">
                      <m:r>
                        <m:rPr>
                          <m:nor/>
                        </m:rPr>
                        <a:rPr lang="el-GR" smtClean="0">
                          <a:latin typeface="Times New Roman" pitchFamily="18" charset="0"/>
                          <a:cs typeface="Times New Roman" pitchFamily="18" charset="0"/>
                        </a:rPr>
                        <m:t>λ</m:t>
                      </m:r>
                    </m:oMath>
                  </a14:m>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vT</a:t>
                  </a:r>
                  <a:endParaRPr lang="en-US" dirty="0">
                    <a:latin typeface="Times New Roman" pitchFamily="18" charset="0"/>
                    <a:cs typeface="Times New Roman" pitchFamily="18" charset="0"/>
                  </a:endParaRPr>
                </a:p>
              </p:txBody>
            </p:sp>
          </mc:Choice>
          <mc:Fallback xmlns="">
            <p:sp>
              <p:nvSpPr>
                <p:cNvPr id="31" name="TextBox 30"/>
                <p:cNvSpPr txBox="1">
                  <a:spLocks noRot="1" noChangeAspect="1" noMove="1" noResize="1" noEditPoints="1" noAdjustHandles="1" noChangeArrowheads="1" noChangeShapeType="1" noTextEdit="1"/>
                </p:cNvSpPr>
                <p:nvPr/>
              </p:nvSpPr>
              <p:spPr>
                <a:xfrm>
                  <a:off x="4871381" y="849868"/>
                  <a:ext cx="922258" cy="369332"/>
                </a:xfrm>
                <a:prstGeom prst="rect">
                  <a:avLst/>
                </a:prstGeom>
                <a:blipFill rotWithShape="1">
                  <a:blip r:embed="rId4"/>
                  <a:stretch>
                    <a:fillRect t="-8197" b="-24590"/>
                  </a:stretch>
                </a:blipFill>
              </p:spPr>
              <p:txBody>
                <a:bodyPr/>
                <a:lstStyle/>
                <a:p>
                  <a:r>
                    <a:rPr lang="en-US">
                      <a:noFill/>
                    </a:rPr>
                    <a:t> </a:t>
                  </a:r>
                </a:p>
              </p:txBody>
            </p:sp>
          </mc:Fallback>
        </mc:AlternateContent>
        <p:grpSp>
          <p:nvGrpSpPr>
            <p:cNvPr id="36" name="Group 35"/>
            <p:cNvGrpSpPr/>
            <p:nvPr/>
          </p:nvGrpSpPr>
          <p:grpSpPr>
            <a:xfrm>
              <a:off x="4217906" y="1158240"/>
              <a:ext cx="1654372" cy="1631030"/>
              <a:chOff x="4217906" y="1158240"/>
              <a:chExt cx="1654372" cy="1631030"/>
            </a:xfrm>
          </p:grpSpPr>
          <p:pic>
            <p:nvPicPr>
              <p:cNvPr id="5136" name="Picture 16" descr="🔊 · OpenMoji"/>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217906" y="2027128"/>
                <a:ext cx="381000" cy="381000"/>
              </a:xfrm>
              <a:prstGeom prst="rect">
                <a:avLst/>
              </a:prstGeom>
              <a:solidFill>
                <a:srgbClr val="FFFF00"/>
              </a:solidFill>
            </p:spPr>
          </p:pic>
          <p:pic>
            <p:nvPicPr>
              <p:cNvPr id="21" name="Picture 16" descr="🔊 · OpenMoji"/>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789527" y="2023547"/>
                <a:ext cx="381000" cy="381000"/>
              </a:xfrm>
              <a:prstGeom prst="rect">
                <a:avLst/>
              </a:prstGeom>
              <a:solidFill>
                <a:srgbClr val="FFFF00"/>
              </a:solidFill>
            </p:spPr>
          </p:pic>
          <p:cxnSp>
            <p:nvCxnSpPr>
              <p:cNvPr id="24" name="Straight Arrow Connector 23"/>
              <p:cNvCxnSpPr/>
              <p:nvPr/>
            </p:nvCxnSpPr>
            <p:spPr>
              <a:xfrm>
                <a:off x="4648200" y="1158240"/>
                <a:ext cx="1224078" cy="0"/>
              </a:xfrm>
              <a:prstGeom prst="straightConnector1">
                <a:avLst/>
              </a:prstGeom>
              <a:ln w="1905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p:nvPr/>
            </p:nvCxnSpPr>
            <p:spPr>
              <a:xfrm>
                <a:off x="4686299" y="2420194"/>
                <a:ext cx="533400" cy="0"/>
              </a:xfrm>
              <a:prstGeom prst="straightConnector1">
                <a:avLst/>
              </a:prstGeom>
              <a:ln w="1905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a:xfrm>
                <a:off x="5260239" y="2424848"/>
                <a:ext cx="533400" cy="0"/>
              </a:xfrm>
              <a:prstGeom prst="straightConnector1">
                <a:avLst/>
              </a:prstGeom>
              <a:ln w="1905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4768332" y="2450713"/>
                <a:ext cx="656274" cy="276999"/>
              </a:xfrm>
              <a:prstGeom prst="rect">
                <a:avLst/>
              </a:prstGeom>
              <a:noFill/>
            </p:spPr>
            <p:txBody>
              <a:bodyPr wrap="square" rtlCol="0">
                <a:spAutoFit/>
              </a:bodyPr>
              <a:lstStyle/>
              <a:p>
                <a:r>
                  <a:rPr lang="en-US" sz="1200" dirty="0" err="1" smtClean="0">
                    <a:latin typeface="Times New Roman" pitchFamily="18" charset="0"/>
                    <a:cs typeface="Times New Roman" pitchFamily="18" charset="0"/>
                  </a:rPr>
                  <a:t>VsT</a:t>
                </a:r>
                <a:endParaRPr lang="en-US" sz="1200" dirty="0">
                  <a:latin typeface="Times New Roman" pitchFamily="18" charset="0"/>
                  <a:cs typeface="Times New Roman" pitchFamily="18" charset="0"/>
                </a:endParaRPr>
              </a:p>
            </p:txBody>
          </p:sp>
          <p:sp>
            <p:nvSpPr>
              <p:cNvPr id="41" name="TextBox 40"/>
              <p:cNvSpPr txBox="1"/>
              <p:nvPr/>
            </p:nvSpPr>
            <p:spPr>
              <a:xfrm>
                <a:off x="5331617" y="2450716"/>
                <a:ext cx="479939" cy="338554"/>
              </a:xfrm>
              <a:prstGeom prst="rect">
                <a:avLst/>
              </a:prstGeom>
              <a:noFill/>
            </p:spPr>
            <p:txBody>
              <a:bodyPr wrap="square" rtlCol="0">
                <a:spAutoFit/>
              </a:bodyPr>
              <a:lstStyle/>
              <a:p>
                <a:r>
                  <a:rPr lang="el-GR" sz="1600" dirty="0" smtClean="0">
                    <a:latin typeface="Times New Roman" pitchFamily="18" charset="0"/>
                    <a:cs typeface="Times New Roman" pitchFamily="18" charset="0"/>
                  </a:rPr>
                  <a:t>λ</a:t>
                </a:r>
                <a:r>
                  <a:rPr lang="en-US" sz="1600" baseline="-25000" dirty="0" smtClean="0">
                    <a:latin typeface="Times New Roman" pitchFamily="18" charset="0"/>
                    <a:cs typeface="Times New Roman" pitchFamily="18" charset="0"/>
                  </a:rPr>
                  <a:t>e</a:t>
                </a:r>
                <a:endParaRPr lang="en-US" sz="1600" baseline="-25000" dirty="0">
                  <a:latin typeface="Times New Roman" pitchFamily="18" charset="0"/>
                  <a:cs typeface="Times New Roman" pitchFamily="18" charset="0"/>
                </a:endParaRPr>
              </a:p>
            </p:txBody>
          </p:sp>
        </p:grpSp>
      </p:grpSp>
      <mc:AlternateContent xmlns:mc="http://schemas.openxmlformats.org/markup-compatibility/2006" xmlns:a14="http://schemas.microsoft.com/office/drawing/2010/main">
        <mc:Choice Requires="a14">
          <p:sp>
            <p:nvSpPr>
              <p:cNvPr id="34" name="TextBox 33"/>
              <p:cNvSpPr txBox="1"/>
              <p:nvPr/>
            </p:nvSpPr>
            <p:spPr>
              <a:xfrm>
                <a:off x="2876382" y="3758901"/>
                <a:ext cx="2195394" cy="3278718"/>
              </a:xfrm>
              <a:prstGeom prst="rect">
                <a:avLst/>
              </a:prstGeom>
              <a:noFill/>
            </p:spPr>
            <p:txBody>
              <a:bodyPr wrap="square" rtlCol="0">
                <a:spAutoFit/>
              </a:bodyPr>
              <a:lstStyle/>
              <a:p>
                <a:r>
                  <a:rPr lang="en-US" dirty="0" smtClean="0">
                    <a:latin typeface="Times New Roman" pitchFamily="18" charset="0"/>
                    <a:cs typeface="Times New Roman" pitchFamily="18" charset="0"/>
                  </a:rPr>
                  <a:t>From fig:</a:t>
                </a:r>
              </a:p>
              <a:p>
                <a:r>
                  <a:rPr lang="en-US" dirty="0" smtClean="0">
                    <a:latin typeface="Times New Roman" pitchFamily="18" charset="0"/>
                    <a:cs typeface="Times New Roman" pitchFamily="18" charset="0"/>
                  </a:rPr>
                  <a:t> </a:t>
                </a:r>
              </a:p>
              <a:p>
                <a:r>
                  <a:rPr lang="el-GR" dirty="0" smtClean="0">
                    <a:latin typeface="Times New Roman" pitchFamily="18" charset="0"/>
                    <a:cs typeface="Times New Roman" pitchFamily="18" charset="0"/>
                  </a:rPr>
                  <a:t>λ</a:t>
                </a:r>
                <a:r>
                  <a:rPr lang="en-US" baseline="-25000" dirty="0" smtClean="0">
                    <a:latin typeface="Times New Roman" pitchFamily="18" charset="0"/>
                    <a:cs typeface="Times New Roman" pitchFamily="18" charset="0"/>
                  </a:rPr>
                  <a:t>e</a:t>
                </a:r>
                <a:r>
                  <a:rPr lang="en-US" dirty="0" smtClean="0">
                    <a:latin typeface="Times New Roman" pitchFamily="18" charset="0"/>
                    <a:cs typeface="Times New Roman" pitchFamily="18" charset="0"/>
                  </a:rPr>
                  <a:t>= </a:t>
                </a:r>
                <a:r>
                  <a:rPr lang="en-US" dirty="0" err="1">
                    <a:latin typeface="Times New Roman" pitchFamily="18" charset="0"/>
                    <a:cs typeface="Times New Roman" pitchFamily="18" charset="0"/>
                  </a:rPr>
                  <a:t>v</a:t>
                </a:r>
                <a:r>
                  <a:rPr lang="en-US" dirty="0" err="1" smtClean="0">
                    <a:latin typeface="Times New Roman" pitchFamily="18" charset="0"/>
                    <a:cs typeface="Times New Roman" pitchFamily="18" charset="0"/>
                  </a:rPr>
                  <a:t>T</a:t>
                </a:r>
                <a:r>
                  <a:rPr lang="en-US" dirty="0" smtClean="0">
                    <a:latin typeface="Times New Roman" pitchFamily="18" charset="0"/>
                    <a:cs typeface="Times New Roman" pitchFamily="18" charset="0"/>
                  </a:rPr>
                  <a:t> – </a:t>
                </a:r>
                <a:r>
                  <a:rPr lang="en-US" dirty="0" err="1">
                    <a:latin typeface="Times New Roman" pitchFamily="18" charset="0"/>
                    <a:cs typeface="Times New Roman" pitchFamily="18" charset="0"/>
                  </a:rPr>
                  <a:t>v</a:t>
                </a:r>
                <a:r>
                  <a:rPr lang="en-US" baseline="-25000" dirty="0" err="1" smtClean="0">
                    <a:latin typeface="Times New Roman" pitchFamily="18" charset="0"/>
                    <a:cs typeface="Times New Roman" pitchFamily="18" charset="0"/>
                  </a:rPr>
                  <a:t>s</a:t>
                </a:r>
                <a:r>
                  <a:rPr lang="en-US" dirty="0" err="1" smtClean="0">
                    <a:latin typeface="Times New Roman" pitchFamily="18" charset="0"/>
                    <a:cs typeface="Times New Roman" pitchFamily="18" charset="0"/>
                  </a:rPr>
                  <a:t>T</a:t>
                </a:r>
                <a:endParaRPr lang="en-US" dirty="0" smtClean="0">
                  <a:latin typeface="Times New Roman" pitchFamily="18" charset="0"/>
                  <a:cs typeface="Times New Roman" pitchFamily="18" charset="0"/>
                </a:endParaRPr>
              </a:p>
              <a:p>
                <a:r>
                  <a:rPr lang="el-GR" dirty="0" smtClean="0">
                    <a:latin typeface="Times New Roman" pitchFamily="18" charset="0"/>
                    <a:cs typeface="Times New Roman" pitchFamily="18" charset="0"/>
                  </a:rPr>
                  <a:t>λ</a:t>
                </a:r>
                <a:r>
                  <a:rPr lang="en-US" baseline="-25000" dirty="0" smtClean="0">
                    <a:latin typeface="Times New Roman" pitchFamily="18" charset="0"/>
                    <a:cs typeface="Times New Roman" pitchFamily="18" charset="0"/>
                  </a:rPr>
                  <a:t>e</a:t>
                </a:r>
                <a:r>
                  <a:rPr lang="en-US" dirty="0" smtClean="0">
                    <a:latin typeface="Times New Roman" pitchFamily="18" charset="0"/>
                    <a:cs typeface="Times New Roman" pitchFamily="18" charset="0"/>
                  </a:rPr>
                  <a:t>= </a:t>
                </a:r>
                <a14:m>
                  <m:oMath xmlns:m="http://schemas.openxmlformats.org/officeDocument/2006/math">
                    <m:f>
                      <m:fPr>
                        <m:ctrlPr>
                          <a:rPr lang="en-US" i="1" dirty="0" smtClean="0">
                            <a:latin typeface="Cambria Math"/>
                            <a:cs typeface="Times New Roman" pitchFamily="18" charset="0"/>
                          </a:rPr>
                        </m:ctrlPr>
                      </m:fPr>
                      <m:num>
                        <m:r>
                          <m:rPr>
                            <m:nor/>
                          </m:rPr>
                          <a:rPr lang="en-US" b="0" i="0" dirty="0" smtClean="0">
                            <a:latin typeface="Cambria Math"/>
                            <a:cs typeface="Times New Roman" pitchFamily="18" charset="0"/>
                          </a:rPr>
                          <m:t>v</m:t>
                        </m:r>
                        <m:r>
                          <m:rPr>
                            <m:nor/>
                          </m:rPr>
                          <a:rPr lang="en-US" b="0" i="0" dirty="0" smtClean="0">
                            <a:latin typeface="Cambria Math"/>
                            <a:cs typeface="Times New Roman" pitchFamily="18" charset="0"/>
                          </a:rPr>
                          <m:t> </m:t>
                        </m:r>
                        <m:r>
                          <m:rPr>
                            <m:nor/>
                          </m:rPr>
                          <a:rPr lang="en-US" dirty="0" smtClean="0">
                            <a:latin typeface="Times New Roman" pitchFamily="18" charset="0"/>
                            <a:cs typeface="Times New Roman" pitchFamily="18" charset="0"/>
                          </a:rPr>
                          <m:t>– </m:t>
                        </m:r>
                        <m:r>
                          <m:rPr>
                            <m:nor/>
                          </m:rPr>
                          <a:rPr lang="en-US" b="0" i="0" dirty="0" smtClean="0">
                            <a:latin typeface="Times New Roman" pitchFamily="18" charset="0"/>
                            <a:cs typeface="Times New Roman" pitchFamily="18" charset="0"/>
                          </a:rPr>
                          <m:t>v</m:t>
                        </m:r>
                        <m:r>
                          <m:rPr>
                            <m:nor/>
                          </m:rPr>
                          <a:rPr lang="en-US" baseline="-25000" dirty="0" smtClean="0">
                            <a:latin typeface="Times New Roman" pitchFamily="18" charset="0"/>
                            <a:cs typeface="Times New Roman" pitchFamily="18" charset="0"/>
                          </a:rPr>
                          <m:t>s</m:t>
                        </m:r>
                        <m:r>
                          <m:rPr>
                            <m:nor/>
                          </m:rPr>
                          <a:rPr lang="en-US" dirty="0" smtClean="0">
                            <a:latin typeface="Times New Roman" pitchFamily="18" charset="0"/>
                            <a:cs typeface="Times New Roman" pitchFamily="18" charset="0"/>
                          </a:rPr>
                          <m:t> </m:t>
                        </m:r>
                      </m:num>
                      <m:den>
                        <m:r>
                          <a:rPr lang="en-US" b="0" i="1" dirty="0" smtClean="0">
                            <a:latin typeface="Cambria Math"/>
                            <a:cs typeface="Times New Roman" pitchFamily="18" charset="0"/>
                          </a:rPr>
                          <m:t>𝑓</m:t>
                        </m:r>
                      </m:den>
                    </m:f>
                  </m:oMath>
                </a14:m>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Then, </a:t>
                </a:r>
              </a:p>
              <a:p>
                <a:r>
                  <a:rPr lang="en-US" dirty="0" smtClean="0">
                    <a:latin typeface="Times New Roman" pitchFamily="18" charset="0"/>
                    <a:cs typeface="Times New Roman" pitchFamily="18" charset="0"/>
                  </a:rPr>
                  <a:t>  </a:t>
                </a:r>
              </a:p>
              <a:p>
                <a:r>
                  <a:rPr lang="en-US" dirty="0" smtClean="0">
                    <a:latin typeface="Times New Roman" pitchFamily="18" charset="0"/>
                    <a:cs typeface="Times New Roman" pitchFamily="18" charset="0"/>
                  </a:rPr>
                  <a:t> f ' = </a:t>
                </a:r>
                <a14:m>
                  <m:oMath xmlns:m="http://schemas.openxmlformats.org/officeDocument/2006/math">
                    <m:d>
                      <m:dPr>
                        <m:ctrlPr>
                          <a:rPr lang="en-US" b="0" i="1" smtClean="0">
                            <a:latin typeface="Cambria Math"/>
                          </a:rPr>
                        </m:ctrlPr>
                      </m:dPr>
                      <m:e>
                        <m:r>
                          <a:rPr lang="en-US" b="0" i="0" smtClean="0">
                            <a:latin typeface="Cambria Math"/>
                          </a:rPr>
                          <m:t> </m:t>
                        </m:r>
                        <m:f>
                          <m:fPr>
                            <m:ctrlPr>
                              <a:rPr lang="en-US" i="1" smtClean="0">
                                <a:latin typeface="Cambria Math"/>
                              </a:rPr>
                            </m:ctrlPr>
                          </m:fPr>
                          <m:num>
                            <m:r>
                              <a:rPr lang="en-US" i="1" dirty="0" smtClean="0">
                                <a:latin typeface="Cambria Math"/>
                                <a:cs typeface="Times New Roman" pitchFamily="18" charset="0"/>
                              </a:rPr>
                              <m:t>𝑣</m:t>
                            </m:r>
                          </m:num>
                          <m:den>
                            <m:r>
                              <m:rPr>
                                <m:nor/>
                              </m:rPr>
                              <a:rPr lang="en-US" b="0" i="0" dirty="0" smtClean="0">
                                <a:latin typeface="Cambria Math"/>
                                <a:cs typeface="Times New Roman" pitchFamily="18" charset="0"/>
                              </a:rPr>
                              <m:t>v</m:t>
                            </m:r>
                            <m:r>
                              <m:rPr>
                                <m:nor/>
                              </m:rPr>
                              <a:rPr lang="en-US" b="0" i="0" smtClean="0">
                                <a:latin typeface="Times New Roman" pitchFamily="18" charset="0"/>
                                <a:cs typeface="Times New Roman" pitchFamily="18" charset="0"/>
                              </a:rPr>
                              <m:t>−</m:t>
                            </m:r>
                            <m:r>
                              <m:rPr>
                                <m:nor/>
                              </m:rPr>
                              <a:rPr lang="en-US" b="0" i="0" smtClean="0">
                                <a:latin typeface="Times New Roman" pitchFamily="18" charset="0"/>
                                <a:cs typeface="Times New Roman" pitchFamily="18" charset="0"/>
                              </a:rPr>
                              <m:t>vs</m:t>
                            </m:r>
                          </m:den>
                        </m:f>
                      </m:e>
                    </m:d>
                  </m:oMath>
                </a14:m>
                <a:r>
                  <a:rPr lang="en-US" dirty="0" smtClean="0">
                    <a:latin typeface="Times New Roman" pitchFamily="18" charset="0"/>
                    <a:cs typeface="Times New Roman" pitchFamily="18" charset="0"/>
                  </a:rPr>
                  <a:t>f</a:t>
                </a:r>
              </a:p>
              <a:p>
                <a:endParaRPr lang="en-US" dirty="0" smtClean="0">
                  <a:latin typeface="Times New Roman" pitchFamily="18" charset="0"/>
                  <a:cs typeface="Times New Roman" pitchFamily="18" charset="0"/>
                </a:endParaRPr>
              </a:p>
              <a:p>
                <a:endParaRPr lang="en-US" dirty="0" smtClean="0">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mc:Choice>
        <mc:Fallback xmlns="">
          <p:sp>
            <p:nvSpPr>
              <p:cNvPr id="34" name="TextBox 33"/>
              <p:cNvSpPr txBox="1">
                <a:spLocks noRot="1" noChangeAspect="1" noMove="1" noResize="1" noEditPoints="1" noAdjustHandles="1" noChangeArrowheads="1" noChangeShapeType="1" noTextEdit="1"/>
              </p:cNvSpPr>
              <p:nvPr/>
            </p:nvSpPr>
            <p:spPr>
              <a:xfrm>
                <a:off x="2876382" y="3758901"/>
                <a:ext cx="2195394" cy="3278718"/>
              </a:xfrm>
              <a:prstGeom prst="rect">
                <a:avLst/>
              </a:prstGeom>
              <a:blipFill rotWithShape="1">
                <a:blip r:embed="rId6"/>
                <a:stretch>
                  <a:fillRect l="-2500" t="-931"/>
                </a:stretch>
              </a:blipFill>
            </p:spPr>
            <p:txBody>
              <a:bodyPr/>
              <a:lstStyle/>
              <a:p>
                <a:r>
                  <a:rPr lang="en-US">
                    <a:noFill/>
                  </a:rPr>
                  <a:t> </a:t>
                </a:r>
              </a:p>
            </p:txBody>
          </p:sp>
        </mc:Fallback>
      </mc:AlternateContent>
      <p:sp>
        <p:nvSpPr>
          <p:cNvPr id="35" name="TextBox 34"/>
          <p:cNvSpPr txBox="1"/>
          <p:nvPr/>
        </p:nvSpPr>
        <p:spPr>
          <a:xfrm>
            <a:off x="3081461" y="907891"/>
            <a:ext cx="5090159" cy="1754326"/>
          </a:xfrm>
          <a:prstGeom prst="rect">
            <a:avLst/>
          </a:prstGeom>
          <a:noFill/>
        </p:spPr>
        <p:txBody>
          <a:bodyPr wrap="square" rtlCol="0">
            <a:spAutoFit/>
          </a:bodyPr>
          <a:lstStyle/>
          <a:p>
            <a:r>
              <a:rPr lang="en-US" dirty="0" smtClean="0">
                <a:latin typeface="Times New Roman" pitchFamily="18" charset="0"/>
                <a:cs typeface="Times New Roman" pitchFamily="18" charset="0"/>
              </a:rPr>
              <a:t>When the sound source moves towards a stationary observer, it creates compressed sound waves in front of it.</a:t>
            </a:r>
            <a:br>
              <a:rPr lang="en-US" dirty="0" smtClean="0">
                <a:latin typeface="Times New Roman" pitchFamily="18" charset="0"/>
                <a:cs typeface="Times New Roman" pitchFamily="18" charset="0"/>
              </a:rPr>
            </a:br>
            <a:r>
              <a:rPr lang="en-US" dirty="0" smtClean="0">
                <a:latin typeface="Times New Roman" pitchFamily="18" charset="0"/>
                <a:cs typeface="Times New Roman" pitchFamily="18" charset="0"/>
              </a:rPr>
              <a:t>Because these waves are closer together, the observer hears a </a:t>
            </a:r>
            <a:r>
              <a:rPr lang="en-US" b="1" dirty="0" smtClean="0">
                <a:latin typeface="Times New Roman" pitchFamily="18" charset="0"/>
                <a:cs typeface="Times New Roman" pitchFamily="18" charset="0"/>
              </a:rPr>
              <a:t>higher frequency</a:t>
            </a:r>
            <a:r>
              <a:rPr lang="en-US" dirty="0" smtClean="0">
                <a:latin typeface="Times New Roman" pitchFamily="18" charset="0"/>
                <a:cs typeface="Times New Roman" pitchFamily="18" charset="0"/>
              </a:rPr>
              <a:t> than the actual frequency produced by the source.</a:t>
            </a:r>
            <a:endParaRPr lang="en-US" dirty="0">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40" name="TextBox 39"/>
              <p:cNvSpPr txBox="1"/>
              <p:nvPr/>
            </p:nvSpPr>
            <p:spPr>
              <a:xfrm>
                <a:off x="2971800" y="3048000"/>
                <a:ext cx="5867400" cy="1019062"/>
              </a:xfrm>
              <a:prstGeom prst="rect">
                <a:avLst/>
              </a:prstGeom>
              <a:noFill/>
            </p:spPr>
            <p:txBody>
              <a:bodyPr wrap="square" rtlCol="0">
                <a:spAutoFit/>
              </a:bodyPr>
              <a:lstStyle/>
              <a:p>
                <a:r>
                  <a:rPr lang="en-US" dirty="0" smtClean="0"/>
                  <a:t>Apparent frequency heard by stationary observer is,</a:t>
                </a:r>
              </a:p>
              <a:p>
                <a:r>
                  <a:rPr lang="en-US" dirty="0" smtClean="0">
                    <a:latin typeface="Times New Roman" pitchFamily="18" charset="0"/>
                    <a:cs typeface="Times New Roman" pitchFamily="18" charset="0"/>
                  </a:rPr>
                  <a:t>f '= </a:t>
                </a:r>
                <a14:m>
                  <m:oMath xmlns:m="http://schemas.openxmlformats.org/officeDocument/2006/math">
                    <m:f>
                      <m:fPr>
                        <m:ctrlPr>
                          <a:rPr lang="en-US" i="1" smtClean="0">
                            <a:latin typeface="Cambria Math"/>
                          </a:rPr>
                        </m:ctrlPr>
                      </m:fPr>
                      <m:num>
                        <m:r>
                          <a:rPr lang="en-US" b="0" i="1" smtClean="0">
                            <a:latin typeface="Cambria Math"/>
                          </a:rPr>
                          <m:t>𝑣</m:t>
                        </m:r>
                      </m:num>
                      <m:den>
                        <m:r>
                          <m:rPr>
                            <m:nor/>
                          </m:rPr>
                          <a:rPr lang="el-GR" dirty="0" smtClean="0">
                            <a:latin typeface="Times New Roman" pitchFamily="18" charset="0"/>
                            <a:cs typeface="Times New Roman" pitchFamily="18" charset="0"/>
                          </a:rPr>
                          <m:t>λ</m:t>
                        </m:r>
                        <m:r>
                          <m:rPr>
                            <m:nor/>
                          </m:rPr>
                          <a:rPr lang="en-US" baseline="-25000" dirty="0" smtClean="0">
                            <a:latin typeface="Times New Roman" pitchFamily="18" charset="0"/>
                            <a:cs typeface="Times New Roman" pitchFamily="18" charset="0"/>
                          </a:rPr>
                          <m:t>e</m:t>
                        </m:r>
                      </m:den>
                    </m:f>
                  </m:oMath>
                </a14:m>
                <a:r>
                  <a:rPr lang="en-US" dirty="0" smtClean="0">
                    <a:latin typeface="Times New Roman" pitchFamily="18" charset="0"/>
                    <a:cs typeface="Times New Roman" pitchFamily="18" charset="0"/>
                  </a:rPr>
                  <a:t>……………(i)</a:t>
                </a:r>
              </a:p>
              <a:p>
                <a:endParaRPr lang="en-US" dirty="0" smtClean="0"/>
              </a:p>
            </p:txBody>
          </p:sp>
        </mc:Choice>
        <mc:Fallback xmlns="">
          <p:sp>
            <p:nvSpPr>
              <p:cNvPr id="40" name="TextBox 39"/>
              <p:cNvSpPr txBox="1">
                <a:spLocks noRot="1" noChangeAspect="1" noMove="1" noResize="1" noEditPoints="1" noAdjustHandles="1" noChangeArrowheads="1" noChangeShapeType="1" noTextEdit="1"/>
              </p:cNvSpPr>
              <p:nvPr/>
            </p:nvSpPr>
            <p:spPr>
              <a:xfrm>
                <a:off x="2971800" y="3048000"/>
                <a:ext cx="5867400" cy="1019062"/>
              </a:xfrm>
              <a:prstGeom prst="rect">
                <a:avLst/>
              </a:prstGeom>
              <a:blipFill rotWithShape="1">
                <a:blip r:embed="rId7"/>
                <a:stretch>
                  <a:fillRect l="-936" t="-2994" b="-838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TextBox 42"/>
              <p:cNvSpPr txBox="1"/>
              <p:nvPr/>
            </p:nvSpPr>
            <p:spPr>
              <a:xfrm>
                <a:off x="5588440" y="3459432"/>
                <a:ext cx="2842260" cy="1077218"/>
              </a:xfrm>
              <a:prstGeom prst="rect">
                <a:avLst/>
              </a:prstGeom>
              <a:noFill/>
            </p:spPr>
            <p:txBody>
              <a:bodyPr wrap="square" rtlCol="0">
                <a:spAutoFit/>
              </a:bodyPr>
              <a:lstStyle/>
              <a:p>
                <a:r>
                  <a:rPr lang="el-GR" sz="1600" b="1" dirty="0" smtClean="0">
                    <a:solidFill>
                      <a:srgbClr val="FF0000"/>
                    </a:solidFill>
                    <a:latin typeface="Times New Roman" pitchFamily="18" charset="0"/>
                    <a:cs typeface="Times New Roman" pitchFamily="18" charset="0"/>
                  </a:rPr>
                  <a:t>λ</a:t>
                </a:r>
                <a:r>
                  <a:rPr lang="en-US" sz="1600" b="1" baseline="-25000" dirty="0" smtClean="0">
                    <a:solidFill>
                      <a:srgbClr val="FF0000"/>
                    </a:solidFill>
                    <a:latin typeface="Times New Roman" pitchFamily="18" charset="0"/>
                    <a:cs typeface="Times New Roman" pitchFamily="18" charset="0"/>
                  </a:rPr>
                  <a:t>e</a:t>
                </a:r>
                <a:r>
                  <a:rPr lang="en-US" sz="1600" dirty="0" smtClean="0">
                    <a:latin typeface="Times New Roman" pitchFamily="18" charset="0"/>
                    <a:cs typeface="Times New Roman" pitchFamily="18" charset="0"/>
                  </a:rPr>
                  <a:t>= Effective wavelength</a:t>
                </a:r>
              </a:p>
              <a:p>
                <a:r>
                  <a:rPr lang="en-US" sz="1600" b="1" dirty="0" smtClean="0">
                    <a:solidFill>
                      <a:srgbClr val="FF0000"/>
                    </a:solidFill>
                    <a:latin typeface="Times New Roman" pitchFamily="18" charset="0"/>
                    <a:cs typeface="Times New Roman" pitchFamily="18" charset="0"/>
                  </a:rPr>
                  <a:t>T</a:t>
                </a:r>
                <a:r>
                  <a:rPr lang="en-US" sz="1600" dirty="0" smtClean="0">
                    <a:latin typeface="Times New Roman" pitchFamily="18" charset="0"/>
                    <a:cs typeface="Times New Roman" pitchFamily="18" charset="0"/>
                  </a:rPr>
                  <a:t>= Time period</a:t>
                </a:r>
              </a:p>
              <a:p>
                <a14:m>
                  <m:oMath xmlns:m="http://schemas.openxmlformats.org/officeDocument/2006/math">
                    <m:r>
                      <m:rPr>
                        <m:nor/>
                      </m:rPr>
                      <a:rPr lang="en-US" sz="1600" b="1" dirty="0" smtClean="0">
                        <a:solidFill>
                          <a:srgbClr val="FF0000"/>
                        </a:solidFill>
                        <a:latin typeface="Times New Roman" pitchFamily="18" charset="0"/>
                        <a:cs typeface="Times New Roman" pitchFamily="18" charset="0"/>
                      </a:rPr>
                      <m:t>V</m:t>
                    </m:r>
                    <m:r>
                      <m:rPr>
                        <m:nor/>
                      </m:rPr>
                      <a:rPr lang="en-US" sz="1600" b="1" baseline="-25000" dirty="0" smtClean="0">
                        <a:solidFill>
                          <a:srgbClr val="FF0000"/>
                        </a:solidFill>
                        <a:latin typeface="Times New Roman" pitchFamily="18" charset="0"/>
                        <a:cs typeface="Times New Roman" pitchFamily="18" charset="0"/>
                      </a:rPr>
                      <m:t>s</m:t>
                    </m:r>
                  </m:oMath>
                </a14:m>
                <a:r>
                  <a:rPr lang="en-US" sz="1600" dirty="0" smtClean="0">
                    <a:latin typeface="Times New Roman" pitchFamily="18" charset="0"/>
                    <a:cs typeface="Times New Roman" pitchFamily="18" charset="0"/>
                  </a:rPr>
                  <a:t>= Velocity of source</a:t>
                </a:r>
              </a:p>
              <a:p>
                <a:r>
                  <a:rPr lang="en-US" sz="1600" b="1" dirty="0" smtClean="0">
                    <a:solidFill>
                      <a:srgbClr val="FF0000"/>
                    </a:solidFill>
                    <a:latin typeface="Times New Roman" pitchFamily="18" charset="0"/>
                    <a:cs typeface="Times New Roman" pitchFamily="18" charset="0"/>
                  </a:rPr>
                  <a:t>V</a:t>
                </a:r>
                <a:r>
                  <a:rPr lang="en-US" sz="1600" dirty="0" smtClean="0">
                    <a:latin typeface="Times New Roman" pitchFamily="18" charset="0"/>
                    <a:cs typeface="Times New Roman" pitchFamily="18" charset="0"/>
                  </a:rPr>
                  <a:t>= Velocity of sound</a:t>
                </a:r>
                <a:endParaRPr lang="en-US" sz="1600" dirty="0">
                  <a:latin typeface="Times New Roman" pitchFamily="18" charset="0"/>
                  <a:cs typeface="Times New Roman" pitchFamily="18" charset="0"/>
                </a:endParaRPr>
              </a:p>
            </p:txBody>
          </p:sp>
        </mc:Choice>
        <mc:Fallback xmlns="">
          <p:sp>
            <p:nvSpPr>
              <p:cNvPr id="43" name="TextBox 42"/>
              <p:cNvSpPr txBox="1">
                <a:spLocks noRot="1" noChangeAspect="1" noMove="1" noResize="1" noEditPoints="1" noAdjustHandles="1" noChangeArrowheads="1" noChangeShapeType="1" noTextEdit="1"/>
              </p:cNvSpPr>
              <p:nvPr/>
            </p:nvSpPr>
            <p:spPr>
              <a:xfrm>
                <a:off x="5588440" y="3459432"/>
                <a:ext cx="2842260" cy="1077218"/>
              </a:xfrm>
              <a:prstGeom prst="rect">
                <a:avLst/>
              </a:prstGeom>
              <a:blipFill rotWithShape="1">
                <a:blip r:embed="rId8"/>
                <a:stretch>
                  <a:fillRect l="-1288" t="-1695" b="-6215"/>
                </a:stretch>
              </a:blipFill>
            </p:spPr>
            <p:txBody>
              <a:bodyPr/>
              <a:lstStyle/>
              <a:p>
                <a:r>
                  <a:rPr lang="en-US">
                    <a:noFill/>
                  </a:rPr>
                  <a:t> </a:t>
                </a:r>
              </a:p>
            </p:txBody>
          </p:sp>
        </mc:Fallback>
      </mc:AlternateContent>
      <p:pic>
        <p:nvPicPr>
          <p:cNvPr id="49" name="Picture 2" descr="Exploring the Doppler Effect With NASA – Science Lesson | NASA JPL Education"/>
          <p:cNvPicPr>
            <a:picLocks noChangeAspect="1" noChangeArrowheads="1"/>
          </p:cNvPicPr>
          <p:nvPr/>
        </p:nvPicPr>
        <p:blipFill rotWithShape="1">
          <a:blip r:embed="rId2">
            <a:extLst>
              <a:ext uri="{28A0092B-C50C-407E-A947-70E740481C1C}">
                <a14:useLocalDpi xmlns:a14="http://schemas.microsoft.com/office/drawing/2010/main" val="0"/>
              </a:ext>
            </a:extLst>
          </a:blip>
          <a:srcRect l="72012" r="15431" b="19058"/>
          <a:stretch/>
        </p:blipFill>
        <p:spPr bwMode="auto">
          <a:xfrm>
            <a:off x="2135150" y="3309541"/>
            <a:ext cx="468863" cy="15150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1409667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p:cNvGrpSpPr/>
          <p:nvPr/>
        </p:nvGrpSpPr>
        <p:grpSpPr>
          <a:xfrm>
            <a:off x="125338" y="646256"/>
            <a:ext cx="8384339" cy="6467552"/>
            <a:chOff x="46361" y="335280"/>
            <a:chExt cx="8384339" cy="6467552"/>
          </a:xfrm>
        </p:grpSpPr>
        <p:sp>
          <p:nvSpPr>
            <p:cNvPr id="4" name="TextBox 3"/>
            <p:cNvSpPr txBox="1"/>
            <p:nvPr/>
          </p:nvSpPr>
          <p:spPr>
            <a:xfrm>
              <a:off x="46361" y="335280"/>
              <a:ext cx="5562600" cy="400110"/>
            </a:xfrm>
            <a:prstGeom prst="rect">
              <a:avLst/>
            </a:prstGeom>
            <a:noFill/>
          </p:spPr>
          <p:txBody>
            <a:bodyPr wrap="square" rtlCol="0">
              <a:spAutoFit/>
            </a:bodyPr>
            <a:lstStyle/>
            <a:p>
              <a:r>
                <a:rPr lang="en-US" dirty="0">
                  <a:solidFill>
                    <a:srgbClr val="002060"/>
                  </a:solidFill>
                  <a:latin typeface="Times New Roman" pitchFamily="18" charset="0"/>
                  <a:cs typeface="Times New Roman" pitchFamily="18" charset="0"/>
                </a:rPr>
                <a:t>1</a:t>
              </a:r>
              <a:r>
                <a:rPr lang="en-US" dirty="0" smtClean="0">
                  <a:solidFill>
                    <a:srgbClr val="002060"/>
                  </a:solidFill>
                  <a:latin typeface="Times New Roman" pitchFamily="18" charset="0"/>
                  <a:cs typeface="Times New Roman" pitchFamily="18" charset="0"/>
                </a:rPr>
                <a:t>. </a:t>
              </a:r>
              <a:r>
                <a:rPr lang="en-US" dirty="0">
                  <a:solidFill>
                    <a:srgbClr val="002060"/>
                  </a:solidFill>
                  <a:latin typeface="Times New Roman" pitchFamily="18" charset="0"/>
                  <a:cs typeface="Times New Roman" pitchFamily="18" charset="0"/>
                </a:rPr>
                <a:t>S</a:t>
              </a:r>
              <a:r>
                <a:rPr lang="en-US" dirty="0" smtClean="0">
                  <a:solidFill>
                    <a:srgbClr val="002060"/>
                  </a:solidFill>
                  <a:latin typeface="Times New Roman" pitchFamily="18" charset="0"/>
                  <a:cs typeface="Times New Roman" pitchFamily="18" charset="0"/>
                </a:rPr>
                <a:t>ource </a:t>
              </a:r>
              <a:r>
                <a:rPr lang="en-US" sz="2000" dirty="0" smtClean="0">
                  <a:solidFill>
                    <a:srgbClr val="002060"/>
                  </a:solidFill>
                  <a:latin typeface="Times New Roman" pitchFamily="18" charset="0"/>
                  <a:cs typeface="Times New Roman" pitchFamily="18" charset="0"/>
                </a:rPr>
                <a:t>moves away from stationary observer.</a:t>
              </a:r>
              <a:endParaRPr lang="en-US" dirty="0" smtClean="0">
                <a:solidFill>
                  <a:srgbClr val="002060"/>
                </a:solidFill>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25" name="TextBox 24"/>
                <p:cNvSpPr txBox="1"/>
                <p:nvPr/>
              </p:nvSpPr>
              <p:spPr>
                <a:xfrm>
                  <a:off x="1706463" y="3886200"/>
                  <a:ext cx="2195394" cy="2916632"/>
                </a:xfrm>
                <a:prstGeom prst="rect">
                  <a:avLst/>
                </a:prstGeom>
                <a:noFill/>
              </p:spPr>
              <p:txBody>
                <a:bodyPr wrap="square" rtlCol="0">
                  <a:spAutoFit/>
                </a:bodyPr>
                <a:lstStyle/>
                <a:p>
                  <a:r>
                    <a:rPr lang="en-US" dirty="0" smtClean="0">
                      <a:latin typeface="Times New Roman" pitchFamily="18" charset="0"/>
                      <a:cs typeface="Times New Roman" pitchFamily="18" charset="0"/>
                    </a:rPr>
                    <a:t>Similarly, </a:t>
                  </a:r>
                </a:p>
                <a:p>
                  <a:endParaRPr lang="en-US" dirty="0" smtClean="0">
                    <a:latin typeface="Times New Roman" pitchFamily="18" charset="0"/>
                    <a:cs typeface="Times New Roman" pitchFamily="18" charset="0"/>
                  </a:endParaRPr>
                </a:p>
                <a:p>
                  <a:r>
                    <a:rPr lang="el-GR" dirty="0" smtClean="0">
                      <a:latin typeface="Times New Roman" pitchFamily="18" charset="0"/>
                      <a:cs typeface="Times New Roman" pitchFamily="18" charset="0"/>
                    </a:rPr>
                    <a:t>λ</a:t>
                  </a:r>
                  <a:r>
                    <a:rPr lang="en-US" baseline="-25000" dirty="0" smtClean="0">
                      <a:latin typeface="Times New Roman" pitchFamily="18" charset="0"/>
                      <a:cs typeface="Times New Roman" pitchFamily="18" charset="0"/>
                    </a:rPr>
                    <a:t>e</a:t>
                  </a:r>
                  <a:r>
                    <a:rPr lang="en-US" dirty="0" smtClean="0">
                      <a:latin typeface="Times New Roman" pitchFamily="18" charset="0"/>
                      <a:cs typeface="Times New Roman" pitchFamily="18" charset="0"/>
                    </a:rPr>
                    <a:t>= </a:t>
                  </a:r>
                  <a14:m>
                    <m:oMath xmlns:m="http://schemas.openxmlformats.org/officeDocument/2006/math">
                      <m:f>
                        <m:fPr>
                          <m:ctrlPr>
                            <a:rPr lang="en-US" i="1" dirty="0" smtClean="0">
                              <a:latin typeface="Cambria Math"/>
                              <a:cs typeface="Times New Roman" pitchFamily="18" charset="0"/>
                            </a:rPr>
                          </m:ctrlPr>
                        </m:fPr>
                        <m:num>
                          <m:r>
                            <m:rPr>
                              <m:nor/>
                            </m:rPr>
                            <a:rPr lang="en-US" b="0" i="0" dirty="0" smtClean="0">
                              <a:latin typeface="Cambria Math"/>
                              <a:cs typeface="Times New Roman" pitchFamily="18" charset="0"/>
                            </a:rPr>
                            <m:t>v</m:t>
                          </m:r>
                          <m:r>
                            <m:rPr>
                              <m:nor/>
                            </m:rPr>
                            <a:rPr lang="en-US" dirty="0" smtClean="0">
                              <a:latin typeface="Times New Roman" pitchFamily="18" charset="0"/>
                              <a:cs typeface="Times New Roman" pitchFamily="18" charset="0"/>
                            </a:rPr>
                            <m:t> + </m:t>
                          </m:r>
                          <m:r>
                            <m:rPr>
                              <m:nor/>
                            </m:rPr>
                            <a:rPr lang="en-US" b="0" i="0" dirty="0" smtClean="0">
                              <a:latin typeface="Times New Roman" pitchFamily="18" charset="0"/>
                              <a:cs typeface="Times New Roman" pitchFamily="18" charset="0"/>
                            </a:rPr>
                            <m:t>v</m:t>
                          </m:r>
                          <m:r>
                            <m:rPr>
                              <m:nor/>
                            </m:rPr>
                            <a:rPr lang="en-US" b="0" i="0" baseline="-25000" dirty="0" smtClean="0">
                              <a:latin typeface="Times New Roman" pitchFamily="18" charset="0"/>
                              <a:cs typeface="Times New Roman" pitchFamily="18" charset="0"/>
                            </a:rPr>
                            <m:t>s</m:t>
                          </m:r>
                          <m:r>
                            <m:rPr>
                              <m:nor/>
                            </m:rPr>
                            <a:rPr lang="en-US" dirty="0" smtClean="0">
                              <a:latin typeface="Times New Roman" pitchFamily="18" charset="0"/>
                              <a:cs typeface="Times New Roman" pitchFamily="18" charset="0"/>
                            </a:rPr>
                            <m:t> </m:t>
                          </m:r>
                        </m:num>
                        <m:den>
                          <m:r>
                            <a:rPr lang="en-US" b="0" i="1" dirty="0" smtClean="0">
                              <a:latin typeface="Cambria Math"/>
                              <a:cs typeface="Times New Roman" pitchFamily="18" charset="0"/>
                            </a:rPr>
                            <m:t>𝑓</m:t>
                          </m:r>
                        </m:den>
                      </m:f>
                    </m:oMath>
                  </a14:m>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Then, </a:t>
                  </a:r>
                </a:p>
                <a:p>
                  <a:r>
                    <a:rPr lang="en-US" dirty="0" smtClean="0">
                      <a:latin typeface="Times New Roman" pitchFamily="18" charset="0"/>
                      <a:cs typeface="Times New Roman" pitchFamily="18" charset="0"/>
                    </a:rPr>
                    <a:t>  </a:t>
                  </a:r>
                </a:p>
                <a:p>
                  <a:r>
                    <a:rPr lang="en-US" dirty="0" smtClean="0">
                      <a:latin typeface="Times New Roman" pitchFamily="18" charset="0"/>
                      <a:cs typeface="Times New Roman" pitchFamily="18" charset="0"/>
                    </a:rPr>
                    <a:t> f ' = </a:t>
                  </a:r>
                  <a14:m>
                    <m:oMath xmlns:m="http://schemas.openxmlformats.org/officeDocument/2006/math">
                      <m:d>
                        <m:dPr>
                          <m:ctrlPr>
                            <a:rPr lang="en-US" b="0" i="1" smtClean="0">
                              <a:latin typeface="Cambria Math"/>
                            </a:rPr>
                          </m:ctrlPr>
                        </m:dPr>
                        <m:e>
                          <m:r>
                            <a:rPr lang="en-US" b="0" i="0" smtClean="0">
                              <a:latin typeface="Cambria Math"/>
                            </a:rPr>
                            <m:t> </m:t>
                          </m:r>
                          <m:f>
                            <m:fPr>
                              <m:ctrlPr>
                                <a:rPr lang="en-US" i="1" smtClean="0">
                                  <a:latin typeface="Cambria Math"/>
                                </a:rPr>
                              </m:ctrlPr>
                            </m:fPr>
                            <m:num>
                              <m:r>
                                <a:rPr lang="en-US" i="1" dirty="0" smtClean="0">
                                  <a:latin typeface="Cambria Math"/>
                                  <a:cs typeface="Times New Roman" pitchFamily="18" charset="0"/>
                                </a:rPr>
                                <m:t>𝑣</m:t>
                              </m:r>
                            </m:num>
                            <m:den>
                              <m:r>
                                <m:rPr>
                                  <m:nor/>
                                </m:rPr>
                                <a:rPr lang="en-US" b="0" i="0" dirty="0" smtClean="0">
                                  <a:latin typeface="Cambria Math"/>
                                  <a:cs typeface="Times New Roman" pitchFamily="18" charset="0"/>
                                </a:rPr>
                                <m:t>v</m:t>
                              </m:r>
                              <m:r>
                                <m:rPr>
                                  <m:nor/>
                                </m:rPr>
                                <a:rPr lang="en-US" b="0" i="0" dirty="0" smtClean="0">
                                  <a:latin typeface="Times New Roman" pitchFamily="18" charset="0"/>
                                  <a:cs typeface="Times New Roman" pitchFamily="18" charset="0"/>
                                </a:rPr>
                                <m:t>+</m:t>
                              </m:r>
                              <m:r>
                                <m:rPr>
                                  <m:nor/>
                                </m:rPr>
                                <a:rPr lang="en-US" b="0" i="0" dirty="0" smtClean="0">
                                  <a:latin typeface="Times New Roman" pitchFamily="18" charset="0"/>
                                  <a:cs typeface="Times New Roman" pitchFamily="18" charset="0"/>
                                </a:rPr>
                                <m:t>vs</m:t>
                              </m:r>
                            </m:den>
                          </m:f>
                        </m:e>
                      </m:d>
                    </m:oMath>
                  </a14:m>
                  <a:r>
                    <a:rPr lang="en-US" dirty="0" smtClean="0">
                      <a:latin typeface="Times New Roman" pitchFamily="18" charset="0"/>
                      <a:cs typeface="Times New Roman" pitchFamily="18" charset="0"/>
                    </a:rPr>
                    <a:t>f</a:t>
                  </a:r>
                </a:p>
                <a:p>
                  <a:endParaRPr lang="en-US" dirty="0" smtClean="0">
                    <a:latin typeface="Times New Roman" pitchFamily="18" charset="0"/>
                    <a:cs typeface="Times New Roman" pitchFamily="18" charset="0"/>
                  </a:endParaRPr>
                </a:p>
                <a:p>
                  <a:endParaRPr lang="en-US" dirty="0" smtClean="0">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mc:Choice>
          <mc:Fallback xmlns="">
            <p:sp>
              <p:nvSpPr>
                <p:cNvPr id="25" name="TextBox 24"/>
                <p:cNvSpPr txBox="1">
                  <a:spLocks noRot="1" noChangeAspect="1" noMove="1" noResize="1" noEditPoints="1" noAdjustHandles="1" noChangeArrowheads="1" noChangeShapeType="1" noTextEdit="1"/>
                </p:cNvSpPr>
                <p:nvPr/>
              </p:nvSpPr>
              <p:spPr>
                <a:xfrm>
                  <a:off x="1706463" y="3886200"/>
                  <a:ext cx="2195394" cy="2916632"/>
                </a:xfrm>
                <a:prstGeom prst="rect">
                  <a:avLst/>
                </a:prstGeom>
                <a:blipFill rotWithShape="1">
                  <a:blip r:embed="rId5"/>
                  <a:stretch>
                    <a:fillRect l="-2500" t="-1046" b="-1883"/>
                  </a:stretch>
                </a:blipFill>
              </p:spPr>
              <p:txBody>
                <a:bodyPr/>
                <a:lstStyle/>
                <a:p>
                  <a:r>
                    <a:rPr lang="en-US">
                      <a:noFill/>
                    </a:rPr>
                    <a:t> </a:t>
                  </a:r>
                </a:p>
              </p:txBody>
            </p:sp>
          </mc:Fallback>
        </mc:AlternateContent>
        <p:grpSp>
          <p:nvGrpSpPr>
            <p:cNvPr id="2" name="Group 1"/>
            <p:cNvGrpSpPr/>
            <p:nvPr/>
          </p:nvGrpSpPr>
          <p:grpSpPr>
            <a:xfrm>
              <a:off x="381000" y="735390"/>
              <a:ext cx="8049700" cy="3825690"/>
              <a:chOff x="381000" y="735390"/>
              <a:chExt cx="8049700" cy="3825690"/>
            </a:xfrm>
          </p:grpSpPr>
          <p:pic>
            <p:nvPicPr>
              <p:cNvPr id="6146" name="Picture 2" descr="The Doppler effect: From highly ridiculed to absolutely indispensable, Part  1"/>
              <p:cNvPicPr>
                <a:picLocks noChangeAspect="1" noChangeArrowheads="1"/>
              </p:cNvPicPr>
              <p:nvPr/>
            </p:nvPicPr>
            <p:blipFill rotWithShape="1">
              <a:blip r:embed="rId6">
                <a:extLst>
                  <a:ext uri="{28A0092B-C50C-407E-A947-70E740481C1C}">
                    <a14:useLocalDpi xmlns:a14="http://schemas.microsoft.com/office/drawing/2010/main" val="0"/>
                  </a:ext>
                </a:extLst>
              </a:blip>
              <a:srcRect l="68320" t="18932" r="4282" b="44295"/>
              <a:stretch/>
            </p:blipFill>
            <p:spPr bwMode="auto">
              <a:xfrm>
                <a:off x="381000" y="838200"/>
                <a:ext cx="1706880" cy="1744326"/>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 descr="Exploring the Doppler Effect With NASA – Science Lesson | NASA JPL Education"/>
              <p:cNvPicPr>
                <a:picLocks noChangeAspect="1" noChangeArrowheads="1"/>
              </p:cNvPicPr>
              <p:nvPr/>
            </p:nvPicPr>
            <p:blipFill rotWithShape="1">
              <a:blip r:embed="rId7">
                <a:extLst>
                  <a:ext uri="{28A0092B-C50C-407E-A947-70E740481C1C}">
                    <a14:useLocalDpi xmlns:a14="http://schemas.microsoft.com/office/drawing/2010/main" val="0"/>
                  </a:ext>
                </a:extLst>
              </a:blip>
              <a:srcRect l="72012" r="15431" b="19058"/>
              <a:stretch/>
            </p:blipFill>
            <p:spPr bwMode="auto">
              <a:xfrm>
                <a:off x="2444231" y="735390"/>
                <a:ext cx="468863" cy="1515041"/>
              </a:xfrm>
              <a:prstGeom prst="rect">
                <a:avLst/>
              </a:prstGeom>
              <a:noFill/>
              <a:extLst>
                <a:ext uri="{909E8E84-426E-40DD-AFC4-6F175D3DCCD1}">
                  <a14:hiddenFill xmlns:a14="http://schemas.microsoft.com/office/drawing/2010/main">
                    <a:solidFill>
                      <a:srgbClr val="FFFFFF"/>
                    </a:solidFill>
                  </a14:hiddenFill>
                </a:ext>
              </a:extLst>
            </p:spPr>
          </p:pic>
          <p:sp>
            <p:nvSpPr>
              <p:cNvPr id="20" name="TextBox 19"/>
              <p:cNvSpPr txBox="1"/>
              <p:nvPr/>
            </p:nvSpPr>
            <p:spPr>
              <a:xfrm>
                <a:off x="3566160" y="838200"/>
                <a:ext cx="4572000" cy="1477328"/>
              </a:xfrm>
              <a:prstGeom prst="rect">
                <a:avLst/>
              </a:prstGeom>
              <a:noFill/>
            </p:spPr>
            <p:txBody>
              <a:bodyPr wrap="square" rtlCol="0">
                <a:spAutoFit/>
              </a:bodyPr>
              <a:lstStyle/>
              <a:p>
                <a:r>
                  <a:rPr lang="en-US" dirty="0" smtClean="0">
                    <a:latin typeface="Times New Roman" pitchFamily="18" charset="0"/>
                    <a:cs typeface="Times New Roman" pitchFamily="18" charset="0"/>
                  </a:rPr>
                  <a:t>When the sound source moves away from a stationary observer, the sound waves spread out and the observer receives fewer waves per second. As a result, the observer hears a </a:t>
                </a:r>
                <a:r>
                  <a:rPr lang="en-US" b="1" dirty="0" smtClean="0">
                    <a:latin typeface="Times New Roman" pitchFamily="18" charset="0"/>
                    <a:cs typeface="Times New Roman" pitchFamily="18" charset="0"/>
                  </a:rPr>
                  <a:t>lower apparent frequency</a:t>
                </a:r>
                <a:r>
                  <a:rPr lang="en-US" dirty="0" smtClean="0">
                    <a:latin typeface="Times New Roman" pitchFamily="18" charset="0"/>
                    <a:cs typeface="Times New Roman" pitchFamily="18" charset="0"/>
                  </a:rPr>
                  <a:t> than the actual frequency.</a:t>
                </a:r>
                <a:endParaRPr lang="en-US" dirty="0">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24" name="TextBox 23"/>
                  <p:cNvSpPr txBox="1"/>
                  <p:nvPr/>
                </p:nvSpPr>
                <p:spPr>
                  <a:xfrm>
                    <a:off x="1752600" y="2734920"/>
                    <a:ext cx="5867400" cy="1296060"/>
                  </a:xfrm>
                  <a:prstGeom prst="rect">
                    <a:avLst/>
                  </a:prstGeom>
                  <a:noFill/>
                </p:spPr>
                <p:txBody>
                  <a:bodyPr wrap="square" rtlCol="0">
                    <a:spAutoFit/>
                  </a:bodyPr>
                  <a:lstStyle/>
                  <a:p>
                    <a:r>
                      <a:rPr lang="en-US" dirty="0" smtClean="0"/>
                      <a:t>Apparent frequency heard by stationary observer is,</a:t>
                    </a:r>
                  </a:p>
                  <a:p>
                    <a:endParaRPr lang="en-US" dirty="0" smtClean="0"/>
                  </a:p>
                  <a:p>
                    <a:r>
                      <a:rPr lang="en-US" dirty="0" smtClean="0">
                        <a:latin typeface="Times New Roman" pitchFamily="18" charset="0"/>
                        <a:cs typeface="Times New Roman" pitchFamily="18" charset="0"/>
                      </a:rPr>
                      <a:t>f '= </a:t>
                    </a:r>
                    <a14:m>
                      <m:oMath xmlns:m="http://schemas.openxmlformats.org/officeDocument/2006/math">
                        <m:f>
                          <m:fPr>
                            <m:ctrlPr>
                              <a:rPr lang="en-US" i="1" smtClean="0">
                                <a:latin typeface="Cambria Math"/>
                              </a:rPr>
                            </m:ctrlPr>
                          </m:fPr>
                          <m:num>
                            <m:r>
                              <a:rPr lang="en-US" b="0" i="1" smtClean="0">
                                <a:latin typeface="Cambria Math"/>
                              </a:rPr>
                              <m:t>𝑣</m:t>
                            </m:r>
                          </m:num>
                          <m:den>
                            <m:r>
                              <m:rPr>
                                <m:nor/>
                              </m:rPr>
                              <a:rPr lang="el-GR" dirty="0" smtClean="0">
                                <a:latin typeface="Times New Roman" pitchFamily="18" charset="0"/>
                                <a:cs typeface="Times New Roman" pitchFamily="18" charset="0"/>
                              </a:rPr>
                              <m:t>λ</m:t>
                            </m:r>
                            <m:r>
                              <m:rPr>
                                <m:nor/>
                              </m:rPr>
                              <a:rPr lang="en-US" baseline="-25000" dirty="0" smtClean="0">
                                <a:latin typeface="Times New Roman" pitchFamily="18" charset="0"/>
                                <a:cs typeface="Times New Roman" pitchFamily="18" charset="0"/>
                              </a:rPr>
                              <m:t>e</m:t>
                            </m:r>
                          </m:den>
                        </m:f>
                      </m:oMath>
                    </a14:m>
                    <a:r>
                      <a:rPr lang="en-US" dirty="0" smtClean="0">
                        <a:latin typeface="Times New Roman" pitchFamily="18" charset="0"/>
                        <a:cs typeface="Times New Roman" pitchFamily="18" charset="0"/>
                      </a:rPr>
                      <a:t>……………(i)</a:t>
                    </a:r>
                  </a:p>
                  <a:p>
                    <a:endParaRPr lang="en-US" dirty="0" smtClean="0"/>
                  </a:p>
                </p:txBody>
              </p:sp>
            </mc:Choice>
            <mc:Fallback xmlns="">
              <p:sp>
                <p:nvSpPr>
                  <p:cNvPr id="24" name="TextBox 23"/>
                  <p:cNvSpPr txBox="1">
                    <a:spLocks noRot="1" noChangeAspect="1" noMove="1" noResize="1" noEditPoints="1" noAdjustHandles="1" noChangeArrowheads="1" noChangeShapeType="1" noTextEdit="1"/>
                  </p:cNvSpPr>
                  <p:nvPr/>
                </p:nvSpPr>
                <p:spPr>
                  <a:xfrm>
                    <a:off x="1752600" y="2734920"/>
                    <a:ext cx="5867400" cy="1296060"/>
                  </a:xfrm>
                  <a:prstGeom prst="rect">
                    <a:avLst/>
                  </a:prstGeom>
                  <a:blipFill rotWithShape="1">
                    <a:blip r:embed="rId4"/>
                    <a:stretch>
                      <a:fillRect l="-936" t="-2358" b="-660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p:cNvSpPr txBox="1"/>
                  <p:nvPr/>
                </p:nvSpPr>
                <p:spPr>
                  <a:xfrm>
                    <a:off x="5588440" y="3459432"/>
                    <a:ext cx="2842260" cy="1101648"/>
                  </a:xfrm>
                  <a:prstGeom prst="rect">
                    <a:avLst/>
                  </a:prstGeom>
                  <a:noFill/>
                </p:spPr>
                <p:txBody>
                  <a:bodyPr wrap="square" rtlCol="0">
                    <a:spAutoFit/>
                  </a:bodyPr>
                  <a:lstStyle/>
                  <a:p>
                    <a:r>
                      <a:rPr lang="el-GR" sz="1600" b="1" dirty="0" smtClean="0">
                        <a:solidFill>
                          <a:srgbClr val="FF0000"/>
                        </a:solidFill>
                        <a:latin typeface="Times New Roman" pitchFamily="18" charset="0"/>
                        <a:cs typeface="Times New Roman" pitchFamily="18" charset="0"/>
                      </a:rPr>
                      <a:t>λ</a:t>
                    </a:r>
                    <a:r>
                      <a:rPr lang="en-US" sz="1600" b="1" baseline="-25000" dirty="0" smtClean="0">
                        <a:solidFill>
                          <a:srgbClr val="FF0000"/>
                        </a:solidFill>
                        <a:latin typeface="Times New Roman" pitchFamily="18" charset="0"/>
                        <a:cs typeface="Times New Roman" pitchFamily="18" charset="0"/>
                      </a:rPr>
                      <a:t>e</a:t>
                    </a:r>
                    <a:r>
                      <a:rPr lang="en-US" sz="1600" dirty="0" smtClean="0">
                        <a:latin typeface="Times New Roman" pitchFamily="18" charset="0"/>
                        <a:cs typeface="Times New Roman" pitchFamily="18" charset="0"/>
                      </a:rPr>
                      <a:t>= Effective wavelength</a:t>
                    </a:r>
                  </a:p>
                  <a:p>
                    <a:r>
                      <a:rPr lang="en-US" sz="1600" b="1" dirty="0" smtClean="0">
                        <a:solidFill>
                          <a:srgbClr val="FF0000"/>
                        </a:solidFill>
                        <a:latin typeface="Times New Roman" pitchFamily="18" charset="0"/>
                        <a:cs typeface="Times New Roman" pitchFamily="18" charset="0"/>
                      </a:rPr>
                      <a:t>T</a:t>
                    </a:r>
                    <a:r>
                      <a:rPr lang="en-US" sz="1600" dirty="0" smtClean="0">
                        <a:latin typeface="Times New Roman" pitchFamily="18" charset="0"/>
                        <a:cs typeface="Times New Roman" pitchFamily="18" charset="0"/>
                      </a:rPr>
                      <a:t>= Time period</a:t>
                    </a:r>
                  </a:p>
                  <a:p>
                    <a14:m>
                      <m:oMath xmlns:m="http://schemas.openxmlformats.org/officeDocument/2006/math">
                        <m:r>
                          <m:rPr>
                            <m:nor/>
                          </m:rPr>
                          <a:rPr lang="en-US" b="1" dirty="0" smtClean="0">
                            <a:solidFill>
                              <a:srgbClr val="FF0000"/>
                            </a:solidFill>
                            <a:latin typeface="Times New Roman" pitchFamily="18" charset="0"/>
                            <a:cs typeface="Times New Roman" pitchFamily="18" charset="0"/>
                          </a:rPr>
                          <m:t>V</m:t>
                        </m:r>
                        <m:r>
                          <m:rPr>
                            <m:nor/>
                          </m:rPr>
                          <a:rPr lang="en-US" b="1" baseline="-25000" dirty="0" smtClean="0">
                            <a:solidFill>
                              <a:srgbClr val="FF0000"/>
                            </a:solidFill>
                            <a:latin typeface="Times New Roman" pitchFamily="18" charset="0"/>
                            <a:cs typeface="Times New Roman" pitchFamily="18" charset="0"/>
                          </a:rPr>
                          <m:t>s</m:t>
                        </m:r>
                      </m:oMath>
                    </a14:m>
                    <a:r>
                      <a:rPr lang="en-US" sz="1600" dirty="0" smtClean="0">
                        <a:latin typeface="Times New Roman" pitchFamily="18" charset="0"/>
                        <a:cs typeface="Times New Roman" pitchFamily="18" charset="0"/>
                      </a:rPr>
                      <a:t>= Velocity of source</a:t>
                    </a:r>
                  </a:p>
                  <a:p>
                    <a:r>
                      <a:rPr lang="en-US" sz="1600" b="1" dirty="0" smtClean="0">
                        <a:solidFill>
                          <a:srgbClr val="FF0000"/>
                        </a:solidFill>
                        <a:latin typeface="Times New Roman" pitchFamily="18" charset="0"/>
                        <a:cs typeface="Times New Roman" pitchFamily="18" charset="0"/>
                      </a:rPr>
                      <a:t>V</a:t>
                    </a:r>
                    <a:r>
                      <a:rPr lang="en-US" sz="1600" dirty="0" smtClean="0">
                        <a:latin typeface="Times New Roman" pitchFamily="18" charset="0"/>
                        <a:cs typeface="Times New Roman" pitchFamily="18" charset="0"/>
                      </a:rPr>
                      <a:t>= Velocity of sound</a:t>
                    </a:r>
                    <a:endParaRPr lang="en-US" sz="1600" dirty="0">
                      <a:latin typeface="Times New Roman" pitchFamily="18" charset="0"/>
                      <a:cs typeface="Times New Roman" pitchFamily="18" charset="0"/>
                    </a:endParaRPr>
                  </a:p>
                </p:txBody>
              </p:sp>
            </mc:Choice>
            <mc:Fallback xmlns="">
              <p:sp>
                <p:nvSpPr>
                  <p:cNvPr id="26" name="TextBox 25"/>
                  <p:cNvSpPr txBox="1">
                    <a:spLocks noRot="1" noChangeAspect="1" noMove="1" noResize="1" noEditPoints="1" noAdjustHandles="1" noChangeArrowheads="1" noChangeShapeType="1" noTextEdit="1"/>
                  </p:cNvSpPr>
                  <p:nvPr/>
                </p:nvSpPr>
                <p:spPr>
                  <a:xfrm>
                    <a:off x="5588440" y="3459432"/>
                    <a:ext cx="2842260" cy="1101648"/>
                  </a:xfrm>
                  <a:prstGeom prst="rect">
                    <a:avLst/>
                  </a:prstGeom>
                  <a:blipFill rotWithShape="1">
                    <a:blip r:embed="rId8"/>
                    <a:stretch>
                      <a:fillRect l="-1288" t="-1657" b="-6077"/>
                    </a:stretch>
                  </a:blipFill>
                </p:spPr>
                <p:txBody>
                  <a:bodyPr/>
                  <a:lstStyle/>
                  <a:p>
                    <a:r>
                      <a:rPr lang="en-US">
                        <a:noFill/>
                      </a:rPr>
                      <a:t> </a:t>
                    </a:r>
                  </a:p>
                </p:txBody>
              </p:sp>
            </mc:Fallback>
          </mc:AlternateContent>
        </p:grpSp>
      </p:grpSp>
      <p:sp>
        <p:nvSpPr>
          <p:cNvPr id="11" name="TextBox 10"/>
          <p:cNvSpPr txBox="1"/>
          <p:nvPr/>
        </p:nvSpPr>
        <p:spPr>
          <a:xfrm>
            <a:off x="152400" y="76200"/>
            <a:ext cx="1524000" cy="461665"/>
          </a:xfrm>
          <a:prstGeom prst="rect">
            <a:avLst/>
          </a:prstGeom>
          <a:noFill/>
        </p:spPr>
        <p:txBody>
          <a:bodyPr wrap="square" rtlCol="0">
            <a:spAutoFit/>
          </a:bodyPr>
          <a:lstStyle/>
          <a:p>
            <a:r>
              <a:rPr lang="en-US" sz="2400" b="1" dirty="0" smtClean="0">
                <a:solidFill>
                  <a:srgbClr val="002060"/>
                </a:solidFill>
                <a:latin typeface="Times New Roman" pitchFamily="18" charset="0"/>
                <a:cs typeface="Times New Roman" pitchFamily="18" charset="0"/>
              </a:rPr>
              <a:t>CASE </a:t>
            </a:r>
            <a:r>
              <a:rPr lang="en-US" sz="2400" b="1" dirty="0" smtClean="0">
                <a:solidFill>
                  <a:srgbClr val="002060"/>
                </a:solidFill>
                <a:latin typeface="Times New Roman" pitchFamily="18" charset="0"/>
                <a:cs typeface="Times New Roman" pitchFamily="18" charset="0"/>
              </a:rPr>
              <a:t>IV:</a:t>
            </a:r>
            <a:endParaRPr lang="en-US" sz="2400" b="1" dirty="0">
              <a:solidFill>
                <a:srgbClr val="002060"/>
              </a:solidFill>
              <a:latin typeface="Times New Roman" pitchFamily="18" charset="0"/>
              <a:cs typeface="Times New Roman" pitchFamily="18" charset="0"/>
            </a:endParaRPr>
          </a:p>
        </p:txBody>
      </p:sp>
    </p:spTree>
    <p:extLst>
      <p:ext uri="{BB962C8B-B14F-4D97-AF65-F5344CB8AC3E}">
        <p14:creationId xmlns:p14="http://schemas.microsoft.com/office/powerpoint/2010/main" val="306279742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52400" y="76200"/>
            <a:ext cx="1828800" cy="461665"/>
          </a:xfrm>
          <a:prstGeom prst="rect">
            <a:avLst/>
          </a:prstGeom>
          <a:noFill/>
        </p:spPr>
        <p:txBody>
          <a:bodyPr wrap="square" rtlCol="0">
            <a:spAutoFit/>
          </a:bodyPr>
          <a:lstStyle/>
          <a:p>
            <a:r>
              <a:rPr lang="en-US" sz="2400" b="1" dirty="0" smtClean="0">
                <a:solidFill>
                  <a:srgbClr val="002060"/>
                </a:solidFill>
                <a:latin typeface="Times New Roman" pitchFamily="18" charset="0"/>
                <a:cs typeface="Times New Roman" pitchFamily="18" charset="0"/>
              </a:rPr>
              <a:t>CASE </a:t>
            </a:r>
            <a:r>
              <a:rPr lang="en-US" sz="2400" b="1" dirty="0">
                <a:solidFill>
                  <a:srgbClr val="002060"/>
                </a:solidFill>
                <a:latin typeface="Times New Roman" pitchFamily="18" charset="0"/>
                <a:cs typeface="Times New Roman" pitchFamily="18" charset="0"/>
              </a:rPr>
              <a:t>V</a:t>
            </a:r>
            <a:r>
              <a:rPr lang="en-US" sz="2400" b="1" dirty="0" smtClean="0">
                <a:solidFill>
                  <a:srgbClr val="002060"/>
                </a:solidFill>
                <a:latin typeface="Times New Roman" pitchFamily="18" charset="0"/>
                <a:cs typeface="Times New Roman" pitchFamily="18" charset="0"/>
              </a:rPr>
              <a:t>:</a:t>
            </a:r>
            <a:endParaRPr lang="en-US" sz="2400" b="1" dirty="0">
              <a:solidFill>
                <a:srgbClr val="002060"/>
              </a:solidFill>
              <a:latin typeface="Times New Roman" pitchFamily="18" charset="0"/>
              <a:cs typeface="Times New Roman" pitchFamily="18" charset="0"/>
            </a:endParaRPr>
          </a:p>
        </p:txBody>
      </p:sp>
      <p:sp>
        <p:nvSpPr>
          <p:cNvPr id="5" name="TextBox 4"/>
          <p:cNvSpPr txBox="1"/>
          <p:nvPr/>
        </p:nvSpPr>
        <p:spPr>
          <a:xfrm>
            <a:off x="0" y="412175"/>
            <a:ext cx="5791200" cy="400110"/>
          </a:xfrm>
          <a:prstGeom prst="rect">
            <a:avLst/>
          </a:prstGeom>
          <a:noFill/>
        </p:spPr>
        <p:txBody>
          <a:bodyPr wrap="square" rtlCol="0">
            <a:spAutoFit/>
          </a:bodyPr>
          <a:lstStyle/>
          <a:p>
            <a:r>
              <a:rPr lang="en-US" dirty="0" smtClean="0">
                <a:solidFill>
                  <a:srgbClr val="002060"/>
                </a:solidFill>
                <a:latin typeface="Times New Roman" pitchFamily="18" charset="0"/>
                <a:cs typeface="Times New Roman" pitchFamily="18" charset="0"/>
              </a:rPr>
              <a:t>1.Both  source and observer </a:t>
            </a:r>
            <a:r>
              <a:rPr lang="en-US" sz="2000" dirty="0" smtClean="0">
                <a:solidFill>
                  <a:srgbClr val="002060"/>
                </a:solidFill>
                <a:latin typeface="Times New Roman" pitchFamily="18" charset="0"/>
                <a:cs typeface="Times New Roman" pitchFamily="18" charset="0"/>
              </a:rPr>
              <a:t>move towards each other.</a:t>
            </a:r>
            <a:endParaRPr lang="en-US" dirty="0" smtClean="0">
              <a:solidFill>
                <a:srgbClr val="002060"/>
              </a:solidFill>
              <a:latin typeface="Times New Roman" pitchFamily="18" charset="0"/>
              <a:cs typeface="Times New Roman" pitchFamily="18" charset="0"/>
            </a:endParaRPr>
          </a:p>
        </p:txBody>
      </p:sp>
      <p:pic>
        <p:nvPicPr>
          <p:cNvPr id="6" name="Picture 2" descr="The Doppler effect: From highly ridiculed to absolutely indispensable, Part  1"/>
          <p:cNvPicPr>
            <a:picLocks noChangeAspect="1" noChangeArrowheads="1"/>
          </p:cNvPicPr>
          <p:nvPr/>
        </p:nvPicPr>
        <p:blipFill rotWithShape="1">
          <a:blip r:embed="rId2">
            <a:extLst>
              <a:ext uri="{28A0092B-C50C-407E-A947-70E740481C1C}">
                <a14:useLocalDpi xmlns:a14="http://schemas.microsoft.com/office/drawing/2010/main" val="0"/>
              </a:ext>
            </a:extLst>
          </a:blip>
          <a:srcRect l="36301" t="20112" r="36301" b="43115"/>
          <a:stretch/>
        </p:blipFill>
        <p:spPr bwMode="auto">
          <a:xfrm>
            <a:off x="213360" y="859722"/>
            <a:ext cx="1706880" cy="174432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Exploring the Doppler Effect With NASA – Science Lesson | NASA JPL Education"/>
          <p:cNvPicPr>
            <a:picLocks noChangeAspect="1" noChangeArrowheads="1"/>
          </p:cNvPicPr>
          <p:nvPr/>
        </p:nvPicPr>
        <p:blipFill rotWithShape="1">
          <a:blip r:embed="rId3">
            <a:extLst>
              <a:ext uri="{28A0092B-C50C-407E-A947-70E740481C1C}">
                <a14:useLocalDpi xmlns:a14="http://schemas.microsoft.com/office/drawing/2010/main" val="0"/>
              </a:ext>
            </a:extLst>
          </a:blip>
          <a:srcRect l="71427" t="27971" r="16016" b="33968"/>
          <a:stretch/>
        </p:blipFill>
        <p:spPr bwMode="auto">
          <a:xfrm>
            <a:off x="2663113" y="1019458"/>
            <a:ext cx="468863" cy="712427"/>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16" descr="Doppler Effect"/>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56870" t="14376" r="9607" b="49516"/>
          <a:stretch/>
        </p:blipFill>
        <p:spPr bwMode="auto">
          <a:xfrm>
            <a:off x="2225352" y="1699228"/>
            <a:ext cx="875522" cy="367923"/>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3429000" y="859722"/>
            <a:ext cx="4572000" cy="1754326"/>
          </a:xfrm>
          <a:prstGeom prst="rect">
            <a:avLst/>
          </a:prstGeom>
          <a:noFill/>
        </p:spPr>
        <p:txBody>
          <a:bodyPr wrap="square" rtlCol="0">
            <a:spAutoFit/>
          </a:bodyPr>
          <a:lstStyle/>
          <a:p>
            <a:pPr algn="just"/>
            <a:r>
              <a:rPr lang="en-US" dirty="0">
                <a:latin typeface="Times New Roman" pitchFamily="18" charset="0"/>
                <a:cs typeface="Times New Roman" pitchFamily="18" charset="0"/>
              </a:rPr>
              <a:t>When both the source and the observer move toward each other, the observer meets sound waves much faster than normal. The waves become more compressed, so the apparent frequency becomes </a:t>
            </a:r>
            <a:r>
              <a:rPr lang="en-US" b="1" dirty="0">
                <a:latin typeface="Times New Roman" pitchFamily="18" charset="0"/>
                <a:cs typeface="Times New Roman" pitchFamily="18" charset="0"/>
              </a:rPr>
              <a:t>much higher</a:t>
            </a:r>
            <a:r>
              <a:rPr lang="en-US" dirty="0">
                <a:latin typeface="Times New Roman" pitchFamily="18" charset="0"/>
                <a:cs typeface="Times New Roman" pitchFamily="18" charset="0"/>
              </a:rPr>
              <a:t> than the actual frequency.</a:t>
            </a:r>
          </a:p>
        </p:txBody>
      </p:sp>
      <p:sp>
        <p:nvSpPr>
          <p:cNvPr id="3" name="TextBox 2"/>
          <p:cNvSpPr txBox="1"/>
          <p:nvPr/>
        </p:nvSpPr>
        <p:spPr>
          <a:xfrm>
            <a:off x="213360" y="2617158"/>
            <a:ext cx="7635240" cy="923330"/>
          </a:xfrm>
          <a:prstGeom prst="rect">
            <a:avLst/>
          </a:prstGeom>
          <a:noFill/>
        </p:spPr>
        <p:txBody>
          <a:bodyPr wrap="square" rtlCol="0">
            <a:spAutoFit/>
          </a:bodyPr>
          <a:lstStyle/>
          <a:p>
            <a:r>
              <a:rPr lang="en-US" dirty="0">
                <a:latin typeface="Times New Roman" pitchFamily="18" charset="0"/>
                <a:cs typeface="Times New Roman" pitchFamily="18" charset="0"/>
              </a:rPr>
              <a:t>When the source moves </a:t>
            </a:r>
            <a:r>
              <a:rPr lang="en-US" b="1" dirty="0">
                <a:latin typeface="Times New Roman" pitchFamily="18" charset="0"/>
                <a:cs typeface="Times New Roman" pitchFamily="18" charset="0"/>
              </a:rPr>
              <a:t>toward</a:t>
            </a:r>
            <a:r>
              <a:rPr lang="en-US" dirty="0">
                <a:latin typeface="Times New Roman" pitchFamily="18" charset="0"/>
                <a:cs typeface="Times New Roman" pitchFamily="18" charset="0"/>
              </a:rPr>
              <a:t> the </a:t>
            </a:r>
            <a:r>
              <a:rPr lang="en-US" dirty="0" smtClean="0">
                <a:latin typeface="Times New Roman" pitchFamily="18" charset="0"/>
                <a:cs typeface="Times New Roman" pitchFamily="18" charset="0"/>
              </a:rPr>
              <a:t>observer  </a:t>
            </a:r>
            <a:r>
              <a:rPr lang="en-US" dirty="0">
                <a:latin typeface="Times New Roman" pitchFamily="18" charset="0"/>
                <a:cs typeface="Times New Roman" pitchFamily="18" charset="0"/>
              </a:rPr>
              <a:t>it compresses the sound waves, reducing the </a:t>
            </a:r>
            <a:r>
              <a:rPr lang="en-US" dirty="0" smtClean="0">
                <a:latin typeface="Times New Roman" pitchFamily="18" charset="0"/>
                <a:cs typeface="Times New Roman" pitchFamily="18" charset="0"/>
              </a:rPr>
              <a:t>wavelength</a:t>
            </a:r>
            <a:r>
              <a:rPr lang="en-US" dirty="0">
                <a:latin typeface="Times New Roman" pitchFamily="18" charset="0"/>
                <a:cs typeface="Times New Roman" pitchFamily="18" charset="0"/>
              </a:rPr>
              <a:t>,</a:t>
            </a:r>
            <a:endParaRPr lang="en-US" dirty="0" smtClean="0">
              <a:latin typeface="Times New Roman" pitchFamily="18" charset="0"/>
              <a:cs typeface="Times New Roman" pitchFamily="18" charset="0"/>
            </a:endParaRPr>
          </a:p>
          <a:p>
            <a:endParaRPr lang="en-US" dirty="0"/>
          </a:p>
        </p:txBody>
      </p:sp>
      <mc:AlternateContent xmlns:mc="http://schemas.openxmlformats.org/markup-compatibility/2006" xmlns:a14="http://schemas.microsoft.com/office/drawing/2010/main">
        <mc:Choice Requires="a14">
          <p:sp>
            <p:nvSpPr>
              <p:cNvPr id="9" name="TextBox 8"/>
              <p:cNvSpPr txBox="1"/>
              <p:nvPr/>
            </p:nvSpPr>
            <p:spPr>
              <a:xfrm>
                <a:off x="2895600" y="3077930"/>
                <a:ext cx="4953000" cy="849913"/>
              </a:xfrm>
              <a:prstGeom prst="rect">
                <a:avLst/>
              </a:prstGeom>
              <a:noFill/>
            </p:spPr>
            <p:txBody>
              <a:bodyPr wrap="square" rtlCol="0">
                <a:spAutoFit/>
              </a:bodyPr>
              <a:lstStyle/>
              <a:p>
                <a:r>
                  <a:rPr lang="el-GR" b="1" dirty="0">
                    <a:latin typeface="Times New Roman" pitchFamily="18" charset="0"/>
                    <a:cs typeface="Times New Roman" pitchFamily="18" charset="0"/>
                  </a:rPr>
                  <a:t>λ</a:t>
                </a:r>
                <a:r>
                  <a:rPr lang="en-US" b="1" baseline="-25000" dirty="0">
                    <a:latin typeface="Times New Roman" pitchFamily="18" charset="0"/>
                    <a:cs typeface="Times New Roman" pitchFamily="18" charset="0"/>
                  </a:rPr>
                  <a:t>e</a:t>
                </a:r>
                <a:r>
                  <a:rPr lang="en-US" b="1" dirty="0">
                    <a:latin typeface="Times New Roman" pitchFamily="18" charset="0"/>
                    <a:cs typeface="Times New Roman" pitchFamily="18" charset="0"/>
                  </a:rPr>
                  <a:t>= </a:t>
                </a:r>
                <a:r>
                  <a:rPr lang="en-US" b="1" dirty="0" err="1">
                    <a:latin typeface="Times New Roman" pitchFamily="18" charset="0"/>
                    <a:cs typeface="Times New Roman" pitchFamily="18" charset="0"/>
                  </a:rPr>
                  <a:t>v</a:t>
                </a:r>
                <a:r>
                  <a:rPr lang="en-US" b="1" dirty="0" err="1" smtClean="0">
                    <a:latin typeface="Times New Roman" pitchFamily="18" charset="0"/>
                    <a:cs typeface="Times New Roman" pitchFamily="18" charset="0"/>
                  </a:rPr>
                  <a:t>T</a:t>
                </a:r>
                <a:r>
                  <a:rPr lang="en-US" b="1" dirty="0" smtClean="0">
                    <a:latin typeface="Times New Roman" pitchFamily="18" charset="0"/>
                    <a:cs typeface="Times New Roman" pitchFamily="18" charset="0"/>
                  </a:rPr>
                  <a:t> </a:t>
                </a:r>
                <a:r>
                  <a:rPr lang="en-US" b="1" dirty="0">
                    <a:latin typeface="Times New Roman" pitchFamily="18" charset="0"/>
                    <a:cs typeface="Times New Roman" pitchFamily="18" charset="0"/>
                  </a:rPr>
                  <a:t>– </a:t>
                </a:r>
                <a:r>
                  <a:rPr lang="en-US" b="1" dirty="0" err="1" smtClean="0">
                    <a:latin typeface="Times New Roman" pitchFamily="18" charset="0"/>
                    <a:cs typeface="Times New Roman" pitchFamily="18" charset="0"/>
                  </a:rPr>
                  <a:t>v</a:t>
                </a:r>
                <a:r>
                  <a:rPr lang="en-US" b="1" baseline="-25000" dirty="0" err="1" smtClean="0">
                    <a:latin typeface="Times New Roman" pitchFamily="18" charset="0"/>
                    <a:cs typeface="Times New Roman" pitchFamily="18" charset="0"/>
                  </a:rPr>
                  <a:t>s</a:t>
                </a:r>
                <a:r>
                  <a:rPr lang="en-US" b="1" dirty="0" err="1" smtClean="0">
                    <a:latin typeface="Times New Roman" pitchFamily="18" charset="0"/>
                    <a:cs typeface="Times New Roman" pitchFamily="18" charset="0"/>
                  </a:rPr>
                  <a:t>T</a:t>
                </a:r>
                <a:endParaRPr lang="en-US" b="1" dirty="0">
                  <a:latin typeface="Times New Roman" pitchFamily="18" charset="0"/>
                  <a:cs typeface="Times New Roman" pitchFamily="18" charset="0"/>
                </a:endParaRPr>
              </a:p>
              <a:p>
                <a:r>
                  <a:rPr lang="el-GR" b="1" dirty="0">
                    <a:latin typeface="Times New Roman" pitchFamily="18" charset="0"/>
                    <a:cs typeface="Times New Roman" pitchFamily="18" charset="0"/>
                  </a:rPr>
                  <a:t>λ</a:t>
                </a:r>
                <a:r>
                  <a:rPr lang="en-US" b="1" baseline="-25000" dirty="0">
                    <a:latin typeface="Times New Roman" pitchFamily="18" charset="0"/>
                    <a:cs typeface="Times New Roman" pitchFamily="18" charset="0"/>
                  </a:rPr>
                  <a:t>e</a:t>
                </a:r>
                <a:r>
                  <a:rPr lang="en-US" b="1" dirty="0">
                    <a:latin typeface="Times New Roman" pitchFamily="18" charset="0"/>
                    <a:cs typeface="Times New Roman" pitchFamily="18" charset="0"/>
                  </a:rPr>
                  <a:t>= </a:t>
                </a:r>
                <a14:m>
                  <m:oMath xmlns:m="http://schemas.openxmlformats.org/officeDocument/2006/math">
                    <m:f>
                      <m:fPr>
                        <m:ctrlPr>
                          <a:rPr lang="en-US" b="1" i="1" dirty="0">
                            <a:latin typeface="Cambria Math"/>
                            <a:cs typeface="Times New Roman" pitchFamily="18" charset="0"/>
                          </a:rPr>
                        </m:ctrlPr>
                      </m:fPr>
                      <m:num>
                        <m:r>
                          <m:rPr>
                            <m:nor/>
                          </m:rPr>
                          <a:rPr lang="en-US" b="1" i="0" dirty="0" smtClean="0">
                            <a:latin typeface="Cambria Math"/>
                            <a:cs typeface="Times New Roman" pitchFamily="18" charset="0"/>
                          </a:rPr>
                          <m:t>v</m:t>
                        </m:r>
                        <m:r>
                          <m:rPr>
                            <m:nor/>
                          </m:rPr>
                          <a:rPr lang="en-US" b="1" dirty="0">
                            <a:latin typeface="Times New Roman" pitchFamily="18" charset="0"/>
                            <a:cs typeface="Times New Roman" pitchFamily="18" charset="0"/>
                          </a:rPr>
                          <m:t> – </m:t>
                        </m:r>
                        <m:r>
                          <m:rPr>
                            <m:nor/>
                          </m:rPr>
                          <a:rPr lang="en-US" b="1" i="0" dirty="0" smtClean="0">
                            <a:latin typeface="Times New Roman" pitchFamily="18" charset="0"/>
                            <a:cs typeface="Times New Roman" pitchFamily="18" charset="0"/>
                          </a:rPr>
                          <m:t>v</m:t>
                        </m:r>
                        <m:r>
                          <m:rPr>
                            <m:nor/>
                          </m:rPr>
                          <a:rPr lang="en-US" b="1" baseline="-25000" dirty="0">
                            <a:latin typeface="Times New Roman" pitchFamily="18" charset="0"/>
                            <a:cs typeface="Times New Roman" pitchFamily="18" charset="0"/>
                          </a:rPr>
                          <m:t>s</m:t>
                        </m:r>
                        <m:r>
                          <m:rPr>
                            <m:nor/>
                          </m:rPr>
                          <a:rPr lang="en-US" b="1" dirty="0">
                            <a:latin typeface="Times New Roman" pitchFamily="18" charset="0"/>
                            <a:cs typeface="Times New Roman" pitchFamily="18" charset="0"/>
                          </a:rPr>
                          <m:t> </m:t>
                        </m:r>
                      </m:num>
                      <m:den>
                        <m:r>
                          <a:rPr lang="en-US" b="1" i="1" dirty="0">
                            <a:latin typeface="Cambria Math"/>
                            <a:cs typeface="Times New Roman" pitchFamily="18" charset="0"/>
                          </a:rPr>
                          <m:t>𝒇</m:t>
                        </m:r>
                      </m:den>
                    </m:f>
                  </m:oMath>
                </a14:m>
                <a:endParaRPr lang="en-US" b="1" dirty="0">
                  <a:latin typeface="Times New Roman" pitchFamily="18" charset="0"/>
                  <a:cs typeface="Times New Roman" pitchFamily="18" charset="0"/>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2895600" y="3077930"/>
                <a:ext cx="4953000" cy="849913"/>
              </a:xfrm>
              <a:prstGeom prst="rect">
                <a:avLst/>
              </a:prstGeom>
              <a:blipFill rotWithShape="1">
                <a:blip r:embed="rId5"/>
                <a:stretch>
                  <a:fillRect l="-984" t="-3597"/>
                </a:stretch>
              </a:blipFill>
            </p:spPr>
            <p:txBody>
              <a:bodyPr/>
              <a:lstStyle/>
              <a:p>
                <a:r>
                  <a:rPr lang="en-US">
                    <a:noFill/>
                  </a:rPr>
                  <a:t> </a:t>
                </a:r>
              </a:p>
            </p:txBody>
          </p:sp>
        </mc:Fallback>
      </mc:AlternateContent>
      <p:sp>
        <p:nvSpPr>
          <p:cNvPr id="10" name="TextBox 9"/>
          <p:cNvSpPr txBox="1"/>
          <p:nvPr/>
        </p:nvSpPr>
        <p:spPr>
          <a:xfrm>
            <a:off x="167484" y="3886199"/>
            <a:ext cx="7833516" cy="646331"/>
          </a:xfrm>
          <a:prstGeom prst="rect">
            <a:avLst/>
          </a:prstGeom>
          <a:noFill/>
        </p:spPr>
        <p:txBody>
          <a:bodyPr wrap="square" rtlCol="0">
            <a:spAutoFit/>
          </a:bodyPr>
          <a:lstStyle/>
          <a:p>
            <a:r>
              <a:rPr lang="en-US" dirty="0">
                <a:latin typeface="Times New Roman" pitchFamily="18" charset="0"/>
                <a:cs typeface="Times New Roman" pitchFamily="18" charset="0"/>
              </a:rPr>
              <a:t>The observer moves toward the incoming waves, so effective speed of waves relative to </a:t>
            </a:r>
            <a:r>
              <a:rPr lang="en-US" dirty="0" smtClean="0">
                <a:latin typeface="Times New Roman" pitchFamily="18" charset="0"/>
                <a:cs typeface="Times New Roman" pitchFamily="18" charset="0"/>
              </a:rPr>
              <a:t>observer,</a:t>
            </a:r>
            <a:endParaRPr lang="en-US" dirty="0">
              <a:latin typeface="Times New Roman" pitchFamily="18" charset="0"/>
              <a:cs typeface="Times New Roman" pitchFamily="18" charset="0"/>
            </a:endParaRPr>
          </a:p>
        </p:txBody>
      </p:sp>
      <p:sp>
        <p:nvSpPr>
          <p:cNvPr id="11" name="TextBox 10"/>
          <p:cNvSpPr txBox="1"/>
          <p:nvPr/>
        </p:nvSpPr>
        <p:spPr>
          <a:xfrm>
            <a:off x="214293" y="4532530"/>
            <a:ext cx="3033226" cy="369332"/>
          </a:xfrm>
          <a:prstGeom prst="rect">
            <a:avLst/>
          </a:prstGeom>
          <a:noFill/>
        </p:spPr>
        <p:txBody>
          <a:bodyPr wrap="square" rtlCol="0">
            <a:spAutoFit/>
          </a:bodyPr>
          <a:lstStyle/>
          <a:p>
            <a:r>
              <a:rPr lang="en-US" dirty="0">
                <a:latin typeface="Times New Roman" pitchFamily="18" charset="0"/>
                <a:cs typeface="Times New Roman" pitchFamily="18" charset="0"/>
              </a:rPr>
              <a:t>Apparent frequency </a:t>
            </a:r>
            <a:r>
              <a:rPr lang="en-US" dirty="0" smtClean="0">
                <a:latin typeface="Times New Roman" pitchFamily="18" charset="0"/>
                <a:cs typeface="Times New Roman" pitchFamily="18" charset="0"/>
              </a:rPr>
              <a:t>heard,</a:t>
            </a:r>
            <a:endParaRPr lang="en-US" dirty="0">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12" name="TextBox 11"/>
              <p:cNvSpPr txBox="1"/>
              <p:nvPr/>
            </p:nvSpPr>
            <p:spPr>
              <a:xfrm>
                <a:off x="2663113" y="4145795"/>
                <a:ext cx="3337560" cy="369332"/>
              </a:xfrm>
              <a:prstGeom prst="rect">
                <a:avLst/>
              </a:prstGeom>
              <a:noFill/>
            </p:spPr>
            <p:txBody>
              <a:bodyPr wrap="square" rtlCol="0">
                <a:spAutoFit/>
              </a:bodyPr>
              <a:lstStyle/>
              <a:p>
                <a14:m>
                  <m:oMath xmlns:m="http://schemas.openxmlformats.org/officeDocument/2006/math">
                    <m:r>
                      <a:rPr lang="en-US" b="0" i="1" smtClean="0">
                        <a:latin typeface="Cambria Math"/>
                      </a:rPr>
                      <m:t> </m:t>
                    </m:r>
                    <m:r>
                      <a:rPr lang="en-US" b="1" i="1">
                        <a:latin typeface="Cambria Math"/>
                      </a:rPr>
                      <m:t>𝒗</m:t>
                    </m:r>
                    <m:r>
                      <a:rPr lang="en-US" b="1" i="1">
                        <a:latin typeface="Cambria Math"/>
                      </a:rPr>
                      <m:t>′</m:t>
                    </m:r>
                  </m:oMath>
                </a14:m>
                <a:r>
                  <a:rPr lang="en-US" b="1" dirty="0">
                    <a:latin typeface="Times New Roman" pitchFamily="18" charset="0"/>
                    <a:cs typeface="Times New Roman" pitchFamily="18" charset="0"/>
                  </a:rPr>
                  <a:t>= </a:t>
                </a:r>
                <a14:m>
                  <m:oMath xmlns:m="http://schemas.openxmlformats.org/officeDocument/2006/math">
                    <m:r>
                      <a:rPr lang="en-US" b="1" i="1" dirty="0">
                        <a:latin typeface="Cambria Math"/>
                        <a:cs typeface="Times New Roman" pitchFamily="18" charset="0"/>
                      </a:rPr>
                      <m:t>𝒗</m:t>
                    </m:r>
                    <m:r>
                      <a:rPr lang="en-US" b="1" i="1" dirty="0">
                        <a:latin typeface="Cambria Math"/>
                        <a:cs typeface="Times New Roman" pitchFamily="18" charset="0"/>
                      </a:rPr>
                      <m:t>+</m:t>
                    </m:r>
                    <m:r>
                      <a:rPr lang="en-US" b="1" i="1" dirty="0">
                        <a:latin typeface="Cambria Math"/>
                        <a:cs typeface="Times New Roman" pitchFamily="18" charset="0"/>
                      </a:rPr>
                      <m:t>𝒗</m:t>
                    </m:r>
                    <m:r>
                      <a:rPr lang="en-US" b="1" i="1" dirty="0">
                        <a:latin typeface="Cambria Math"/>
                        <a:cs typeface="Times New Roman" pitchFamily="18" charset="0"/>
                      </a:rPr>
                      <m:t>₀</m:t>
                    </m:r>
                  </m:oMath>
                </a14:m>
                <a:endParaRPr lang="en-US" b="1" dirty="0"/>
              </a:p>
            </p:txBody>
          </p:sp>
        </mc:Choice>
        <mc:Fallback xmlns="">
          <p:sp>
            <p:nvSpPr>
              <p:cNvPr id="12" name="TextBox 11"/>
              <p:cNvSpPr txBox="1">
                <a:spLocks noRot="1" noChangeAspect="1" noMove="1" noResize="1" noEditPoints="1" noAdjustHandles="1" noChangeArrowheads="1" noChangeShapeType="1" noTextEdit="1"/>
              </p:cNvSpPr>
              <p:nvPr/>
            </p:nvSpPr>
            <p:spPr>
              <a:xfrm>
                <a:off x="2663113" y="4145795"/>
                <a:ext cx="3337560" cy="369332"/>
              </a:xfrm>
              <a:prstGeom prst="rect">
                <a:avLst/>
              </a:prstGeom>
              <a:blipFill rotWithShape="1">
                <a:blip r:embed="rId6"/>
                <a:stretch>
                  <a:fillRect t="-9836"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p:cNvSpPr txBox="1"/>
              <p:nvPr/>
            </p:nvSpPr>
            <p:spPr>
              <a:xfrm>
                <a:off x="2905086" y="4935666"/>
                <a:ext cx="2506980" cy="468270"/>
              </a:xfrm>
              <a:prstGeom prst="rect">
                <a:avLst/>
              </a:prstGeom>
              <a:noFill/>
            </p:spPr>
            <p:txBody>
              <a:bodyPr wrap="square" rtlCol="0">
                <a:spAutoFit/>
              </a:bodyPr>
              <a:lstStyle/>
              <a:p>
                <a:r>
                  <a:rPr lang="en-US" b="1" dirty="0">
                    <a:latin typeface="Times New Roman" pitchFamily="18" charset="0"/>
                    <a:cs typeface="Times New Roman" pitchFamily="18" charset="0"/>
                  </a:rPr>
                  <a:t>f '= </a:t>
                </a:r>
                <a14:m>
                  <m:oMath xmlns:m="http://schemas.openxmlformats.org/officeDocument/2006/math">
                    <m:f>
                      <m:fPr>
                        <m:ctrlPr>
                          <a:rPr lang="en-US" b="1" i="1">
                            <a:latin typeface="Cambria Math"/>
                          </a:rPr>
                        </m:ctrlPr>
                      </m:fPr>
                      <m:num>
                        <m:r>
                          <a:rPr lang="en-US" b="1" i="1">
                            <a:latin typeface="Cambria Math"/>
                          </a:rPr>
                          <m:t>𝒗</m:t>
                        </m:r>
                        <m:r>
                          <a:rPr lang="en-US" b="1" i="1">
                            <a:latin typeface="Cambria Math"/>
                          </a:rPr>
                          <m:t>′</m:t>
                        </m:r>
                      </m:num>
                      <m:den>
                        <m:r>
                          <m:rPr>
                            <m:nor/>
                          </m:rPr>
                          <a:rPr lang="el-GR" b="1" dirty="0">
                            <a:latin typeface="Times New Roman" pitchFamily="18" charset="0"/>
                            <a:cs typeface="Times New Roman" pitchFamily="18" charset="0"/>
                          </a:rPr>
                          <m:t>λ</m:t>
                        </m:r>
                        <m:r>
                          <m:rPr>
                            <m:nor/>
                          </m:rPr>
                          <a:rPr lang="en-US" b="1" baseline="-25000" dirty="0">
                            <a:latin typeface="Times New Roman" pitchFamily="18" charset="0"/>
                            <a:cs typeface="Times New Roman" pitchFamily="18" charset="0"/>
                          </a:rPr>
                          <m:t>e</m:t>
                        </m:r>
                      </m:den>
                    </m:f>
                  </m:oMath>
                </a14:m>
                <a:endParaRPr lang="en-US" b="1" dirty="0"/>
              </a:p>
            </p:txBody>
          </p:sp>
        </mc:Choice>
        <mc:Fallback xmlns="">
          <p:sp>
            <p:nvSpPr>
              <p:cNvPr id="13" name="TextBox 12"/>
              <p:cNvSpPr txBox="1">
                <a:spLocks noRot="1" noChangeAspect="1" noMove="1" noResize="1" noEditPoints="1" noAdjustHandles="1" noChangeArrowheads="1" noChangeShapeType="1" noTextEdit="1"/>
              </p:cNvSpPr>
              <p:nvPr/>
            </p:nvSpPr>
            <p:spPr>
              <a:xfrm>
                <a:off x="2905086" y="4935666"/>
                <a:ext cx="2506980" cy="468270"/>
              </a:xfrm>
              <a:prstGeom prst="rect">
                <a:avLst/>
              </a:prstGeom>
              <a:blipFill rotWithShape="1">
                <a:blip r:embed="rId7"/>
                <a:stretch>
                  <a:fillRect l="-2190" b="-9211"/>
                </a:stretch>
              </a:blipFill>
            </p:spPr>
            <p:txBody>
              <a:bodyPr/>
              <a:lstStyle/>
              <a:p>
                <a:r>
                  <a:rPr lang="en-US">
                    <a:noFill/>
                  </a:rPr>
                  <a:t> </a:t>
                </a:r>
              </a:p>
            </p:txBody>
          </p:sp>
        </mc:Fallback>
      </mc:AlternateContent>
      <p:sp>
        <p:nvSpPr>
          <p:cNvPr id="14" name="TextBox 13"/>
          <p:cNvSpPr txBox="1"/>
          <p:nvPr/>
        </p:nvSpPr>
        <p:spPr>
          <a:xfrm>
            <a:off x="297219" y="5183911"/>
            <a:ext cx="3246042" cy="369332"/>
          </a:xfrm>
          <a:prstGeom prst="rect">
            <a:avLst/>
          </a:prstGeom>
          <a:noFill/>
        </p:spPr>
        <p:txBody>
          <a:bodyPr wrap="square" rtlCol="0">
            <a:spAutoFit/>
          </a:bodyPr>
          <a:lstStyle/>
          <a:p>
            <a:r>
              <a:rPr lang="en-US" dirty="0" smtClean="0">
                <a:latin typeface="Times New Roman" pitchFamily="18" charset="0"/>
                <a:cs typeface="Times New Roman" pitchFamily="18" charset="0"/>
              </a:rPr>
              <a:t>Substituting values,</a:t>
            </a:r>
          </a:p>
        </p:txBody>
      </p:sp>
      <mc:AlternateContent xmlns:mc="http://schemas.openxmlformats.org/markup-compatibility/2006" xmlns:a14="http://schemas.microsoft.com/office/drawing/2010/main">
        <mc:Choice Requires="a14">
          <p:sp>
            <p:nvSpPr>
              <p:cNvPr id="16" name="TextBox 15"/>
              <p:cNvSpPr txBox="1"/>
              <p:nvPr/>
            </p:nvSpPr>
            <p:spPr>
              <a:xfrm>
                <a:off x="2911306" y="5666792"/>
                <a:ext cx="2667000" cy="859146"/>
              </a:xfrm>
              <a:prstGeom prst="rect">
                <a:avLst/>
              </a:prstGeom>
              <a:noFill/>
            </p:spPr>
            <p:txBody>
              <a:bodyPr wrap="square" rtlCol="0">
                <a:spAutoFit/>
              </a:bodyPr>
              <a:lstStyle/>
              <a:p>
                <a:r>
                  <a:rPr lang="en-US" b="1" dirty="0">
                    <a:latin typeface="Times New Roman" pitchFamily="18" charset="0"/>
                    <a:cs typeface="Times New Roman" pitchFamily="18" charset="0"/>
                  </a:rPr>
                  <a:t>f ' = </a:t>
                </a:r>
                <a14:m>
                  <m:oMath xmlns:m="http://schemas.openxmlformats.org/officeDocument/2006/math">
                    <m:d>
                      <m:dPr>
                        <m:ctrlPr>
                          <a:rPr lang="en-US" b="1" i="1">
                            <a:latin typeface="Cambria Math"/>
                          </a:rPr>
                        </m:ctrlPr>
                      </m:dPr>
                      <m:e>
                        <m:r>
                          <a:rPr lang="en-US" b="1">
                            <a:latin typeface="Cambria Math"/>
                          </a:rPr>
                          <m:t> </m:t>
                        </m:r>
                        <m:f>
                          <m:fPr>
                            <m:ctrlPr>
                              <a:rPr lang="en-US" b="1" i="1">
                                <a:latin typeface="Cambria Math"/>
                              </a:rPr>
                            </m:ctrlPr>
                          </m:fPr>
                          <m:num>
                            <m:r>
                              <a:rPr lang="en-US" b="1" i="1" dirty="0">
                                <a:latin typeface="Cambria Math"/>
                                <a:cs typeface="Times New Roman" pitchFamily="18" charset="0"/>
                              </a:rPr>
                              <m:t>𝒗</m:t>
                            </m:r>
                            <m:r>
                              <a:rPr lang="en-US" b="1" i="1" dirty="0">
                                <a:latin typeface="Cambria Math"/>
                                <a:cs typeface="Times New Roman" pitchFamily="18" charset="0"/>
                              </a:rPr>
                              <m:t>+</m:t>
                            </m:r>
                            <m:r>
                              <a:rPr lang="en-US" b="1" i="1" dirty="0">
                                <a:latin typeface="Cambria Math"/>
                                <a:cs typeface="Times New Roman" pitchFamily="18" charset="0"/>
                              </a:rPr>
                              <m:t>𝒗</m:t>
                            </m:r>
                            <m:r>
                              <a:rPr lang="en-US" b="1" i="1" dirty="0">
                                <a:latin typeface="Cambria Math"/>
                                <a:cs typeface="Times New Roman" pitchFamily="18" charset="0"/>
                              </a:rPr>
                              <m:t>₀</m:t>
                            </m:r>
                          </m:num>
                          <m:den>
                            <m:r>
                              <m:rPr>
                                <m:nor/>
                              </m:rPr>
                              <a:rPr lang="en-US" b="1" i="0" dirty="0" smtClean="0">
                                <a:latin typeface="Cambria Math"/>
                                <a:cs typeface="Times New Roman" pitchFamily="18" charset="0"/>
                              </a:rPr>
                              <m:t>v</m:t>
                            </m:r>
                            <m:r>
                              <m:rPr>
                                <m:nor/>
                              </m:rPr>
                              <a:rPr lang="en-US" b="1" i="0" dirty="0" smtClean="0">
                                <a:latin typeface="Times New Roman" pitchFamily="18" charset="0"/>
                                <a:cs typeface="Times New Roman" pitchFamily="18" charset="0"/>
                              </a:rPr>
                              <m:t>−</m:t>
                            </m:r>
                            <m:r>
                              <m:rPr>
                                <m:nor/>
                              </m:rPr>
                              <a:rPr lang="en-US" b="1" i="0" dirty="0" smtClean="0">
                                <a:latin typeface="Times New Roman" pitchFamily="18" charset="0"/>
                                <a:cs typeface="Times New Roman" pitchFamily="18" charset="0"/>
                              </a:rPr>
                              <m:t>vs</m:t>
                            </m:r>
                          </m:den>
                        </m:f>
                      </m:e>
                    </m:d>
                  </m:oMath>
                </a14:m>
                <a:r>
                  <a:rPr lang="en-US" b="1" dirty="0">
                    <a:latin typeface="Times New Roman" pitchFamily="18" charset="0"/>
                    <a:cs typeface="Times New Roman" pitchFamily="18" charset="0"/>
                  </a:rPr>
                  <a:t>f</a:t>
                </a:r>
              </a:p>
              <a:p>
                <a:endParaRPr lang="en-US" dirty="0"/>
              </a:p>
            </p:txBody>
          </p:sp>
        </mc:Choice>
        <mc:Fallback xmlns="">
          <p:sp>
            <p:nvSpPr>
              <p:cNvPr id="16" name="TextBox 15"/>
              <p:cNvSpPr txBox="1">
                <a:spLocks noRot="1" noChangeAspect="1" noMove="1" noResize="1" noEditPoints="1" noAdjustHandles="1" noChangeArrowheads="1" noChangeShapeType="1" noTextEdit="1"/>
              </p:cNvSpPr>
              <p:nvPr/>
            </p:nvSpPr>
            <p:spPr>
              <a:xfrm>
                <a:off x="2911306" y="5666792"/>
                <a:ext cx="2667000" cy="859146"/>
              </a:xfrm>
              <a:prstGeom prst="rect">
                <a:avLst/>
              </a:prstGeom>
              <a:blipFill rotWithShape="1">
                <a:blip r:embed="rId8"/>
                <a:stretch>
                  <a:fillRect l="-2059" b="-106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p:cNvSpPr txBox="1"/>
              <p:nvPr/>
            </p:nvSpPr>
            <p:spPr>
              <a:xfrm>
                <a:off x="4876800" y="4356973"/>
                <a:ext cx="2819401" cy="2062103"/>
              </a:xfrm>
              <a:prstGeom prst="rect">
                <a:avLst/>
              </a:prstGeom>
              <a:noFill/>
            </p:spPr>
            <p:txBody>
              <a:bodyPr wrap="square" rtlCol="0">
                <a:spAutoFit/>
              </a:bodyPr>
              <a:lstStyle/>
              <a:p>
                <a:r>
                  <a:rPr lang="en-US" sz="1600" b="1" dirty="0" smtClean="0">
                    <a:solidFill>
                      <a:srgbClr val="FF0000"/>
                    </a:solidFill>
                    <a:latin typeface="Times New Roman" pitchFamily="18" charset="0"/>
                    <a:cs typeface="Times New Roman" pitchFamily="18" charset="0"/>
                  </a:rPr>
                  <a:t>V</a:t>
                </a:r>
                <a:r>
                  <a:rPr lang="en-US" sz="1600" dirty="0" smtClean="0">
                    <a:latin typeface="Times New Roman" pitchFamily="18" charset="0"/>
                    <a:cs typeface="Times New Roman" pitchFamily="18" charset="0"/>
                  </a:rPr>
                  <a:t>=Velocity of sound</a:t>
                </a:r>
              </a:p>
              <a:p>
                <a14:m>
                  <m:oMath xmlns:m="http://schemas.openxmlformats.org/officeDocument/2006/math">
                    <m:r>
                      <a:rPr lang="en-US" sz="1600" b="1" i="0" dirty="0" smtClean="0">
                        <a:solidFill>
                          <a:srgbClr val="FF0000"/>
                        </a:solidFill>
                        <a:latin typeface="Cambria Math"/>
                        <a:cs typeface="Times New Roman" pitchFamily="18" charset="0"/>
                      </a:rPr>
                      <m:t>𝐯</m:t>
                    </m:r>
                    <m:r>
                      <a:rPr lang="en-US" sz="1600" b="1" i="0" dirty="0" smtClean="0">
                        <a:solidFill>
                          <a:srgbClr val="FF0000"/>
                        </a:solidFill>
                        <a:latin typeface="Cambria Math"/>
                        <a:cs typeface="Times New Roman" pitchFamily="18" charset="0"/>
                      </a:rPr>
                      <m:t>₀</m:t>
                    </m:r>
                  </m:oMath>
                </a14:m>
                <a:r>
                  <a:rPr lang="en-US" sz="1600" dirty="0" smtClean="0">
                    <a:latin typeface="Times New Roman" pitchFamily="18" charset="0"/>
                    <a:cs typeface="Times New Roman" pitchFamily="18" charset="0"/>
                  </a:rPr>
                  <a:t>= Velocity of observer</a:t>
                </a:r>
              </a:p>
              <a:p>
                <a14:m>
                  <m:oMath xmlns:m="http://schemas.openxmlformats.org/officeDocument/2006/math">
                    <m:r>
                      <m:rPr>
                        <m:nor/>
                      </m:rPr>
                      <a:rPr lang="en-US" sz="1600" b="1" dirty="0">
                        <a:solidFill>
                          <a:srgbClr val="FF0000"/>
                        </a:solidFill>
                        <a:latin typeface="Times New Roman" pitchFamily="18" charset="0"/>
                        <a:cs typeface="Times New Roman" pitchFamily="18" charset="0"/>
                      </a:rPr>
                      <m:t>V</m:t>
                    </m:r>
                    <m:r>
                      <m:rPr>
                        <m:nor/>
                      </m:rPr>
                      <a:rPr lang="en-US" sz="1600" b="1" baseline="-25000" dirty="0">
                        <a:solidFill>
                          <a:srgbClr val="FF0000"/>
                        </a:solidFill>
                        <a:latin typeface="Times New Roman" pitchFamily="18" charset="0"/>
                        <a:cs typeface="Times New Roman" pitchFamily="18" charset="0"/>
                      </a:rPr>
                      <m:t>s</m:t>
                    </m:r>
                  </m:oMath>
                </a14:m>
                <a:r>
                  <a:rPr lang="en-US" sz="1600" dirty="0">
                    <a:latin typeface="Times New Roman" pitchFamily="18" charset="0"/>
                    <a:cs typeface="Times New Roman" pitchFamily="18" charset="0"/>
                  </a:rPr>
                  <a:t>= Velocity of </a:t>
                </a:r>
                <a:r>
                  <a:rPr lang="en-US" sz="1600" dirty="0" smtClean="0">
                    <a:latin typeface="Times New Roman" pitchFamily="18" charset="0"/>
                    <a:cs typeface="Times New Roman" pitchFamily="18" charset="0"/>
                  </a:rPr>
                  <a:t>source</a:t>
                </a:r>
              </a:p>
              <a:p>
                <a:r>
                  <a:rPr lang="en-US" sz="1600" b="1" dirty="0" smtClean="0">
                    <a:solidFill>
                      <a:srgbClr val="FF0000"/>
                    </a:solidFill>
                    <a:latin typeface="Times New Roman" pitchFamily="18" charset="0"/>
                    <a:cs typeface="Times New Roman" pitchFamily="18" charset="0"/>
                  </a:rPr>
                  <a:t>F </a:t>
                </a:r>
                <a:r>
                  <a:rPr lang="en-US" sz="1600" dirty="0" smtClean="0">
                    <a:latin typeface="Times New Roman" pitchFamily="18" charset="0"/>
                    <a:cs typeface="Times New Roman" pitchFamily="18" charset="0"/>
                  </a:rPr>
                  <a:t>= </a:t>
                </a:r>
                <a:r>
                  <a:rPr lang="en-US" sz="1600" dirty="0" err="1" smtClean="0">
                    <a:latin typeface="Times New Roman" pitchFamily="18" charset="0"/>
                    <a:cs typeface="Times New Roman" pitchFamily="18" charset="0"/>
                  </a:rPr>
                  <a:t>Orginal</a:t>
                </a:r>
                <a:r>
                  <a:rPr lang="en-US" sz="1600" dirty="0" smtClean="0">
                    <a:latin typeface="Times New Roman" pitchFamily="18" charset="0"/>
                    <a:cs typeface="Times New Roman" pitchFamily="18" charset="0"/>
                  </a:rPr>
                  <a:t> frequency of sound</a:t>
                </a:r>
              </a:p>
              <a:p>
                <a:r>
                  <a:rPr lang="en-US" sz="1600" b="1" dirty="0" smtClean="0">
                    <a:solidFill>
                      <a:srgbClr val="FF0000"/>
                    </a:solidFill>
                    <a:latin typeface="Times New Roman" pitchFamily="18" charset="0"/>
                    <a:cs typeface="Times New Roman" pitchFamily="18" charset="0"/>
                  </a:rPr>
                  <a:t>f </a:t>
                </a:r>
                <a:r>
                  <a:rPr lang="en-US" sz="1600" b="1" dirty="0">
                    <a:solidFill>
                      <a:srgbClr val="FF0000"/>
                    </a:solidFill>
                    <a:latin typeface="Times New Roman" pitchFamily="18" charset="0"/>
                    <a:cs typeface="Times New Roman" pitchFamily="18" charset="0"/>
                  </a:rPr>
                  <a:t>'</a:t>
                </a:r>
                <a:r>
                  <a:rPr lang="en-US" sz="1600" dirty="0" smtClean="0">
                    <a:latin typeface="Times New Roman" pitchFamily="18" charset="0"/>
                    <a:cs typeface="Times New Roman" pitchFamily="18" charset="0"/>
                  </a:rPr>
                  <a:t>= Apparent frequency</a:t>
                </a:r>
              </a:p>
              <a:p>
                <a:r>
                  <a:rPr lang="el-GR" sz="1600" b="1" dirty="0">
                    <a:solidFill>
                      <a:srgbClr val="FF0000"/>
                    </a:solidFill>
                    <a:latin typeface="Times New Roman" pitchFamily="18" charset="0"/>
                    <a:cs typeface="Times New Roman" pitchFamily="18" charset="0"/>
                  </a:rPr>
                  <a:t>λ</a:t>
                </a:r>
                <a:r>
                  <a:rPr lang="en-US" sz="1600" b="1" baseline="-25000" dirty="0">
                    <a:solidFill>
                      <a:srgbClr val="FF0000"/>
                    </a:solidFill>
                    <a:latin typeface="Times New Roman" pitchFamily="18" charset="0"/>
                    <a:cs typeface="Times New Roman" pitchFamily="18" charset="0"/>
                  </a:rPr>
                  <a:t>e</a:t>
                </a:r>
                <a:r>
                  <a:rPr lang="en-US" sz="1600" dirty="0">
                    <a:latin typeface="Times New Roman" pitchFamily="18" charset="0"/>
                    <a:cs typeface="Times New Roman" pitchFamily="18" charset="0"/>
                  </a:rPr>
                  <a:t>= Effective wavelength</a:t>
                </a:r>
              </a:p>
              <a:p>
                <a:r>
                  <a:rPr lang="en-US" sz="1600" b="1" dirty="0">
                    <a:solidFill>
                      <a:srgbClr val="FF0000"/>
                    </a:solidFill>
                    <a:latin typeface="Times New Roman" pitchFamily="18" charset="0"/>
                    <a:cs typeface="Times New Roman" pitchFamily="18" charset="0"/>
                  </a:rPr>
                  <a:t>T</a:t>
                </a:r>
                <a:r>
                  <a:rPr lang="en-US" sz="1600" dirty="0">
                    <a:latin typeface="Times New Roman" pitchFamily="18" charset="0"/>
                    <a:cs typeface="Times New Roman" pitchFamily="18" charset="0"/>
                  </a:rPr>
                  <a:t>= Time period</a:t>
                </a:r>
              </a:p>
              <a:p>
                <a:endParaRPr lang="en-US" sz="1600" dirty="0">
                  <a:latin typeface="Times New Roman" pitchFamily="18" charset="0"/>
                  <a:cs typeface="Times New Roman" pitchFamily="18" charset="0"/>
                </a:endParaRPr>
              </a:p>
            </p:txBody>
          </p:sp>
        </mc:Choice>
        <mc:Fallback xmlns="">
          <p:sp>
            <p:nvSpPr>
              <p:cNvPr id="17" name="TextBox 16"/>
              <p:cNvSpPr txBox="1">
                <a:spLocks noRot="1" noChangeAspect="1" noMove="1" noResize="1" noEditPoints="1" noAdjustHandles="1" noChangeArrowheads="1" noChangeShapeType="1" noTextEdit="1"/>
              </p:cNvSpPr>
              <p:nvPr/>
            </p:nvSpPr>
            <p:spPr>
              <a:xfrm>
                <a:off x="4876800" y="4356973"/>
                <a:ext cx="2819401" cy="2062103"/>
              </a:xfrm>
              <a:prstGeom prst="rect">
                <a:avLst/>
              </a:prstGeom>
              <a:blipFill rotWithShape="1">
                <a:blip r:embed="rId9"/>
                <a:stretch>
                  <a:fillRect l="-1080" t="-888" b="-2959"/>
                </a:stretch>
              </a:blipFill>
            </p:spPr>
            <p:txBody>
              <a:bodyPr/>
              <a:lstStyle/>
              <a:p>
                <a:r>
                  <a:rPr lang="en-US">
                    <a:noFill/>
                  </a:rPr>
                  <a:t> </a:t>
                </a:r>
              </a:p>
            </p:txBody>
          </p:sp>
        </mc:Fallback>
      </mc:AlternateContent>
    </p:spTree>
    <p:extLst>
      <p:ext uri="{BB962C8B-B14F-4D97-AF65-F5344CB8AC3E}">
        <p14:creationId xmlns:p14="http://schemas.microsoft.com/office/powerpoint/2010/main" val="17732713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p:cNvGrpSpPr/>
          <p:nvPr/>
        </p:nvGrpSpPr>
        <p:grpSpPr>
          <a:xfrm>
            <a:off x="67201" y="533400"/>
            <a:ext cx="8077200" cy="6238541"/>
            <a:chOff x="0" y="212120"/>
            <a:chExt cx="8077200" cy="6238541"/>
          </a:xfrm>
        </p:grpSpPr>
        <p:sp>
          <p:nvSpPr>
            <p:cNvPr id="4" name="TextBox 3"/>
            <p:cNvSpPr txBox="1"/>
            <p:nvPr/>
          </p:nvSpPr>
          <p:spPr>
            <a:xfrm>
              <a:off x="0" y="212120"/>
              <a:ext cx="5791200" cy="400110"/>
            </a:xfrm>
            <a:prstGeom prst="rect">
              <a:avLst/>
            </a:prstGeom>
            <a:noFill/>
          </p:spPr>
          <p:txBody>
            <a:bodyPr wrap="square" rtlCol="0">
              <a:spAutoFit/>
            </a:bodyPr>
            <a:lstStyle/>
            <a:p>
              <a:r>
                <a:rPr lang="en-US" dirty="0">
                  <a:solidFill>
                    <a:srgbClr val="002060"/>
                  </a:solidFill>
                  <a:latin typeface="Times New Roman" pitchFamily="18" charset="0"/>
                  <a:cs typeface="Times New Roman" pitchFamily="18" charset="0"/>
                </a:rPr>
                <a:t>1</a:t>
              </a:r>
              <a:r>
                <a:rPr lang="en-US" dirty="0" smtClean="0">
                  <a:solidFill>
                    <a:srgbClr val="002060"/>
                  </a:solidFill>
                  <a:latin typeface="Times New Roman" pitchFamily="18" charset="0"/>
                  <a:cs typeface="Times New Roman" pitchFamily="18" charset="0"/>
                </a:rPr>
                <a:t>.Both  </a:t>
              </a:r>
              <a:r>
                <a:rPr lang="en-US" dirty="0" smtClean="0">
                  <a:solidFill>
                    <a:srgbClr val="002060"/>
                  </a:solidFill>
                  <a:latin typeface="Times New Roman" pitchFamily="18" charset="0"/>
                  <a:cs typeface="Times New Roman" pitchFamily="18" charset="0"/>
                </a:rPr>
                <a:t>source and observer  </a:t>
              </a:r>
              <a:r>
                <a:rPr lang="en-US" sz="2000" dirty="0" smtClean="0">
                  <a:solidFill>
                    <a:srgbClr val="002060"/>
                  </a:solidFill>
                  <a:latin typeface="Times New Roman" pitchFamily="18" charset="0"/>
                  <a:cs typeface="Times New Roman" pitchFamily="18" charset="0"/>
                </a:rPr>
                <a:t>move away from each other.</a:t>
              </a:r>
              <a:endParaRPr lang="en-US" dirty="0" smtClean="0">
                <a:solidFill>
                  <a:srgbClr val="002060"/>
                </a:solidFill>
                <a:latin typeface="Times New Roman" pitchFamily="18" charset="0"/>
                <a:cs typeface="Times New Roman" pitchFamily="18" charset="0"/>
              </a:endParaRPr>
            </a:p>
          </p:txBody>
        </p:sp>
        <p:pic>
          <p:nvPicPr>
            <p:cNvPr id="5" name="Picture 2" descr="The Doppler effect: From highly ridiculed to absolutely indispensable, Part  1"/>
            <p:cNvPicPr>
              <a:picLocks noChangeAspect="1" noChangeArrowheads="1"/>
            </p:cNvPicPr>
            <p:nvPr/>
          </p:nvPicPr>
          <p:blipFill rotWithShape="1">
            <a:blip r:embed="rId2">
              <a:extLst>
                <a:ext uri="{28A0092B-C50C-407E-A947-70E740481C1C}">
                  <a14:useLocalDpi xmlns:a14="http://schemas.microsoft.com/office/drawing/2010/main" val="0"/>
                </a:ext>
              </a:extLst>
            </a:blip>
            <a:srcRect l="68951" t="18026" r="3651" b="45201"/>
            <a:stretch/>
          </p:blipFill>
          <p:spPr bwMode="auto">
            <a:xfrm>
              <a:off x="213360" y="750710"/>
              <a:ext cx="1706880" cy="174432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Doppler Effect"/>
            <p:cNvPicPr>
              <a:picLocks noChangeAspect="1" noChangeArrowheads="1"/>
            </p:cNvPicPr>
            <p:nvPr/>
          </p:nvPicPr>
          <p:blipFill rotWithShape="1">
            <a:blip r:embed="rId3">
              <a:extLst>
                <a:ext uri="{28A0092B-C50C-407E-A947-70E740481C1C}">
                  <a14:useLocalDpi xmlns:a14="http://schemas.microsoft.com/office/drawing/2010/main" val="0"/>
                </a:ext>
              </a:extLst>
            </a:blip>
            <a:srcRect l="57597" t="19361" r="-23" b="40645"/>
            <a:stretch/>
          </p:blipFill>
          <p:spPr bwMode="auto">
            <a:xfrm>
              <a:off x="2322350" y="1724608"/>
              <a:ext cx="1146499" cy="42029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Exploring the Doppler Effect With NASA – Science Lesson | NASA JPL Education"/>
            <p:cNvPicPr>
              <a:picLocks noChangeAspect="1" noChangeArrowheads="1"/>
            </p:cNvPicPr>
            <p:nvPr/>
          </p:nvPicPr>
          <p:blipFill rotWithShape="1">
            <a:blip r:embed="rId4">
              <a:extLst>
                <a:ext uri="{28A0092B-C50C-407E-A947-70E740481C1C}">
                  <a14:useLocalDpi xmlns:a14="http://schemas.microsoft.com/office/drawing/2010/main" val="0"/>
                </a:ext>
              </a:extLst>
            </a:blip>
            <a:srcRect l="71427" t="27971" r="16016" b="33968"/>
            <a:stretch/>
          </p:blipFill>
          <p:spPr bwMode="auto">
            <a:xfrm>
              <a:off x="2595271" y="1012181"/>
              <a:ext cx="468863" cy="712427"/>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p:cNvSpPr txBox="1"/>
            <p:nvPr/>
          </p:nvSpPr>
          <p:spPr>
            <a:xfrm>
              <a:off x="213360" y="2617158"/>
              <a:ext cx="7635240" cy="923330"/>
            </a:xfrm>
            <a:prstGeom prst="rect">
              <a:avLst/>
            </a:prstGeom>
            <a:noFill/>
          </p:spPr>
          <p:txBody>
            <a:bodyPr wrap="square" rtlCol="0">
              <a:spAutoFit/>
            </a:bodyPr>
            <a:lstStyle/>
            <a:p>
              <a:r>
                <a:rPr lang="en-US" dirty="0" smtClean="0">
                  <a:latin typeface="Times New Roman" pitchFamily="18" charset="0"/>
                  <a:cs typeface="Times New Roman" pitchFamily="18" charset="0"/>
                </a:rPr>
                <a:t>When </a:t>
              </a:r>
              <a:r>
                <a:rPr lang="en-US" dirty="0">
                  <a:latin typeface="Times New Roman" pitchFamily="18" charset="0"/>
                  <a:cs typeface="Times New Roman" pitchFamily="18" charset="0"/>
                </a:rPr>
                <a:t>the source moves </a:t>
              </a:r>
              <a:r>
                <a:rPr lang="en-US" b="1" dirty="0">
                  <a:latin typeface="Times New Roman" pitchFamily="18" charset="0"/>
                  <a:cs typeface="Times New Roman" pitchFamily="18" charset="0"/>
                </a:rPr>
                <a:t>away </a:t>
              </a:r>
              <a:r>
                <a:rPr lang="en-US" dirty="0">
                  <a:latin typeface="Times New Roman" pitchFamily="18" charset="0"/>
                  <a:cs typeface="Times New Roman" pitchFamily="18" charset="0"/>
                </a:rPr>
                <a:t>from the observer, it </a:t>
              </a:r>
              <a:r>
                <a:rPr lang="en-US" b="1" dirty="0">
                  <a:latin typeface="Times New Roman" pitchFamily="18" charset="0"/>
                  <a:cs typeface="Times New Roman" pitchFamily="18" charset="0"/>
                </a:rPr>
                <a:t>stretches</a:t>
              </a:r>
              <a:r>
                <a:rPr lang="en-US" dirty="0">
                  <a:latin typeface="Times New Roman" pitchFamily="18" charset="0"/>
                  <a:cs typeface="Times New Roman" pitchFamily="18" charset="0"/>
                </a:rPr>
                <a:t> the sound waves, </a:t>
              </a:r>
              <a:r>
                <a:rPr lang="en-US" b="1" dirty="0">
                  <a:latin typeface="Times New Roman" pitchFamily="18" charset="0"/>
                  <a:cs typeface="Times New Roman" pitchFamily="18" charset="0"/>
                </a:rPr>
                <a:t>increasing the </a:t>
              </a:r>
              <a:r>
                <a:rPr lang="en-US" b="1" dirty="0" smtClean="0">
                  <a:latin typeface="Times New Roman" pitchFamily="18" charset="0"/>
                  <a:cs typeface="Times New Roman" pitchFamily="18" charset="0"/>
                </a:rPr>
                <a:t>wavelength</a:t>
              </a:r>
              <a:r>
                <a:rPr lang="en-US" dirty="0" smtClean="0">
                  <a:latin typeface="Times New Roman" pitchFamily="18" charset="0"/>
                  <a:cs typeface="Times New Roman" pitchFamily="18" charset="0"/>
                </a:rPr>
                <a:t>,</a:t>
              </a:r>
            </a:p>
            <a:p>
              <a:endParaRPr lang="en-US" dirty="0"/>
            </a:p>
          </p:txBody>
        </p:sp>
        <mc:AlternateContent xmlns:mc="http://schemas.openxmlformats.org/markup-compatibility/2006" xmlns:a14="http://schemas.microsoft.com/office/drawing/2010/main">
          <mc:Choice Requires="a14">
            <p:sp>
              <p:nvSpPr>
                <p:cNvPr id="9" name="TextBox 8"/>
                <p:cNvSpPr txBox="1"/>
                <p:nvPr/>
              </p:nvSpPr>
              <p:spPr>
                <a:xfrm>
                  <a:off x="2895600" y="3077930"/>
                  <a:ext cx="4953000" cy="829201"/>
                </a:xfrm>
                <a:prstGeom prst="rect">
                  <a:avLst/>
                </a:prstGeom>
                <a:noFill/>
              </p:spPr>
              <p:txBody>
                <a:bodyPr wrap="square" rtlCol="0">
                  <a:spAutoFit/>
                </a:bodyPr>
                <a:lstStyle/>
                <a:p>
                  <a:r>
                    <a:rPr lang="el-GR" b="1" dirty="0">
                      <a:latin typeface="Times New Roman" pitchFamily="18" charset="0"/>
                      <a:cs typeface="Times New Roman" pitchFamily="18" charset="0"/>
                    </a:rPr>
                    <a:t>λ</a:t>
                  </a:r>
                  <a:r>
                    <a:rPr lang="en-US" b="1" baseline="-25000" dirty="0">
                      <a:latin typeface="Times New Roman" pitchFamily="18" charset="0"/>
                      <a:cs typeface="Times New Roman" pitchFamily="18" charset="0"/>
                    </a:rPr>
                    <a:t>e</a:t>
                  </a:r>
                  <a:r>
                    <a:rPr lang="en-US" b="1" dirty="0">
                      <a:latin typeface="Times New Roman" pitchFamily="18" charset="0"/>
                      <a:cs typeface="Times New Roman" pitchFamily="18" charset="0"/>
                    </a:rPr>
                    <a:t>= </a:t>
                  </a:r>
                  <a:r>
                    <a:rPr lang="en-US" b="1" dirty="0" err="1">
                      <a:latin typeface="Times New Roman" pitchFamily="18" charset="0"/>
                      <a:cs typeface="Times New Roman" pitchFamily="18" charset="0"/>
                    </a:rPr>
                    <a:t>v</a:t>
                  </a:r>
                  <a:r>
                    <a:rPr lang="en-US" b="1" dirty="0" err="1" smtClean="0">
                      <a:latin typeface="Times New Roman" pitchFamily="18" charset="0"/>
                      <a:cs typeface="Times New Roman" pitchFamily="18" charset="0"/>
                    </a:rPr>
                    <a:t>T</a:t>
                  </a:r>
                  <a:r>
                    <a:rPr lang="en-US" b="1" dirty="0" smtClean="0">
                      <a:latin typeface="Times New Roman" pitchFamily="18" charset="0"/>
                      <a:cs typeface="Times New Roman" pitchFamily="18" charset="0"/>
                    </a:rPr>
                    <a:t> + </a:t>
                  </a:r>
                  <a:r>
                    <a:rPr lang="en-US" b="1" dirty="0" err="1" smtClean="0">
                      <a:latin typeface="Times New Roman" pitchFamily="18" charset="0"/>
                      <a:cs typeface="Times New Roman" pitchFamily="18" charset="0"/>
                    </a:rPr>
                    <a:t>v</a:t>
                  </a:r>
                  <a:r>
                    <a:rPr lang="en-US" b="1" baseline="-25000" dirty="0" err="1" smtClean="0">
                      <a:latin typeface="Times New Roman" pitchFamily="18" charset="0"/>
                      <a:cs typeface="Times New Roman" pitchFamily="18" charset="0"/>
                    </a:rPr>
                    <a:t>s</a:t>
                  </a:r>
                  <a:r>
                    <a:rPr lang="en-US" b="1" dirty="0" err="1" smtClean="0">
                      <a:latin typeface="Times New Roman" pitchFamily="18" charset="0"/>
                      <a:cs typeface="Times New Roman" pitchFamily="18" charset="0"/>
                    </a:rPr>
                    <a:t>T</a:t>
                  </a:r>
                  <a:endParaRPr lang="en-US" b="1" dirty="0">
                    <a:latin typeface="Times New Roman" pitchFamily="18" charset="0"/>
                    <a:cs typeface="Times New Roman" pitchFamily="18" charset="0"/>
                  </a:endParaRPr>
                </a:p>
                <a:p>
                  <a:r>
                    <a:rPr lang="el-GR" b="1" dirty="0">
                      <a:latin typeface="Times New Roman" pitchFamily="18" charset="0"/>
                      <a:cs typeface="Times New Roman" pitchFamily="18" charset="0"/>
                    </a:rPr>
                    <a:t>λ</a:t>
                  </a:r>
                  <a:r>
                    <a:rPr lang="en-US" b="1" baseline="-25000" dirty="0">
                      <a:latin typeface="Times New Roman" pitchFamily="18" charset="0"/>
                      <a:cs typeface="Times New Roman" pitchFamily="18" charset="0"/>
                    </a:rPr>
                    <a:t>e</a:t>
                  </a:r>
                  <a:r>
                    <a:rPr lang="en-US" b="1" dirty="0">
                      <a:latin typeface="Times New Roman" pitchFamily="18" charset="0"/>
                      <a:cs typeface="Times New Roman" pitchFamily="18" charset="0"/>
                    </a:rPr>
                    <a:t>= </a:t>
                  </a:r>
                  <a14:m>
                    <m:oMath xmlns:m="http://schemas.openxmlformats.org/officeDocument/2006/math">
                      <m:f>
                        <m:fPr>
                          <m:ctrlPr>
                            <a:rPr lang="en-US" b="1" i="1" dirty="0">
                              <a:latin typeface="Cambria Math"/>
                              <a:cs typeface="Times New Roman" pitchFamily="18" charset="0"/>
                            </a:rPr>
                          </m:ctrlPr>
                        </m:fPr>
                        <m:num>
                          <m:r>
                            <m:rPr>
                              <m:nor/>
                            </m:rPr>
                            <a:rPr lang="en-US" b="1" i="0" dirty="0" smtClean="0">
                              <a:latin typeface="Cambria Math"/>
                              <a:cs typeface="Times New Roman" pitchFamily="18" charset="0"/>
                            </a:rPr>
                            <m:t>v</m:t>
                          </m:r>
                          <m:r>
                            <m:rPr>
                              <m:nor/>
                            </m:rPr>
                            <a:rPr lang="en-US" b="1" dirty="0">
                              <a:latin typeface="Times New Roman" pitchFamily="18" charset="0"/>
                              <a:cs typeface="Times New Roman" pitchFamily="18" charset="0"/>
                            </a:rPr>
                            <m:t> </m:t>
                          </m:r>
                          <m:r>
                            <m:rPr>
                              <m:nor/>
                            </m:rPr>
                            <a:rPr lang="en-US" b="1" i="0" dirty="0" smtClean="0">
                              <a:latin typeface="Times New Roman" pitchFamily="18" charset="0"/>
                              <a:cs typeface="Times New Roman" pitchFamily="18" charset="0"/>
                            </a:rPr>
                            <m:t>+</m:t>
                          </m:r>
                          <m:r>
                            <m:rPr>
                              <m:nor/>
                            </m:rPr>
                            <a:rPr lang="en-US" b="1" dirty="0">
                              <a:latin typeface="Times New Roman" pitchFamily="18" charset="0"/>
                              <a:cs typeface="Times New Roman" pitchFamily="18" charset="0"/>
                            </a:rPr>
                            <m:t> </m:t>
                          </m:r>
                          <m:r>
                            <m:rPr>
                              <m:nor/>
                            </m:rPr>
                            <a:rPr lang="en-US" b="1" i="0" dirty="0" smtClean="0">
                              <a:latin typeface="Times New Roman" pitchFamily="18" charset="0"/>
                              <a:cs typeface="Times New Roman" pitchFamily="18" charset="0"/>
                            </a:rPr>
                            <m:t>v</m:t>
                          </m:r>
                          <m:r>
                            <m:rPr>
                              <m:nor/>
                            </m:rPr>
                            <a:rPr lang="en-US" b="1" baseline="-25000" dirty="0">
                              <a:latin typeface="Times New Roman" pitchFamily="18" charset="0"/>
                              <a:cs typeface="Times New Roman" pitchFamily="18" charset="0"/>
                            </a:rPr>
                            <m:t>s</m:t>
                          </m:r>
                          <m:r>
                            <m:rPr>
                              <m:nor/>
                            </m:rPr>
                            <a:rPr lang="en-US" b="1" dirty="0">
                              <a:latin typeface="Times New Roman" pitchFamily="18" charset="0"/>
                              <a:cs typeface="Times New Roman" pitchFamily="18" charset="0"/>
                            </a:rPr>
                            <m:t> </m:t>
                          </m:r>
                        </m:num>
                        <m:den>
                          <m:r>
                            <a:rPr lang="en-US" b="1" i="1" dirty="0">
                              <a:latin typeface="Cambria Math"/>
                              <a:cs typeface="Times New Roman" pitchFamily="18" charset="0"/>
                            </a:rPr>
                            <m:t>𝒇</m:t>
                          </m:r>
                        </m:den>
                      </m:f>
                    </m:oMath>
                  </a14:m>
                  <a:endParaRPr lang="en-US" b="1" dirty="0">
                    <a:latin typeface="Times New Roman" pitchFamily="18" charset="0"/>
                    <a:cs typeface="Times New Roman" pitchFamily="18" charset="0"/>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2895600" y="3077930"/>
                  <a:ext cx="4953000" cy="829201"/>
                </a:xfrm>
                <a:prstGeom prst="rect">
                  <a:avLst/>
                </a:prstGeom>
                <a:blipFill rotWithShape="1">
                  <a:blip r:embed="rId5"/>
                  <a:stretch>
                    <a:fillRect l="-984" t="-3676" b="-3676"/>
                  </a:stretch>
                </a:blipFill>
              </p:spPr>
              <p:txBody>
                <a:bodyPr/>
                <a:lstStyle/>
                <a:p>
                  <a:r>
                    <a:rPr lang="en-US">
                      <a:noFill/>
                    </a:rPr>
                    <a:t> </a:t>
                  </a:r>
                </a:p>
              </p:txBody>
            </p:sp>
          </mc:Fallback>
        </mc:AlternateContent>
        <p:sp>
          <p:nvSpPr>
            <p:cNvPr id="10" name="TextBox 9"/>
            <p:cNvSpPr txBox="1"/>
            <p:nvPr/>
          </p:nvSpPr>
          <p:spPr>
            <a:xfrm>
              <a:off x="167484" y="3868796"/>
              <a:ext cx="7833516" cy="646331"/>
            </a:xfrm>
            <a:prstGeom prst="rect">
              <a:avLst/>
            </a:prstGeom>
            <a:noFill/>
          </p:spPr>
          <p:txBody>
            <a:bodyPr wrap="square" rtlCol="0">
              <a:spAutoFit/>
            </a:bodyPr>
            <a:lstStyle/>
            <a:p>
              <a:r>
                <a:rPr lang="en-US" dirty="0" smtClean="0">
                  <a:latin typeface="Times New Roman" pitchFamily="18" charset="0"/>
                  <a:cs typeface="Times New Roman" pitchFamily="18" charset="0"/>
                </a:rPr>
                <a:t>The </a:t>
              </a:r>
              <a:r>
                <a:rPr lang="en-US" dirty="0">
                  <a:latin typeface="Times New Roman" pitchFamily="18" charset="0"/>
                  <a:cs typeface="Times New Roman" pitchFamily="18" charset="0"/>
                </a:rPr>
                <a:t>observer moves </a:t>
              </a:r>
              <a:r>
                <a:rPr lang="en-US" b="1" dirty="0">
                  <a:latin typeface="Times New Roman" pitchFamily="18" charset="0"/>
                  <a:cs typeface="Times New Roman" pitchFamily="18" charset="0"/>
                </a:rPr>
                <a:t>away from</a:t>
              </a:r>
              <a:r>
                <a:rPr lang="en-US" dirty="0">
                  <a:latin typeface="Times New Roman" pitchFamily="18" charset="0"/>
                  <a:cs typeface="Times New Roman" pitchFamily="18" charset="0"/>
                </a:rPr>
                <a:t> the incoming waves, so the effective speed of waves relative to the observer </a:t>
              </a:r>
              <a:r>
                <a:rPr lang="en-US" b="1" dirty="0" smtClean="0">
                  <a:latin typeface="Times New Roman" pitchFamily="18" charset="0"/>
                  <a:cs typeface="Times New Roman" pitchFamily="18" charset="0"/>
                </a:rPr>
                <a:t>decreases</a:t>
              </a:r>
              <a:r>
                <a:rPr lang="en-US" dirty="0" smtClean="0">
                  <a:latin typeface="Times New Roman" pitchFamily="18" charset="0"/>
                  <a:cs typeface="Times New Roman" pitchFamily="18" charset="0"/>
                </a:rPr>
                <a:t>,</a:t>
              </a:r>
              <a:endParaRPr lang="en-US" dirty="0">
                <a:latin typeface="Times New Roman" pitchFamily="18" charset="0"/>
                <a:cs typeface="Times New Roman" pitchFamily="18" charset="0"/>
              </a:endParaRPr>
            </a:p>
          </p:txBody>
        </p:sp>
        <p:sp>
          <p:nvSpPr>
            <p:cNvPr id="11" name="TextBox 10"/>
            <p:cNvSpPr txBox="1"/>
            <p:nvPr/>
          </p:nvSpPr>
          <p:spPr>
            <a:xfrm>
              <a:off x="214293" y="4532530"/>
              <a:ext cx="3033226" cy="369332"/>
            </a:xfrm>
            <a:prstGeom prst="rect">
              <a:avLst/>
            </a:prstGeom>
            <a:noFill/>
          </p:spPr>
          <p:txBody>
            <a:bodyPr wrap="square" rtlCol="0">
              <a:spAutoFit/>
            </a:bodyPr>
            <a:lstStyle/>
            <a:p>
              <a:r>
                <a:rPr lang="en-US" dirty="0">
                  <a:latin typeface="Times New Roman" pitchFamily="18" charset="0"/>
                  <a:cs typeface="Times New Roman" pitchFamily="18" charset="0"/>
                </a:rPr>
                <a:t>Apparent frequency </a:t>
              </a:r>
              <a:r>
                <a:rPr lang="en-US" dirty="0" smtClean="0">
                  <a:latin typeface="Times New Roman" pitchFamily="18" charset="0"/>
                  <a:cs typeface="Times New Roman" pitchFamily="18" charset="0"/>
                </a:rPr>
                <a:t>heard,</a:t>
              </a:r>
              <a:endParaRPr lang="en-US" dirty="0">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12" name="TextBox 11"/>
                <p:cNvSpPr txBox="1"/>
                <p:nvPr/>
              </p:nvSpPr>
              <p:spPr>
                <a:xfrm>
                  <a:off x="2905086" y="4935666"/>
                  <a:ext cx="2506980" cy="468270"/>
                </a:xfrm>
                <a:prstGeom prst="rect">
                  <a:avLst/>
                </a:prstGeom>
                <a:noFill/>
              </p:spPr>
              <p:txBody>
                <a:bodyPr wrap="square" rtlCol="0">
                  <a:spAutoFit/>
                </a:bodyPr>
                <a:lstStyle/>
                <a:p>
                  <a:r>
                    <a:rPr lang="en-US" b="1" dirty="0">
                      <a:latin typeface="Times New Roman" pitchFamily="18" charset="0"/>
                      <a:cs typeface="Times New Roman" pitchFamily="18" charset="0"/>
                    </a:rPr>
                    <a:t>f '= </a:t>
                  </a:r>
                  <a14:m>
                    <m:oMath xmlns:m="http://schemas.openxmlformats.org/officeDocument/2006/math">
                      <m:f>
                        <m:fPr>
                          <m:ctrlPr>
                            <a:rPr lang="en-US" b="1" i="1">
                              <a:latin typeface="Cambria Math"/>
                            </a:rPr>
                          </m:ctrlPr>
                        </m:fPr>
                        <m:num>
                          <m:r>
                            <a:rPr lang="en-US" b="1" i="1">
                              <a:latin typeface="Cambria Math"/>
                            </a:rPr>
                            <m:t>𝒗</m:t>
                          </m:r>
                          <m:r>
                            <a:rPr lang="en-US" b="1" i="1">
                              <a:latin typeface="Cambria Math"/>
                            </a:rPr>
                            <m:t>′</m:t>
                          </m:r>
                        </m:num>
                        <m:den>
                          <m:r>
                            <m:rPr>
                              <m:nor/>
                            </m:rPr>
                            <a:rPr lang="el-GR" b="1" dirty="0">
                              <a:latin typeface="Times New Roman" pitchFamily="18" charset="0"/>
                              <a:cs typeface="Times New Roman" pitchFamily="18" charset="0"/>
                            </a:rPr>
                            <m:t>λ</m:t>
                          </m:r>
                          <m:r>
                            <m:rPr>
                              <m:nor/>
                            </m:rPr>
                            <a:rPr lang="en-US" b="1" dirty="0">
                              <a:latin typeface="Times New Roman" pitchFamily="18" charset="0"/>
                              <a:cs typeface="Times New Roman" pitchFamily="18" charset="0"/>
                            </a:rPr>
                            <m:t>e</m:t>
                          </m:r>
                        </m:den>
                      </m:f>
                    </m:oMath>
                  </a14:m>
                  <a:endParaRPr lang="en-US" b="1" dirty="0"/>
                </a:p>
              </p:txBody>
            </p:sp>
          </mc:Choice>
          <mc:Fallback xmlns="">
            <p:sp>
              <p:nvSpPr>
                <p:cNvPr id="12" name="TextBox 11"/>
                <p:cNvSpPr txBox="1">
                  <a:spLocks noRot="1" noChangeAspect="1" noMove="1" noResize="1" noEditPoints="1" noAdjustHandles="1" noChangeArrowheads="1" noChangeShapeType="1" noTextEdit="1"/>
                </p:cNvSpPr>
                <p:nvPr/>
              </p:nvSpPr>
              <p:spPr>
                <a:xfrm>
                  <a:off x="2905086" y="4935666"/>
                  <a:ext cx="2506980" cy="468270"/>
                </a:xfrm>
                <a:prstGeom prst="rect">
                  <a:avLst/>
                </a:prstGeom>
                <a:blipFill rotWithShape="1">
                  <a:blip r:embed="rId6"/>
                  <a:stretch>
                    <a:fillRect l="-2190" b="-9211"/>
                  </a:stretch>
                </a:blipFill>
              </p:spPr>
              <p:txBody>
                <a:bodyPr/>
                <a:lstStyle/>
                <a:p>
                  <a:r>
                    <a:rPr lang="en-US">
                      <a:noFill/>
                    </a:rPr>
                    <a:t> </a:t>
                  </a:r>
                </a:p>
              </p:txBody>
            </p:sp>
          </mc:Fallback>
        </mc:AlternateContent>
        <p:sp>
          <p:nvSpPr>
            <p:cNvPr id="13" name="TextBox 12"/>
            <p:cNvSpPr txBox="1"/>
            <p:nvPr/>
          </p:nvSpPr>
          <p:spPr>
            <a:xfrm>
              <a:off x="276187" y="5197907"/>
              <a:ext cx="3246042" cy="369332"/>
            </a:xfrm>
            <a:prstGeom prst="rect">
              <a:avLst/>
            </a:prstGeom>
            <a:noFill/>
          </p:spPr>
          <p:txBody>
            <a:bodyPr wrap="square" rtlCol="0">
              <a:spAutoFit/>
            </a:bodyPr>
            <a:lstStyle/>
            <a:p>
              <a:r>
                <a:rPr lang="en-US" dirty="0" smtClean="0">
                  <a:latin typeface="Times New Roman" pitchFamily="18" charset="0"/>
                  <a:cs typeface="Times New Roman" pitchFamily="18" charset="0"/>
                </a:rPr>
                <a:t>Substituting values,</a:t>
              </a:r>
            </a:p>
          </p:txBody>
        </p:sp>
        <mc:AlternateContent xmlns:mc="http://schemas.openxmlformats.org/markup-compatibility/2006" xmlns:a14="http://schemas.microsoft.com/office/drawing/2010/main">
          <mc:Choice Requires="a14">
            <p:sp>
              <p:nvSpPr>
                <p:cNvPr id="14" name="TextBox 13"/>
                <p:cNvSpPr txBox="1"/>
                <p:nvPr/>
              </p:nvSpPr>
              <p:spPr>
                <a:xfrm>
                  <a:off x="3733800" y="5666792"/>
                  <a:ext cx="2667000" cy="783869"/>
                </a:xfrm>
                <a:prstGeom prst="rect">
                  <a:avLst/>
                </a:prstGeom>
                <a:noFill/>
              </p:spPr>
              <p:txBody>
                <a:bodyPr wrap="square" rtlCol="0">
                  <a:spAutoFit/>
                </a:bodyPr>
                <a:lstStyle/>
                <a:p>
                  <a:r>
                    <a:rPr lang="en-US" b="1" dirty="0" smtClean="0">
                      <a:latin typeface="Times New Roman" pitchFamily="18" charset="0"/>
                      <a:cs typeface="Times New Roman" pitchFamily="18" charset="0"/>
                    </a:rPr>
                    <a:t>f ' = </a:t>
                  </a:r>
                  <a14:m>
                    <m:oMath xmlns:m="http://schemas.openxmlformats.org/officeDocument/2006/math">
                      <m:d>
                        <m:dPr>
                          <m:ctrlPr>
                            <a:rPr lang="en-US" b="1" i="1">
                              <a:latin typeface="Cambria Math"/>
                            </a:rPr>
                          </m:ctrlPr>
                        </m:dPr>
                        <m:e>
                          <m:r>
                            <a:rPr lang="en-US" b="1">
                              <a:latin typeface="Cambria Math"/>
                            </a:rPr>
                            <m:t> </m:t>
                          </m:r>
                          <m:f>
                            <m:fPr>
                              <m:ctrlPr>
                                <a:rPr lang="en-US" b="1" i="1">
                                  <a:latin typeface="Cambria Math"/>
                                </a:rPr>
                              </m:ctrlPr>
                            </m:fPr>
                            <m:num>
                              <m:r>
                                <a:rPr lang="en-US" b="1" i="1" dirty="0">
                                  <a:latin typeface="Cambria Math"/>
                                  <a:cs typeface="Times New Roman" pitchFamily="18" charset="0"/>
                                </a:rPr>
                                <m:t>𝒗</m:t>
                              </m:r>
                              <m:r>
                                <a:rPr lang="en-US" b="1" i="1" dirty="0" smtClean="0">
                                  <a:latin typeface="Cambria Math"/>
                                  <a:cs typeface="Times New Roman" pitchFamily="18" charset="0"/>
                                </a:rPr>
                                <m:t>−</m:t>
                              </m:r>
                              <m:r>
                                <a:rPr lang="en-US" b="1" i="1" dirty="0">
                                  <a:latin typeface="Cambria Math"/>
                                  <a:cs typeface="Times New Roman" pitchFamily="18" charset="0"/>
                                </a:rPr>
                                <m:t>𝒗</m:t>
                              </m:r>
                              <m:r>
                                <a:rPr lang="en-US" b="1" i="1" dirty="0">
                                  <a:latin typeface="Cambria Math"/>
                                  <a:cs typeface="Times New Roman" pitchFamily="18" charset="0"/>
                                </a:rPr>
                                <m:t>₀</m:t>
                              </m:r>
                            </m:num>
                            <m:den>
                              <m:r>
                                <m:rPr>
                                  <m:nor/>
                                </m:rPr>
                                <a:rPr lang="en-US" b="1" i="0" dirty="0" smtClean="0">
                                  <a:latin typeface="Cambria Math"/>
                                  <a:cs typeface="Times New Roman" pitchFamily="18" charset="0"/>
                                </a:rPr>
                                <m:t>v</m:t>
                              </m:r>
                              <m:r>
                                <m:rPr>
                                  <m:nor/>
                                </m:rPr>
                                <a:rPr lang="en-US" b="1" i="0" dirty="0" smtClean="0">
                                  <a:latin typeface="Cambria Math"/>
                                  <a:cs typeface="Times New Roman" pitchFamily="18" charset="0"/>
                                </a:rPr>
                                <m:t>+</m:t>
                              </m:r>
                              <m:r>
                                <m:rPr>
                                  <m:nor/>
                                </m:rPr>
                                <a:rPr lang="en-US" b="1" i="0" dirty="0" smtClean="0">
                                  <a:latin typeface="Times New Roman" pitchFamily="18" charset="0"/>
                                  <a:cs typeface="Times New Roman" pitchFamily="18" charset="0"/>
                                </a:rPr>
                                <m:t>v</m:t>
                              </m:r>
                              <m:r>
                                <m:rPr>
                                  <m:nor/>
                                </m:rPr>
                                <a:rPr lang="en-US" b="1" baseline="-25000" dirty="0" smtClean="0">
                                  <a:latin typeface="Times New Roman" pitchFamily="18" charset="0"/>
                                  <a:cs typeface="Times New Roman" pitchFamily="18" charset="0"/>
                                </a:rPr>
                                <m:t>s</m:t>
                              </m:r>
                            </m:den>
                          </m:f>
                        </m:e>
                      </m:d>
                    </m:oMath>
                  </a14:m>
                  <a:r>
                    <a:rPr lang="en-US" b="1" dirty="0">
                      <a:latin typeface="Times New Roman" pitchFamily="18" charset="0"/>
                      <a:cs typeface="Times New Roman" pitchFamily="18" charset="0"/>
                    </a:rPr>
                    <a:t>f</a:t>
                  </a:r>
                </a:p>
                <a:p>
                  <a:endParaRPr lang="en-US" dirty="0"/>
                </a:p>
              </p:txBody>
            </p:sp>
          </mc:Choice>
          <mc:Fallback xmlns="">
            <p:sp>
              <p:nvSpPr>
                <p:cNvPr id="14" name="TextBox 13"/>
                <p:cNvSpPr txBox="1">
                  <a:spLocks noRot="1" noChangeAspect="1" noMove="1" noResize="1" noEditPoints="1" noAdjustHandles="1" noChangeArrowheads="1" noChangeShapeType="1" noTextEdit="1"/>
                </p:cNvSpPr>
                <p:nvPr/>
              </p:nvSpPr>
              <p:spPr>
                <a:xfrm>
                  <a:off x="3733800" y="5666792"/>
                  <a:ext cx="2667000" cy="783869"/>
                </a:xfrm>
                <a:prstGeom prst="rect">
                  <a:avLst/>
                </a:prstGeom>
                <a:blipFill rotWithShape="1">
                  <a:blip r:embed="rId7"/>
                  <a:stretch>
                    <a:fillRect l="-2059" b="-1171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p:cNvSpPr txBox="1"/>
                <p:nvPr/>
              </p:nvSpPr>
              <p:spPr>
                <a:xfrm>
                  <a:off x="4158576" y="4145795"/>
                  <a:ext cx="3337560" cy="369332"/>
                </a:xfrm>
                <a:prstGeom prst="rect">
                  <a:avLst/>
                </a:prstGeom>
                <a:noFill/>
              </p:spPr>
              <p:txBody>
                <a:bodyPr wrap="square" rtlCol="0">
                  <a:spAutoFit/>
                </a:bodyPr>
                <a:lstStyle/>
                <a:p>
                  <a14:m>
                    <m:oMath xmlns:m="http://schemas.openxmlformats.org/officeDocument/2006/math">
                      <m:r>
                        <a:rPr lang="en-US" b="0" i="1" smtClean="0">
                          <a:latin typeface="Cambria Math"/>
                        </a:rPr>
                        <m:t> </m:t>
                      </m:r>
                      <m:r>
                        <a:rPr lang="en-US" b="1" i="1">
                          <a:latin typeface="Cambria Math"/>
                        </a:rPr>
                        <m:t>𝒗</m:t>
                      </m:r>
                      <m:r>
                        <a:rPr lang="en-US" b="1" i="1">
                          <a:latin typeface="Cambria Math"/>
                        </a:rPr>
                        <m:t>′</m:t>
                      </m:r>
                    </m:oMath>
                  </a14:m>
                  <a:r>
                    <a:rPr lang="en-US" b="1" dirty="0">
                      <a:latin typeface="Times New Roman" pitchFamily="18" charset="0"/>
                      <a:cs typeface="Times New Roman" pitchFamily="18" charset="0"/>
                    </a:rPr>
                    <a:t>= </a:t>
                  </a:r>
                  <a14:m>
                    <m:oMath xmlns:m="http://schemas.openxmlformats.org/officeDocument/2006/math">
                      <m:r>
                        <a:rPr lang="en-US" b="1" i="1" dirty="0">
                          <a:latin typeface="Cambria Math"/>
                          <a:cs typeface="Times New Roman" pitchFamily="18" charset="0"/>
                        </a:rPr>
                        <m:t>𝒗</m:t>
                      </m:r>
                      <m:r>
                        <a:rPr lang="en-US" b="1" i="1" dirty="0" smtClean="0">
                          <a:latin typeface="Cambria Math"/>
                          <a:cs typeface="Times New Roman" pitchFamily="18" charset="0"/>
                        </a:rPr>
                        <m:t>−</m:t>
                      </m:r>
                      <m:r>
                        <a:rPr lang="en-US" b="1" i="1" dirty="0">
                          <a:latin typeface="Cambria Math"/>
                          <a:cs typeface="Times New Roman" pitchFamily="18" charset="0"/>
                        </a:rPr>
                        <m:t>𝒗</m:t>
                      </m:r>
                      <m:r>
                        <a:rPr lang="en-US" b="1" i="1" dirty="0">
                          <a:latin typeface="Cambria Math"/>
                          <a:cs typeface="Times New Roman" pitchFamily="18" charset="0"/>
                        </a:rPr>
                        <m:t>₀</m:t>
                      </m:r>
                    </m:oMath>
                  </a14:m>
                  <a:endParaRPr lang="en-US" b="1" dirty="0"/>
                </a:p>
              </p:txBody>
            </p:sp>
          </mc:Choice>
          <mc:Fallback xmlns="">
            <p:sp>
              <p:nvSpPr>
                <p:cNvPr id="15" name="TextBox 14"/>
                <p:cNvSpPr txBox="1">
                  <a:spLocks noRot="1" noChangeAspect="1" noMove="1" noResize="1" noEditPoints="1" noAdjustHandles="1" noChangeArrowheads="1" noChangeShapeType="1" noTextEdit="1"/>
                </p:cNvSpPr>
                <p:nvPr/>
              </p:nvSpPr>
              <p:spPr>
                <a:xfrm>
                  <a:off x="4158576" y="4145795"/>
                  <a:ext cx="3337560" cy="369332"/>
                </a:xfrm>
                <a:prstGeom prst="rect">
                  <a:avLst/>
                </a:prstGeom>
                <a:blipFill rotWithShape="1">
                  <a:blip r:embed="rId8"/>
                  <a:stretch>
                    <a:fillRect t="-9836" b="-24590"/>
                  </a:stretch>
                </a:blipFill>
              </p:spPr>
              <p:txBody>
                <a:bodyPr/>
                <a:lstStyle/>
                <a:p>
                  <a:r>
                    <a:rPr lang="en-US">
                      <a:noFill/>
                    </a:rPr>
                    <a:t> </a:t>
                  </a:r>
                </a:p>
              </p:txBody>
            </p:sp>
          </mc:Fallback>
        </mc:AlternateContent>
        <p:sp>
          <p:nvSpPr>
            <p:cNvPr id="2" name="Rectangle 1"/>
            <p:cNvSpPr/>
            <p:nvPr/>
          </p:nvSpPr>
          <p:spPr>
            <a:xfrm>
              <a:off x="3505200" y="713388"/>
              <a:ext cx="4572000" cy="1754326"/>
            </a:xfrm>
            <a:prstGeom prst="rect">
              <a:avLst/>
            </a:prstGeom>
          </p:spPr>
          <p:txBody>
            <a:bodyPr>
              <a:spAutoFit/>
            </a:bodyPr>
            <a:lstStyle/>
            <a:p>
              <a:pPr algn="just"/>
              <a:r>
                <a:rPr lang="en-US" dirty="0">
                  <a:latin typeface="Times New Roman" pitchFamily="18" charset="0"/>
                  <a:cs typeface="Times New Roman" pitchFamily="18" charset="0"/>
                </a:rPr>
                <a:t>When both the source and the observer move away from each other, the observer meets sound waves slower than normal. The waves become more </a:t>
              </a:r>
              <a:r>
                <a:rPr lang="en-US" b="1" dirty="0">
                  <a:latin typeface="Times New Roman" pitchFamily="18" charset="0"/>
                  <a:cs typeface="Times New Roman" pitchFamily="18" charset="0"/>
                </a:rPr>
                <a:t>stretched out</a:t>
              </a:r>
              <a:r>
                <a:rPr lang="en-US" dirty="0">
                  <a:latin typeface="Times New Roman" pitchFamily="18" charset="0"/>
                  <a:cs typeface="Times New Roman" pitchFamily="18" charset="0"/>
                </a:rPr>
                <a:t>, so the apparent frequency becomes </a:t>
              </a:r>
              <a:r>
                <a:rPr lang="en-US" b="1" dirty="0">
                  <a:latin typeface="Times New Roman" pitchFamily="18" charset="0"/>
                  <a:cs typeface="Times New Roman" pitchFamily="18" charset="0"/>
                </a:rPr>
                <a:t>lower than the actual frequency</a:t>
              </a:r>
              <a:r>
                <a:rPr lang="en-US" dirty="0">
                  <a:latin typeface="Times New Roman" pitchFamily="18" charset="0"/>
                  <a:cs typeface="Times New Roman" pitchFamily="18" charset="0"/>
                </a:rPr>
                <a:t>.</a:t>
              </a:r>
            </a:p>
          </p:txBody>
        </p:sp>
        <p:sp>
          <p:nvSpPr>
            <p:cNvPr id="17" name="TextBox 16"/>
            <p:cNvSpPr txBox="1"/>
            <p:nvPr/>
          </p:nvSpPr>
          <p:spPr>
            <a:xfrm>
              <a:off x="256941" y="5752427"/>
              <a:ext cx="3733800" cy="369332"/>
            </a:xfrm>
            <a:prstGeom prst="rect">
              <a:avLst/>
            </a:prstGeom>
            <a:noFill/>
          </p:spPr>
          <p:txBody>
            <a:bodyPr wrap="square" rtlCol="0">
              <a:spAutoFit/>
            </a:bodyPr>
            <a:lstStyle/>
            <a:p>
              <a:r>
                <a:rPr lang="en-US" dirty="0" smtClean="0">
                  <a:latin typeface="Times New Roman" pitchFamily="18" charset="0"/>
                  <a:cs typeface="Times New Roman" pitchFamily="18" charset="0"/>
                </a:rPr>
                <a:t>The apparent frequency of sound is,</a:t>
              </a:r>
              <a:endParaRPr lang="en-US" dirty="0">
                <a:latin typeface="Times New Roman" pitchFamily="18" charset="0"/>
                <a:cs typeface="Times New Roman" pitchFamily="18" charset="0"/>
              </a:endParaRPr>
            </a:p>
          </p:txBody>
        </p:sp>
      </p:grpSp>
      <p:sp>
        <p:nvSpPr>
          <p:cNvPr id="18" name="TextBox 17"/>
          <p:cNvSpPr txBox="1"/>
          <p:nvPr/>
        </p:nvSpPr>
        <p:spPr>
          <a:xfrm>
            <a:off x="152400" y="76200"/>
            <a:ext cx="1524000" cy="461665"/>
          </a:xfrm>
          <a:prstGeom prst="rect">
            <a:avLst/>
          </a:prstGeom>
          <a:noFill/>
        </p:spPr>
        <p:txBody>
          <a:bodyPr wrap="square" rtlCol="0">
            <a:spAutoFit/>
          </a:bodyPr>
          <a:lstStyle/>
          <a:p>
            <a:r>
              <a:rPr lang="en-US" sz="2400" b="1" dirty="0" smtClean="0">
                <a:solidFill>
                  <a:srgbClr val="002060"/>
                </a:solidFill>
                <a:latin typeface="Times New Roman" pitchFamily="18" charset="0"/>
                <a:cs typeface="Times New Roman" pitchFamily="18" charset="0"/>
              </a:rPr>
              <a:t>CASE </a:t>
            </a:r>
            <a:r>
              <a:rPr lang="en-US" sz="2400" b="1" dirty="0" smtClean="0">
                <a:solidFill>
                  <a:srgbClr val="002060"/>
                </a:solidFill>
                <a:latin typeface="Times New Roman" pitchFamily="18" charset="0"/>
                <a:cs typeface="Times New Roman" pitchFamily="18" charset="0"/>
              </a:rPr>
              <a:t>VI</a:t>
            </a:r>
            <a:r>
              <a:rPr lang="en-US" sz="2400" b="1" dirty="0" smtClean="0">
                <a:solidFill>
                  <a:srgbClr val="002060"/>
                </a:solidFill>
                <a:latin typeface="Times New Roman" pitchFamily="18" charset="0"/>
                <a:cs typeface="Times New Roman" pitchFamily="18" charset="0"/>
              </a:rPr>
              <a:t>:</a:t>
            </a:r>
            <a:endParaRPr lang="en-US" sz="2400" b="1" dirty="0">
              <a:solidFill>
                <a:srgbClr val="002060"/>
              </a:solidFill>
              <a:latin typeface="Times New Roman" pitchFamily="18" charset="0"/>
              <a:cs typeface="Times New Roman" pitchFamily="18" charset="0"/>
            </a:endParaRPr>
          </a:p>
        </p:txBody>
      </p:sp>
    </p:spTree>
    <p:extLst>
      <p:ext uri="{BB962C8B-B14F-4D97-AF65-F5344CB8AC3E}">
        <p14:creationId xmlns:p14="http://schemas.microsoft.com/office/powerpoint/2010/main" val="240870803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2400" y="76200"/>
            <a:ext cx="1828800" cy="461665"/>
          </a:xfrm>
          <a:prstGeom prst="rect">
            <a:avLst/>
          </a:prstGeom>
          <a:noFill/>
        </p:spPr>
        <p:txBody>
          <a:bodyPr wrap="square" rtlCol="0">
            <a:spAutoFit/>
          </a:bodyPr>
          <a:lstStyle/>
          <a:p>
            <a:r>
              <a:rPr lang="en-US" sz="2400" b="1" dirty="0" smtClean="0">
                <a:solidFill>
                  <a:srgbClr val="002060"/>
                </a:solidFill>
                <a:latin typeface="Times New Roman" pitchFamily="18" charset="0"/>
                <a:cs typeface="Times New Roman" pitchFamily="18" charset="0"/>
              </a:rPr>
              <a:t>CASE </a:t>
            </a:r>
            <a:r>
              <a:rPr lang="en-US" sz="2400" b="1" dirty="0" smtClean="0">
                <a:solidFill>
                  <a:srgbClr val="002060"/>
                </a:solidFill>
                <a:latin typeface="Times New Roman" pitchFamily="18" charset="0"/>
                <a:cs typeface="Times New Roman" pitchFamily="18" charset="0"/>
              </a:rPr>
              <a:t>VII</a:t>
            </a:r>
            <a:r>
              <a:rPr lang="en-US" sz="2400" b="1" dirty="0" smtClean="0">
                <a:solidFill>
                  <a:srgbClr val="002060"/>
                </a:solidFill>
                <a:latin typeface="Times New Roman" pitchFamily="18" charset="0"/>
                <a:cs typeface="Times New Roman" pitchFamily="18" charset="0"/>
              </a:rPr>
              <a:t>:</a:t>
            </a:r>
            <a:endParaRPr lang="en-US" sz="2400" b="1" dirty="0">
              <a:solidFill>
                <a:srgbClr val="002060"/>
              </a:solidFill>
              <a:latin typeface="Times New Roman" pitchFamily="18" charset="0"/>
              <a:cs typeface="Times New Roman" pitchFamily="18" charset="0"/>
            </a:endParaRPr>
          </a:p>
        </p:txBody>
      </p:sp>
      <p:sp>
        <p:nvSpPr>
          <p:cNvPr id="3" name="TextBox 2"/>
          <p:cNvSpPr txBox="1"/>
          <p:nvPr/>
        </p:nvSpPr>
        <p:spPr>
          <a:xfrm>
            <a:off x="24415" y="475985"/>
            <a:ext cx="5562600" cy="400110"/>
          </a:xfrm>
          <a:prstGeom prst="rect">
            <a:avLst/>
          </a:prstGeom>
          <a:noFill/>
        </p:spPr>
        <p:txBody>
          <a:bodyPr wrap="square" rtlCol="0">
            <a:spAutoFit/>
          </a:bodyPr>
          <a:lstStyle/>
          <a:p>
            <a:r>
              <a:rPr lang="en-US" dirty="0">
                <a:solidFill>
                  <a:srgbClr val="002060"/>
                </a:solidFill>
                <a:latin typeface="Times New Roman" pitchFamily="18" charset="0"/>
                <a:cs typeface="Times New Roman" pitchFamily="18" charset="0"/>
              </a:rPr>
              <a:t>1</a:t>
            </a:r>
            <a:r>
              <a:rPr lang="en-US" dirty="0" smtClean="0">
                <a:solidFill>
                  <a:srgbClr val="002060"/>
                </a:solidFill>
                <a:latin typeface="Times New Roman" pitchFamily="18" charset="0"/>
                <a:cs typeface="Times New Roman" pitchFamily="18" charset="0"/>
              </a:rPr>
              <a:t>. When the source  is followed by the  observer</a:t>
            </a:r>
            <a:r>
              <a:rPr lang="en-US" sz="2000" dirty="0" smtClean="0">
                <a:solidFill>
                  <a:srgbClr val="002060"/>
                </a:solidFill>
                <a:latin typeface="Times New Roman" pitchFamily="18" charset="0"/>
                <a:cs typeface="Times New Roman" pitchFamily="18" charset="0"/>
              </a:rPr>
              <a:t>.</a:t>
            </a:r>
            <a:endParaRPr lang="en-US" dirty="0" smtClean="0">
              <a:solidFill>
                <a:srgbClr val="002060"/>
              </a:solidFill>
              <a:latin typeface="Times New Roman" pitchFamily="18" charset="0"/>
              <a:cs typeface="Times New Roman" pitchFamily="18" charset="0"/>
            </a:endParaRPr>
          </a:p>
        </p:txBody>
      </p:sp>
      <p:pic>
        <p:nvPicPr>
          <p:cNvPr id="5" name="Picture 2" descr="Doppler Effect"/>
          <p:cNvPicPr>
            <a:picLocks noChangeAspect="1" noChangeArrowheads="1"/>
          </p:cNvPicPr>
          <p:nvPr/>
        </p:nvPicPr>
        <p:blipFill rotWithShape="1">
          <a:blip r:embed="rId2">
            <a:extLst>
              <a:ext uri="{28A0092B-C50C-407E-A947-70E740481C1C}">
                <a14:useLocalDpi xmlns:a14="http://schemas.microsoft.com/office/drawing/2010/main" val="0"/>
              </a:ext>
            </a:extLst>
          </a:blip>
          <a:srcRect l="57597" t="19361" r="-23" b="40645"/>
          <a:stretch/>
        </p:blipFill>
        <p:spPr bwMode="auto">
          <a:xfrm>
            <a:off x="192832" y="1670632"/>
            <a:ext cx="1146499" cy="42029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Exploring the Doppler Effect With NASA – Science Lesson | NASA JPL Education"/>
          <p:cNvPicPr>
            <a:picLocks noChangeAspect="1" noChangeArrowheads="1"/>
          </p:cNvPicPr>
          <p:nvPr/>
        </p:nvPicPr>
        <p:blipFill rotWithShape="1">
          <a:blip r:embed="rId3">
            <a:extLst>
              <a:ext uri="{28A0092B-C50C-407E-A947-70E740481C1C}">
                <a14:useLocalDpi xmlns:a14="http://schemas.microsoft.com/office/drawing/2010/main" val="0"/>
              </a:ext>
            </a:extLst>
          </a:blip>
          <a:srcRect l="71427" t="27971" r="16016" b="33968"/>
          <a:stretch/>
        </p:blipFill>
        <p:spPr bwMode="auto">
          <a:xfrm>
            <a:off x="482275" y="921550"/>
            <a:ext cx="468863" cy="712427"/>
          </a:xfrm>
          <a:prstGeom prst="rect">
            <a:avLst/>
          </a:prstGeom>
          <a:noFill/>
          <a:extLst>
            <a:ext uri="{909E8E84-426E-40DD-AFC4-6F175D3DCCD1}">
              <a14:hiddenFill xmlns:a14="http://schemas.microsoft.com/office/drawing/2010/main">
                <a:solidFill>
                  <a:srgbClr val="FFFFFF"/>
                </a:solidFill>
              </a14:hiddenFill>
            </a:ext>
          </a:extLst>
        </p:spPr>
      </p:pic>
      <p:grpSp>
        <p:nvGrpSpPr>
          <p:cNvPr id="11" name="Group 10"/>
          <p:cNvGrpSpPr/>
          <p:nvPr/>
        </p:nvGrpSpPr>
        <p:grpSpPr>
          <a:xfrm>
            <a:off x="1328445" y="876095"/>
            <a:ext cx="2058955" cy="1744326"/>
            <a:chOff x="1600200" y="816904"/>
            <a:chExt cx="2058955" cy="1744326"/>
          </a:xfrm>
        </p:grpSpPr>
        <p:pic>
          <p:nvPicPr>
            <p:cNvPr id="4" name="Picture 2" descr="The Doppler effect: From highly ridiculed to absolutely indispensable, Part  1"/>
            <p:cNvPicPr>
              <a:picLocks noChangeAspect="1" noChangeArrowheads="1"/>
            </p:cNvPicPr>
            <p:nvPr/>
          </p:nvPicPr>
          <p:blipFill rotWithShape="1">
            <a:blip r:embed="rId4">
              <a:extLst>
                <a:ext uri="{28A0092B-C50C-407E-A947-70E740481C1C}">
                  <a14:useLocalDpi xmlns:a14="http://schemas.microsoft.com/office/drawing/2010/main" val="0"/>
                </a:ext>
              </a:extLst>
            </a:blip>
            <a:srcRect l="36301" t="20112" r="36301" b="43115"/>
            <a:stretch/>
          </p:blipFill>
          <p:spPr bwMode="auto">
            <a:xfrm>
              <a:off x="1952275" y="816904"/>
              <a:ext cx="1706880" cy="1744326"/>
            </a:xfrm>
            <a:prstGeom prst="rect">
              <a:avLst/>
            </a:prstGeom>
            <a:noFill/>
            <a:extLst>
              <a:ext uri="{909E8E84-426E-40DD-AFC4-6F175D3DCCD1}">
                <a14:hiddenFill xmlns:a14="http://schemas.microsoft.com/office/drawing/2010/main">
                  <a:solidFill>
                    <a:srgbClr val="FFFFFF"/>
                  </a:solidFill>
                </a14:hiddenFill>
              </a:ext>
            </a:extLst>
          </p:spPr>
        </p:pic>
        <p:cxnSp>
          <p:nvCxnSpPr>
            <p:cNvPr id="8" name="Straight Arrow Connector 7"/>
            <p:cNvCxnSpPr/>
            <p:nvPr/>
          </p:nvCxnSpPr>
          <p:spPr>
            <a:xfrm flipH="1">
              <a:off x="1600200" y="2021633"/>
              <a:ext cx="573249" cy="0"/>
            </a:xfrm>
            <a:prstGeom prst="straightConnector1">
              <a:avLst/>
            </a:prstGeom>
            <a:ln w="28575">
              <a:solidFill>
                <a:srgbClr val="0070C0"/>
              </a:solidFill>
              <a:tailEnd type="arrow"/>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1672316" y="1721598"/>
              <a:ext cx="409186" cy="369332"/>
            </a:xfrm>
            <a:prstGeom prst="rect">
              <a:avLst/>
            </a:prstGeom>
            <a:noFill/>
          </p:spPr>
          <p:txBody>
            <a:bodyPr wrap="square" rtlCol="0">
              <a:spAutoFit/>
            </a:bodyPr>
            <a:lstStyle/>
            <a:p>
              <a:r>
                <a:rPr lang="en-US" b="1" dirty="0" smtClean="0">
                  <a:solidFill>
                    <a:srgbClr val="0070C0"/>
                  </a:solidFill>
                  <a:latin typeface="Times New Roman" pitchFamily="18" charset="0"/>
                  <a:cs typeface="Times New Roman" pitchFamily="18" charset="0"/>
                </a:rPr>
                <a:t>v</a:t>
              </a:r>
              <a:endParaRPr lang="en-US" b="1" dirty="0">
                <a:solidFill>
                  <a:srgbClr val="0070C0"/>
                </a:solidFill>
                <a:latin typeface="Times New Roman" pitchFamily="18" charset="0"/>
                <a:cs typeface="Times New Roman" pitchFamily="18" charset="0"/>
              </a:endParaRPr>
            </a:p>
          </p:txBody>
        </p:sp>
      </p:grpSp>
      <p:sp>
        <p:nvSpPr>
          <p:cNvPr id="12" name="TextBox 11"/>
          <p:cNvSpPr txBox="1"/>
          <p:nvPr/>
        </p:nvSpPr>
        <p:spPr>
          <a:xfrm>
            <a:off x="3733800" y="1066800"/>
            <a:ext cx="4267200" cy="1477328"/>
          </a:xfrm>
          <a:prstGeom prst="rect">
            <a:avLst/>
          </a:prstGeom>
          <a:noFill/>
        </p:spPr>
        <p:txBody>
          <a:bodyPr wrap="square" rtlCol="0">
            <a:spAutoFit/>
          </a:bodyPr>
          <a:lstStyle/>
          <a:p>
            <a:pPr algn="just"/>
            <a:r>
              <a:rPr lang="en-US" dirty="0" smtClean="0">
                <a:latin typeface="Times New Roman" pitchFamily="18" charset="0"/>
                <a:cs typeface="Times New Roman" pitchFamily="18" charset="0"/>
              </a:rPr>
              <a:t>When the </a:t>
            </a:r>
            <a:r>
              <a:rPr lang="en-US" dirty="0">
                <a:latin typeface="Times New Roman" pitchFamily="18" charset="0"/>
                <a:cs typeface="Times New Roman" pitchFamily="18" charset="0"/>
              </a:rPr>
              <a:t>source moves away while the observer moves </a:t>
            </a:r>
            <a:r>
              <a:rPr lang="en-US" dirty="0" smtClean="0">
                <a:latin typeface="Times New Roman" pitchFamily="18" charset="0"/>
                <a:cs typeface="Times New Roman" pitchFamily="18" charset="0"/>
              </a:rPr>
              <a:t>towards </a:t>
            </a:r>
            <a:r>
              <a:rPr lang="en-US" dirty="0">
                <a:latin typeface="Times New Roman" pitchFamily="18" charset="0"/>
                <a:cs typeface="Times New Roman" pitchFamily="18" charset="0"/>
              </a:rPr>
              <a:t>it, In </a:t>
            </a:r>
            <a:r>
              <a:rPr lang="en-US" dirty="0" smtClean="0">
                <a:latin typeface="Times New Roman" pitchFamily="18" charset="0"/>
                <a:cs typeface="Times New Roman" pitchFamily="18" charset="0"/>
              </a:rPr>
              <a:t>such </a:t>
            </a:r>
            <a:r>
              <a:rPr lang="en-US" dirty="0">
                <a:latin typeface="Times New Roman" pitchFamily="18" charset="0"/>
                <a:cs typeface="Times New Roman" pitchFamily="18" charset="0"/>
              </a:rPr>
              <a:t>case sound wave and source move in the opposite direction </a:t>
            </a:r>
            <a:r>
              <a:rPr lang="en-US" dirty="0" smtClean="0">
                <a:latin typeface="Times New Roman" pitchFamily="18" charset="0"/>
                <a:cs typeface="Times New Roman" pitchFamily="18" charset="0"/>
              </a:rPr>
              <a:t>and, </a:t>
            </a:r>
            <a:r>
              <a:rPr lang="en-US" dirty="0">
                <a:latin typeface="Times New Roman" pitchFamily="18" charset="0"/>
                <a:cs typeface="Times New Roman" pitchFamily="18" charset="0"/>
              </a:rPr>
              <a:t>the sound wave and observer also move in opposite </a:t>
            </a:r>
            <a:r>
              <a:rPr lang="en-US" dirty="0" smtClean="0">
                <a:latin typeface="Times New Roman" pitchFamily="18" charset="0"/>
                <a:cs typeface="Times New Roman" pitchFamily="18" charset="0"/>
              </a:rPr>
              <a:t>direction.</a:t>
            </a:r>
            <a:endParaRPr lang="en-US" dirty="0">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13" name="TextBox 12"/>
              <p:cNvSpPr txBox="1"/>
              <p:nvPr/>
            </p:nvSpPr>
            <p:spPr>
              <a:xfrm>
                <a:off x="2499748" y="2911416"/>
                <a:ext cx="3337560" cy="369332"/>
              </a:xfrm>
              <a:prstGeom prst="rect">
                <a:avLst/>
              </a:prstGeom>
              <a:noFill/>
            </p:spPr>
            <p:txBody>
              <a:bodyPr wrap="square" rtlCol="0">
                <a:spAutoFit/>
              </a:bodyPr>
              <a:lstStyle/>
              <a:p>
                <a14:m>
                  <m:oMath xmlns:m="http://schemas.openxmlformats.org/officeDocument/2006/math">
                    <m:r>
                      <a:rPr lang="en-US" b="0" i="1" smtClean="0">
                        <a:latin typeface="Cambria Math"/>
                      </a:rPr>
                      <m:t> </m:t>
                    </m:r>
                    <m:r>
                      <a:rPr lang="en-US" b="1" i="1">
                        <a:latin typeface="Cambria Math"/>
                      </a:rPr>
                      <m:t>𝒗</m:t>
                    </m:r>
                    <m:r>
                      <a:rPr lang="en-US" b="1" i="1">
                        <a:latin typeface="Cambria Math"/>
                      </a:rPr>
                      <m:t>′</m:t>
                    </m:r>
                  </m:oMath>
                </a14:m>
                <a:r>
                  <a:rPr lang="en-US" b="1" dirty="0">
                    <a:latin typeface="Times New Roman" pitchFamily="18" charset="0"/>
                    <a:cs typeface="Times New Roman" pitchFamily="18" charset="0"/>
                  </a:rPr>
                  <a:t>= </a:t>
                </a:r>
                <a14:m>
                  <m:oMath xmlns:m="http://schemas.openxmlformats.org/officeDocument/2006/math">
                    <m:r>
                      <a:rPr lang="en-US" b="1" i="1" dirty="0">
                        <a:latin typeface="Cambria Math"/>
                        <a:cs typeface="Times New Roman" pitchFamily="18" charset="0"/>
                      </a:rPr>
                      <m:t>𝒗</m:t>
                    </m:r>
                    <m:r>
                      <a:rPr lang="en-US" b="1" i="1" dirty="0">
                        <a:latin typeface="Cambria Math"/>
                        <a:cs typeface="Times New Roman" pitchFamily="18" charset="0"/>
                      </a:rPr>
                      <m:t>+</m:t>
                    </m:r>
                    <m:r>
                      <a:rPr lang="en-US" b="1" i="1" dirty="0">
                        <a:latin typeface="Cambria Math"/>
                        <a:cs typeface="Times New Roman" pitchFamily="18" charset="0"/>
                      </a:rPr>
                      <m:t>𝒗</m:t>
                    </m:r>
                    <m:r>
                      <a:rPr lang="en-US" b="1" i="1" dirty="0">
                        <a:latin typeface="Cambria Math"/>
                        <a:cs typeface="Times New Roman" pitchFamily="18" charset="0"/>
                      </a:rPr>
                      <m:t>₀</m:t>
                    </m:r>
                  </m:oMath>
                </a14:m>
                <a:endParaRPr lang="en-US" b="1" dirty="0"/>
              </a:p>
            </p:txBody>
          </p:sp>
        </mc:Choice>
        <mc:Fallback xmlns="">
          <p:sp>
            <p:nvSpPr>
              <p:cNvPr id="13" name="TextBox 12"/>
              <p:cNvSpPr txBox="1">
                <a:spLocks noRot="1" noChangeAspect="1" noMove="1" noResize="1" noEditPoints="1" noAdjustHandles="1" noChangeArrowheads="1" noChangeShapeType="1" noTextEdit="1"/>
              </p:cNvSpPr>
              <p:nvPr/>
            </p:nvSpPr>
            <p:spPr>
              <a:xfrm>
                <a:off x="2499748" y="2911416"/>
                <a:ext cx="3337560" cy="369332"/>
              </a:xfrm>
              <a:prstGeom prst="rect">
                <a:avLst/>
              </a:prstGeom>
              <a:blipFill rotWithShape="1">
                <a:blip r:embed="rId5"/>
                <a:stretch>
                  <a:fillRect t="-10000" b="-26667"/>
                </a:stretch>
              </a:blipFill>
            </p:spPr>
            <p:txBody>
              <a:bodyPr/>
              <a:lstStyle/>
              <a:p>
                <a:r>
                  <a:rPr lang="en-US">
                    <a:noFill/>
                  </a:rPr>
                  <a:t> </a:t>
                </a:r>
              </a:p>
            </p:txBody>
          </p:sp>
        </mc:Fallback>
      </mc:AlternateContent>
      <p:sp>
        <p:nvSpPr>
          <p:cNvPr id="14" name="TextBox 13"/>
          <p:cNvSpPr txBox="1"/>
          <p:nvPr/>
        </p:nvSpPr>
        <p:spPr>
          <a:xfrm>
            <a:off x="130549" y="2573259"/>
            <a:ext cx="7833516" cy="646331"/>
          </a:xfrm>
          <a:prstGeom prst="rect">
            <a:avLst/>
          </a:prstGeom>
          <a:noFill/>
        </p:spPr>
        <p:txBody>
          <a:bodyPr wrap="square" rtlCol="0">
            <a:spAutoFit/>
          </a:bodyPr>
          <a:lstStyle/>
          <a:p>
            <a:r>
              <a:rPr lang="en-US" dirty="0">
                <a:latin typeface="Times New Roman" pitchFamily="18" charset="0"/>
                <a:cs typeface="Times New Roman" pitchFamily="18" charset="0"/>
              </a:rPr>
              <a:t>The observer moves toward the incoming waves, so effective speed of waves relative to </a:t>
            </a:r>
            <a:r>
              <a:rPr lang="en-US" dirty="0" smtClean="0">
                <a:latin typeface="Times New Roman" pitchFamily="18" charset="0"/>
                <a:cs typeface="Times New Roman" pitchFamily="18" charset="0"/>
              </a:rPr>
              <a:t>observer,</a:t>
            </a:r>
            <a:endParaRPr lang="en-US" dirty="0">
              <a:latin typeface="Times New Roman" pitchFamily="18" charset="0"/>
              <a:cs typeface="Times New Roman" pitchFamily="18" charset="0"/>
            </a:endParaRPr>
          </a:p>
        </p:txBody>
      </p:sp>
      <p:sp>
        <p:nvSpPr>
          <p:cNvPr id="15" name="TextBox 14"/>
          <p:cNvSpPr txBox="1"/>
          <p:nvPr/>
        </p:nvSpPr>
        <p:spPr>
          <a:xfrm>
            <a:off x="130549" y="3280748"/>
            <a:ext cx="3352800" cy="369332"/>
          </a:xfrm>
          <a:prstGeom prst="rect">
            <a:avLst/>
          </a:prstGeom>
          <a:noFill/>
        </p:spPr>
        <p:txBody>
          <a:bodyPr wrap="square" rtlCol="0">
            <a:spAutoFit/>
          </a:bodyPr>
          <a:lstStyle/>
          <a:p>
            <a:r>
              <a:rPr lang="en-US" dirty="0">
                <a:latin typeface="Times New Roman" pitchFamily="18" charset="0"/>
                <a:cs typeface="Times New Roman" pitchFamily="18" charset="0"/>
              </a:rPr>
              <a:t>a</a:t>
            </a:r>
            <a:r>
              <a:rPr lang="en-US" dirty="0" smtClean="0">
                <a:latin typeface="Times New Roman" pitchFamily="18" charset="0"/>
                <a:cs typeface="Times New Roman" pitchFamily="18" charset="0"/>
              </a:rPr>
              <a:t>nd the apparent wavelength,</a:t>
            </a:r>
            <a:endParaRPr lang="en-US" dirty="0">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16" name="TextBox 15"/>
              <p:cNvSpPr txBox="1"/>
              <p:nvPr/>
            </p:nvSpPr>
            <p:spPr>
              <a:xfrm>
                <a:off x="2512189" y="3647621"/>
                <a:ext cx="4953000" cy="552202"/>
              </a:xfrm>
              <a:prstGeom prst="rect">
                <a:avLst/>
              </a:prstGeom>
              <a:noFill/>
            </p:spPr>
            <p:txBody>
              <a:bodyPr wrap="square" rtlCol="0">
                <a:spAutoFit/>
              </a:bodyPr>
              <a:lstStyle/>
              <a:p>
                <a:r>
                  <a:rPr lang="el-GR" b="1" dirty="0" smtClean="0">
                    <a:latin typeface="Times New Roman" pitchFamily="18" charset="0"/>
                    <a:cs typeface="Times New Roman" pitchFamily="18" charset="0"/>
                  </a:rPr>
                  <a:t>λ</a:t>
                </a:r>
                <a:r>
                  <a:rPr lang="en-US" b="1" baseline="-25000" dirty="0">
                    <a:latin typeface="Times New Roman" pitchFamily="18" charset="0"/>
                    <a:cs typeface="Times New Roman" pitchFamily="18" charset="0"/>
                  </a:rPr>
                  <a:t>e</a:t>
                </a:r>
                <a:r>
                  <a:rPr lang="en-US" b="1" dirty="0">
                    <a:latin typeface="Times New Roman" pitchFamily="18" charset="0"/>
                    <a:cs typeface="Times New Roman" pitchFamily="18" charset="0"/>
                  </a:rPr>
                  <a:t>= </a:t>
                </a:r>
                <a14:m>
                  <m:oMath xmlns:m="http://schemas.openxmlformats.org/officeDocument/2006/math">
                    <m:f>
                      <m:fPr>
                        <m:ctrlPr>
                          <a:rPr lang="en-US" b="1" i="1" dirty="0">
                            <a:latin typeface="Cambria Math"/>
                            <a:cs typeface="Times New Roman" pitchFamily="18" charset="0"/>
                          </a:rPr>
                        </m:ctrlPr>
                      </m:fPr>
                      <m:num>
                        <m:r>
                          <m:rPr>
                            <m:nor/>
                          </m:rPr>
                          <a:rPr lang="en-US" b="1" i="0" dirty="0" smtClean="0">
                            <a:latin typeface="Cambria Math"/>
                            <a:cs typeface="Times New Roman" pitchFamily="18" charset="0"/>
                          </a:rPr>
                          <m:t>v</m:t>
                        </m:r>
                        <m:r>
                          <m:rPr>
                            <m:nor/>
                          </m:rPr>
                          <a:rPr lang="en-US" b="1" dirty="0">
                            <a:latin typeface="Times New Roman" pitchFamily="18" charset="0"/>
                            <a:cs typeface="Times New Roman" pitchFamily="18" charset="0"/>
                          </a:rPr>
                          <m:t> </m:t>
                        </m:r>
                        <m:r>
                          <m:rPr>
                            <m:nor/>
                          </m:rPr>
                          <a:rPr lang="en-US" b="1" i="0" dirty="0" smtClean="0">
                            <a:latin typeface="Times New Roman" pitchFamily="18" charset="0"/>
                            <a:cs typeface="Times New Roman" pitchFamily="18" charset="0"/>
                          </a:rPr>
                          <m:t>+</m:t>
                        </m:r>
                        <m:r>
                          <m:rPr>
                            <m:nor/>
                          </m:rPr>
                          <a:rPr lang="en-US" b="1" dirty="0">
                            <a:latin typeface="Times New Roman" pitchFamily="18" charset="0"/>
                            <a:cs typeface="Times New Roman" pitchFamily="18" charset="0"/>
                          </a:rPr>
                          <m:t> </m:t>
                        </m:r>
                        <m:r>
                          <m:rPr>
                            <m:nor/>
                          </m:rPr>
                          <a:rPr lang="en-US" b="1" i="0" dirty="0" smtClean="0">
                            <a:latin typeface="Times New Roman" pitchFamily="18" charset="0"/>
                            <a:cs typeface="Times New Roman" pitchFamily="18" charset="0"/>
                          </a:rPr>
                          <m:t>v</m:t>
                        </m:r>
                        <m:r>
                          <m:rPr>
                            <m:nor/>
                          </m:rPr>
                          <a:rPr lang="en-US" b="1" baseline="-25000" dirty="0">
                            <a:latin typeface="Times New Roman" pitchFamily="18" charset="0"/>
                            <a:cs typeface="Times New Roman" pitchFamily="18" charset="0"/>
                          </a:rPr>
                          <m:t>s</m:t>
                        </m:r>
                        <m:r>
                          <m:rPr>
                            <m:nor/>
                          </m:rPr>
                          <a:rPr lang="en-US" b="1" dirty="0">
                            <a:latin typeface="Times New Roman" pitchFamily="18" charset="0"/>
                            <a:cs typeface="Times New Roman" pitchFamily="18" charset="0"/>
                          </a:rPr>
                          <m:t> </m:t>
                        </m:r>
                      </m:num>
                      <m:den>
                        <m:r>
                          <a:rPr lang="en-US" b="1" i="1" dirty="0">
                            <a:latin typeface="Cambria Math"/>
                            <a:cs typeface="Times New Roman" pitchFamily="18" charset="0"/>
                          </a:rPr>
                          <m:t>𝒇</m:t>
                        </m:r>
                      </m:den>
                    </m:f>
                  </m:oMath>
                </a14:m>
                <a:endParaRPr lang="en-US" b="1" dirty="0">
                  <a:latin typeface="Times New Roman" pitchFamily="18" charset="0"/>
                  <a:cs typeface="Times New Roman" pitchFamily="18" charset="0"/>
                </a:endParaRPr>
              </a:p>
            </p:txBody>
          </p:sp>
        </mc:Choice>
        <mc:Fallback xmlns="">
          <p:sp>
            <p:nvSpPr>
              <p:cNvPr id="16" name="TextBox 15"/>
              <p:cNvSpPr txBox="1">
                <a:spLocks noRot="1" noChangeAspect="1" noMove="1" noResize="1" noEditPoints="1" noAdjustHandles="1" noChangeArrowheads="1" noChangeShapeType="1" noTextEdit="1"/>
              </p:cNvSpPr>
              <p:nvPr/>
            </p:nvSpPr>
            <p:spPr>
              <a:xfrm>
                <a:off x="2512189" y="3647621"/>
                <a:ext cx="4953000" cy="552202"/>
              </a:xfrm>
              <a:prstGeom prst="rect">
                <a:avLst/>
              </a:prstGeom>
              <a:blipFill rotWithShape="1">
                <a:blip r:embed="rId6"/>
                <a:stretch>
                  <a:fillRect l="-984" b="-5495"/>
                </a:stretch>
              </a:blipFill>
            </p:spPr>
            <p:txBody>
              <a:bodyPr/>
              <a:lstStyle/>
              <a:p>
                <a:r>
                  <a:rPr lang="en-US">
                    <a:noFill/>
                  </a:rPr>
                  <a:t> </a:t>
                </a:r>
              </a:p>
            </p:txBody>
          </p:sp>
        </mc:Fallback>
      </mc:AlternateContent>
      <p:sp>
        <p:nvSpPr>
          <p:cNvPr id="17" name="TextBox 16"/>
          <p:cNvSpPr txBox="1"/>
          <p:nvPr/>
        </p:nvSpPr>
        <p:spPr>
          <a:xfrm>
            <a:off x="198197" y="4216337"/>
            <a:ext cx="3033226" cy="369332"/>
          </a:xfrm>
          <a:prstGeom prst="rect">
            <a:avLst/>
          </a:prstGeom>
          <a:noFill/>
        </p:spPr>
        <p:txBody>
          <a:bodyPr wrap="square" rtlCol="0">
            <a:spAutoFit/>
          </a:bodyPr>
          <a:lstStyle/>
          <a:p>
            <a:r>
              <a:rPr lang="en-US" dirty="0">
                <a:latin typeface="Times New Roman" pitchFamily="18" charset="0"/>
                <a:cs typeface="Times New Roman" pitchFamily="18" charset="0"/>
              </a:rPr>
              <a:t>Apparent frequency </a:t>
            </a:r>
            <a:r>
              <a:rPr lang="en-US" dirty="0" smtClean="0">
                <a:latin typeface="Times New Roman" pitchFamily="18" charset="0"/>
                <a:cs typeface="Times New Roman" pitchFamily="18" charset="0"/>
              </a:rPr>
              <a:t>heard,</a:t>
            </a:r>
            <a:endParaRPr lang="en-US" dirty="0">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18" name="TextBox 17"/>
              <p:cNvSpPr txBox="1"/>
              <p:nvPr/>
            </p:nvSpPr>
            <p:spPr>
              <a:xfrm>
                <a:off x="2769948" y="4612563"/>
                <a:ext cx="2506980" cy="468270"/>
              </a:xfrm>
              <a:prstGeom prst="rect">
                <a:avLst/>
              </a:prstGeom>
              <a:noFill/>
            </p:spPr>
            <p:txBody>
              <a:bodyPr wrap="square" rtlCol="0">
                <a:spAutoFit/>
              </a:bodyPr>
              <a:lstStyle/>
              <a:p>
                <a:r>
                  <a:rPr lang="en-US" b="1" dirty="0">
                    <a:latin typeface="Times New Roman" pitchFamily="18" charset="0"/>
                    <a:cs typeface="Times New Roman" pitchFamily="18" charset="0"/>
                  </a:rPr>
                  <a:t>f '= </a:t>
                </a:r>
                <a14:m>
                  <m:oMath xmlns:m="http://schemas.openxmlformats.org/officeDocument/2006/math">
                    <m:f>
                      <m:fPr>
                        <m:ctrlPr>
                          <a:rPr lang="en-US" b="1" i="1">
                            <a:latin typeface="Cambria Math"/>
                          </a:rPr>
                        </m:ctrlPr>
                      </m:fPr>
                      <m:num>
                        <m:r>
                          <a:rPr lang="en-US" b="1" i="1">
                            <a:latin typeface="Cambria Math"/>
                          </a:rPr>
                          <m:t>𝒗</m:t>
                        </m:r>
                        <m:r>
                          <a:rPr lang="en-US" b="1" i="1">
                            <a:latin typeface="Cambria Math"/>
                          </a:rPr>
                          <m:t>′</m:t>
                        </m:r>
                      </m:num>
                      <m:den>
                        <m:r>
                          <m:rPr>
                            <m:nor/>
                          </m:rPr>
                          <a:rPr lang="el-GR" b="1" dirty="0">
                            <a:latin typeface="Times New Roman" pitchFamily="18" charset="0"/>
                            <a:cs typeface="Times New Roman" pitchFamily="18" charset="0"/>
                          </a:rPr>
                          <m:t>λ</m:t>
                        </m:r>
                        <m:r>
                          <m:rPr>
                            <m:nor/>
                          </m:rPr>
                          <a:rPr lang="en-US" b="1" dirty="0">
                            <a:latin typeface="Times New Roman" pitchFamily="18" charset="0"/>
                            <a:cs typeface="Times New Roman" pitchFamily="18" charset="0"/>
                          </a:rPr>
                          <m:t>e</m:t>
                        </m:r>
                      </m:den>
                    </m:f>
                  </m:oMath>
                </a14:m>
                <a:endParaRPr lang="en-US" b="1" dirty="0"/>
              </a:p>
            </p:txBody>
          </p:sp>
        </mc:Choice>
        <mc:Fallback xmlns="">
          <p:sp>
            <p:nvSpPr>
              <p:cNvPr id="18" name="TextBox 17"/>
              <p:cNvSpPr txBox="1">
                <a:spLocks noRot="1" noChangeAspect="1" noMove="1" noResize="1" noEditPoints="1" noAdjustHandles="1" noChangeArrowheads="1" noChangeShapeType="1" noTextEdit="1"/>
              </p:cNvSpPr>
              <p:nvPr/>
            </p:nvSpPr>
            <p:spPr>
              <a:xfrm>
                <a:off x="2769948" y="4612563"/>
                <a:ext cx="2506980" cy="468270"/>
              </a:xfrm>
              <a:prstGeom prst="rect">
                <a:avLst/>
              </a:prstGeom>
              <a:blipFill rotWithShape="1">
                <a:blip r:embed="rId7"/>
                <a:stretch>
                  <a:fillRect l="-1942" b="-92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p:cNvSpPr txBox="1"/>
              <p:nvPr/>
            </p:nvSpPr>
            <p:spPr>
              <a:xfrm>
                <a:off x="3907661" y="5641910"/>
                <a:ext cx="2667000" cy="783869"/>
              </a:xfrm>
              <a:prstGeom prst="rect">
                <a:avLst/>
              </a:prstGeom>
              <a:noFill/>
            </p:spPr>
            <p:txBody>
              <a:bodyPr wrap="square" rtlCol="0">
                <a:spAutoFit/>
              </a:bodyPr>
              <a:lstStyle/>
              <a:p>
                <a:r>
                  <a:rPr lang="en-US" b="1" dirty="0" smtClean="0">
                    <a:latin typeface="Times New Roman" pitchFamily="18" charset="0"/>
                    <a:cs typeface="Times New Roman" pitchFamily="18" charset="0"/>
                  </a:rPr>
                  <a:t>f ' = </a:t>
                </a:r>
                <a14:m>
                  <m:oMath xmlns:m="http://schemas.openxmlformats.org/officeDocument/2006/math">
                    <m:d>
                      <m:dPr>
                        <m:ctrlPr>
                          <a:rPr lang="en-US" b="1" i="1">
                            <a:latin typeface="Cambria Math"/>
                          </a:rPr>
                        </m:ctrlPr>
                      </m:dPr>
                      <m:e>
                        <m:r>
                          <a:rPr lang="en-US" b="1">
                            <a:latin typeface="Cambria Math"/>
                          </a:rPr>
                          <m:t> </m:t>
                        </m:r>
                        <m:f>
                          <m:fPr>
                            <m:ctrlPr>
                              <a:rPr lang="en-US" b="1" i="1">
                                <a:latin typeface="Cambria Math"/>
                              </a:rPr>
                            </m:ctrlPr>
                          </m:fPr>
                          <m:num>
                            <m:r>
                              <a:rPr lang="en-US" b="1" i="1" dirty="0">
                                <a:latin typeface="Cambria Math"/>
                                <a:cs typeface="Times New Roman" pitchFamily="18" charset="0"/>
                              </a:rPr>
                              <m:t>𝒗</m:t>
                            </m:r>
                            <m:r>
                              <a:rPr lang="en-US" b="1" i="1" dirty="0" smtClean="0">
                                <a:latin typeface="Cambria Math"/>
                                <a:cs typeface="Times New Roman" pitchFamily="18" charset="0"/>
                              </a:rPr>
                              <m:t>+</m:t>
                            </m:r>
                            <m:r>
                              <a:rPr lang="en-US" b="1" i="1" dirty="0">
                                <a:latin typeface="Cambria Math"/>
                                <a:cs typeface="Times New Roman" pitchFamily="18" charset="0"/>
                              </a:rPr>
                              <m:t>𝒗</m:t>
                            </m:r>
                            <m:r>
                              <a:rPr lang="en-US" b="1" i="1" dirty="0">
                                <a:latin typeface="Cambria Math"/>
                                <a:cs typeface="Times New Roman" pitchFamily="18" charset="0"/>
                              </a:rPr>
                              <m:t>₀</m:t>
                            </m:r>
                          </m:num>
                          <m:den>
                            <m:r>
                              <m:rPr>
                                <m:nor/>
                              </m:rPr>
                              <a:rPr lang="en-US" b="1" i="0" dirty="0" smtClean="0">
                                <a:latin typeface="Cambria Math"/>
                                <a:cs typeface="Times New Roman" pitchFamily="18" charset="0"/>
                              </a:rPr>
                              <m:t>v</m:t>
                            </m:r>
                            <m:r>
                              <m:rPr>
                                <m:nor/>
                              </m:rPr>
                              <a:rPr lang="en-US" b="1" i="0" dirty="0" smtClean="0">
                                <a:latin typeface="Cambria Math"/>
                                <a:cs typeface="Times New Roman" pitchFamily="18" charset="0"/>
                              </a:rPr>
                              <m:t>+</m:t>
                            </m:r>
                            <m:r>
                              <m:rPr>
                                <m:nor/>
                              </m:rPr>
                              <a:rPr lang="en-US" b="1" i="0" dirty="0" smtClean="0">
                                <a:latin typeface="Times New Roman" pitchFamily="18" charset="0"/>
                                <a:cs typeface="Times New Roman" pitchFamily="18" charset="0"/>
                              </a:rPr>
                              <m:t>v</m:t>
                            </m:r>
                            <m:r>
                              <m:rPr>
                                <m:nor/>
                              </m:rPr>
                              <a:rPr lang="en-US" b="1" baseline="-25000" dirty="0" smtClean="0">
                                <a:latin typeface="Times New Roman" pitchFamily="18" charset="0"/>
                                <a:cs typeface="Times New Roman" pitchFamily="18" charset="0"/>
                              </a:rPr>
                              <m:t>s</m:t>
                            </m:r>
                          </m:den>
                        </m:f>
                      </m:e>
                    </m:d>
                  </m:oMath>
                </a14:m>
                <a:r>
                  <a:rPr lang="en-US" b="1" dirty="0">
                    <a:latin typeface="Times New Roman" pitchFamily="18" charset="0"/>
                    <a:cs typeface="Times New Roman" pitchFamily="18" charset="0"/>
                  </a:rPr>
                  <a:t>f</a:t>
                </a:r>
              </a:p>
              <a:p>
                <a:endParaRPr lang="en-US" dirty="0"/>
              </a:p>
            </p:txBody>
          </p:sp>
        </mc:Choice>
        <mc:Fallback xmlns="">
          <p:sp>
            <p:nvSpPr>
              <p:cNvPr id="19" name="TextBox 18"/>
              <p:cNvSpPr txBox="1">
                <a:spLocks noRot="1" noChangeAspect="1" noMove="1" noResize="1" noEditPoints="1" noAdjustHandles="1" noChangeArrowheads="1" noChangeShapeType="1" noTextEdit="1"/>
              </p:cNvSpPr>
              <p:nvPr/>
            </p:nvSpPr>
            <p:spPr>
              <a:xfrm>
                <a:off x="3907661" y="5641910"/>
                <a:ext cx="2667000" cy="783869"/>
              </a:xfrm>
              <a:prstGeom prst="rect">
                <a:avLst/>
              </a:prstGeom>
              <a:blipFill rotWithShape="1">
                <a:blip r:embed="rId8"/>
                <a:stretch>
                  <a:fillRect l="-1826" b="-11719"/>
                </a:stretch>
              </a:blipFill>
            </p:spPr>
            <p:txBody>
              <a:bodyPr/>
              <a:lstStyle/>
              <a:p>
                <a:r>
                  <a:rPr lang="en-US">
                    <a:noFill/>
                  </a:rPr>
                  <a:t> </a:t>
                </a:r>
              </a:p>
            </p:txBody>
          </p:sp>
        </mc:Fallback>
      </mc:AlternateContent>
      <p:sp>
        <p:nvSpPr>
          <p:cNvPr id="20" name="TextBox 19"/>
          <p:cNvSpPr txBox="1"/>
          <p:nvPr/>
        </p:nvSpPr>
        <p:spPr>
          <a:xfrm>
            <a:off x="276187" y="5090920"/>
            <a:ext cx="3246042" cy="369332"/>
          </a:xfrm>
          <a:prstGeom prst="rect">
            <a:avLst/>
          </a:prstGeom>
          <a:noFill/>
        </p:spPr>
        <p:txBody>
          <a:bodyPr wrap="square" rtlCol="0">
            <a:spAutoFit/>
          </a:bodyPr>
          <a:lstStyle/>
          <a:p>
            <a:r>
              <a:rPr lang="en-US" dirty="0" smtClean="0">
                <a:latin typeface="Times New Roman" pitchFamily="18" charset="0"/>
                <a:cs typeface="Times New Roman" pitchFamily="18" charset="0"/>
              </a:rPr>
              <a:t>Substituting values,</a:t>
            </a:r>
          </a:p>
        </p:txBody>
      </p:sp>
      <p:sp>
        <p:nvSpPr>
          <p:cNvPr id="21" name="TextBox 20"/>
          <p:cNvSpPr txBox="1"/>
          <p:nvPr/>
        </p:nvSpPr>
        <p:spPr>
          <a:xfrm>
            <a:off x="256941" y="5752427"/>
            <a:ext cx="3733800" cy="369332"/>
          </a:xfrm>
          <a:prstGeom prst="rect">
            <a:avLst/>
          </a:prstGeom>
          <a:noFill/>
        </p:spPr>
        <p:txBody>
          <a:bodyPr wrap="square" rtlCol="0">
            <a:spAutoFit/>
          </a:bodyPr>
          <a:lstStyle/>
          <a:p>
            <a:r>
              <a:rPr lang="en-US" dirty="0" smtClean="0">
                <a:latin typeface="Times New Roman" pitchFamily="18" charset="0"/>
                <a:cs typeface="Times New Roman" pitchFamily="18" charset="0"/>
              </a:rPr>
              <a:t>The apparent frequency of sound is,</a:t>
            </a:r>
            <a:endParaRPr lang="en-US" dirty="0">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22" name="TextBox 21"/>
              <p:cNvSpPr txBox="1"/>
              <p:nvPr/>
            </p:nvSpPr>
            <p:spPr>
              <a:xfrm>
                <a:off x="5007350" y="3028817"/>
                <a:ext cx="2819401" cy="2062103"/>
              </a:xfrm>
              <a:prstGeom prst="rect">
                <a:avLst/>
              </a:prstGeom>
              <a:noFill/>
            </p:spPr>
            <p:txBody>
              <a:bodyPr wrap="square" rtlCol="0">
                <a:spAutoFit/>
              </a:bodyPr>
              <a:lstStyle/>
              <a:p>
                <a:r>
                  <a:rPr lang="en-US" sz="1600" b="1" dirty="0" smtClean="0">
                    <a:solidFill>
                      <a:srgbClr val="FF0000"/>
                    </a:solidFill>
                    <a:latin typeface="Times New Roman" pitchFamily="18" charset="0"/>
                    <a:cs typeface="Times New Roman" pitchFamily="18" charset="0"/>
                  </a:rPr>
                  <a:t>V</a:t>
                </a:r>
                <a:r>
                  <a:rPr lang="en-US" sz="1600" dirty="0" smtClean="0">
                    <a:latin typeface="Times New Roman" pitchFamily="18" charset="0"/>
                    <a:cs typeface="Times New Roman" pitchFamily="18" charset="0"/>
                  </a:rPr>
                  <a:t>=Velocity of sound</a:t>
                </a:r>
              </a:p>
              <a:p>
                <a14:m>
                  <m:oMath xmlns:m="http://schemas.openxmlformats.org/officeDocument/2006/math">
                    <m:r>
                      <a:rPr lang="en-US" sz="1600" b="1" i="0" dirty="0" smtClean="0">
                        <a:solidFill>
                          <a:srgbClr val="FF0000"/>
                        </a:solidFill>
                        <a:latin typeface="Cambria Math"/>
                        <a:cs typeface="Times New Roman" pitchFamily="18" charset="0"/>
                      </a:rPr>
                      <m:t>𝐯</m:t>
                    </m:r>
                    <m:r>
                      <a:rPr lang="en-US" sz="1600" b="1" i="0" dirty="0" smtClean="0">
                        <a:solidFill>
                          <a:srgbClr val="FF0000"/>
                        </a:solidFill>
                        <a:latin typeface="Cambria Math"/>
                        <a:cs typeface="Times New Roman" pitchFamily="18" charset="0"/>
                      </a:rPr>
                      <m:t>₀</m:t>
                    </m:r>
                  </m:oMath>
                </a14:m>
                <a:r>
                  <a:rPr lang="en-US" sz="1600" dirty="0" smtClean="0">
                    <a:latin typeface="Times New Roman" pitchFamily="18" charset="0"/>
                    <a:cs typeface="Times New Roman" pitchFamily="18" charset="0"/>
                  </a:rPr>
                  <a:t>= Velocity of observer</a:t>
                </a:r>
              </a:p>
              <a:p>
                <a14:m>
                  <m:oMath xmlns:m="http://schemas.openxmlformats.org/officeDocument/2006/math">
                    <m:r>
                      <m:rPr>
                        <m:nor/>
                      </m:rPr>
                      <a:rPr lang="en-US" sz="1600" b="1" dirty="0">
                        <a:solidFill>
                          <a:srgbClr val="FF0000"/>
                        </a:solidFill>
                        <a:latin typeface="Times New Roman" pitchFamily="18" charset="0"/>
                        <a:cs typeface="Times New Roman" pitchFamily="18" charset="0"/>
                      </a:rPr>
                      <m:t>V</m:t>
                    </m:r>
                    <m:r>
                      <m:rPr>
                        <m:nor/>
                      </m:rPr>
                      <a:rPr lang="en-US" sz="1600" b="1" baseline="-25000" dirty="0">
                        <a:solidFill>
                          <a:srgbClr val="FF0000"/>
                        </a:solidFill>
                        <a:latin typeface="Times New Roman" pitchFamily="18" charset="0"/>
                        <a:cs typeface="Times New Roman" pitchFamily="18" charset="0"/>
                      </a:rPr>
                      <m:t>s</m:t>
                    </m:r>
                  </m:oMath>
                </a14:m>
                <a:r>
                  <a:rPr lang="en-US" sz="1600" dirty="0">
                    <a:latin typeface="Times New Roman" pitchFamily="18" charset="0"/>
                    <a:cs typeface="Times New Roman" pitchFamily="18" charset="0"/>
                  </a:rPr>
                  <a:t>= Velocity of </a:t>
                </a:r>
                <a:r>
                  <a:rPr lang="en-US" sz="1600" dirty="0" smtClean="0">
                    <a:latin typeface="Times New Roman" pitchFamily="18" charset="0"/>
                    <a:cs typeface="Times New Roman" pitchFamily="18" charset="0"/>
                  </a:rPr>
                  <a:t>source</a:t>
                </a:r>
              </a:p>
              <a:p>
                <a:r>
                  <a:rPr lang="en-US" sz="1600" b="1" dirty="0" smtClean="0">
                    <a:solidFill>
                      <a:srgbClr val="FF0000"/>
                    </a:solidFill>
                    <a:latin typeface="Times New Roman" pitchFamily="18" charset="0"/>
                    <a:cs typeface="Times New Roman" pitchFamily="18" charset="0"/>
                  </a:rPr>
                  <a:t>F </a:t>
                </a:r>
                <a:r>
                  <a:rPr lang="en-US" sz="1600" dirty="0" smtClean="0">
                    <a:latin typeface="Times New Roman" pitchFamily="18" charset="0"/>
                    <a:cs typeface="Times New Roman" pitchFamily="18" charset="0"/>
                  </a:rPr>
                  <a:t>= </a:t>
                </a:r>
                <a:r>
                  <a:rPr lang="en-US" sz="1600" dirty="0" err="1" smtClean="0">
                    <a:latin typeface="Times New Roman" pitchFamily="18" charset="0"/>
                    <a:cs typeface="Times New Roman" pitchFamily="18" charset="0"/>
                  </a:rPr>
                  <a:t>Orginal</a:t>
                </a:r>
                <a:r>
                  <a:rPr lang="en-US" sz="1600" dirty="0" smtClean="0">
                    <a:latin typeface="Times New Roman" pitchFamily="18" charset="0"/>
                    <a:cs typeface="Times New Roman" pitchFamily="18" charset="0"/>
                  </a:rPr>
                  <a:t> frequency of sound</a:t>
                </a:r>
              </a:p>
              <a:p>
                <a:r>
                  <a:rPr lang="en-US" sz="1600" b="1" dirty="0" smtClean="0">
                    <a:solidFill>
                      <a:srgbClr val="FF0000"/>
                    </a:solidFill>
                    <a:latin typeface="Times New Roman" pitchFamily="18" charset="0"/>
                    <a:cs typeface="Times New Roman" pitchFamily="18" charset="0"/>
                  </a:rPr>
                  <a:t>f </a:t>
                </a:r>
                <a:r>
                  <a:rPr lang="en-US" sz="1600" b="1" dirty="0">
                    <a:solidFill>
                      <a:srgbClr val="FF0000"/>
                    </a:solidFill>
                    <a:latin typeface="Times New Roman" pitchFamily="18" charset="0"/>
                    <a:cs typeface="Times New Roman" pitchFamily="18" charset="0"/>
                  </a:rPr>
                  <a:t>'</a:t>
                </a:r>
                <a:r>
                  <a:rPr lang="en-US" sz="1600" dirty="0" smtClean="0">
                    <a:latin typeface="Times New Roman" pitchFamily="18" charset="0"/>
                    <a:cs typeface="Times New Roman" pitchFamily="18" charset="0"/>
                  </a:rPr>
                  <a:t>= Apparent frequency</a:t>
                </a:r>
              </a:p>
              <a:p>
                <a:r>
                  <a:rPr lang="el-GR" sz="1600" b="1" dirty="0">
                    <a:solidFill>
                      <a:srgbClr val="FF0000"/>
                    </a:solidFill>
                    <a:latin typeface="Times New Roman" pitchFamily="18" charset="0"/>
                    <a:cs typeface="Times New Roman" pitchFamily="18" charset="0"/>
                  </a:rPr>
                  <a:t>λ</a:t>
                </a:r>
                <a:r>
                  <a:rPr lang="en-US" sz="1600" b="1" baseline="-25000" dirty="0">
                    <a:solidFill>
                      <a:srgbClr val="FF0000"/>
                    </a:solidFill>
                    <a:latin typeface="Times New Roman" pitchFamily="18" charset="0"/>
                    <a:cs typeface="Times New Roman" pitchFamily="18" charset="0"/>
                  </a:rPr>
                  <a:t>e</a:t>
                </a:r>
                <a:r>
                  <a:rPr lang="en-US" sz="1600" dirty="0">
                    <a:latin typeface="Times New Roman" pitchFamily="18" charset="0"/>
                    <a:cs typeface="Times New Roman" pitchFamily="18" charset="0"/>
                  </a:rPr>
                  <a:t>= Effective wavelength</a:t>
                </a:r>
              </a:p>
              <a:p>
                <a:r>
                  <a:rPr lang="en-US" sz="1600" b="1" dirty="0">
                    <a:solidFill>
                      <a:srgbClr val="FF0000"/>
                    </a:solidFill>
                    <a:latin typeface="Times New Roman" pitchFamily="18" charset="0"/>
                    <a:cs typeface="Times New Roman" pitchFamily="18" charset="0"/>
                  </a:rPr>
                  <a:t>T</a:t>
                </a:r>
                <a:r>
                  <a:rPr lang="en-US" sz="1600" dirty="0">
                    <a:latin typeface="Times New Roman" pitchFamily="18" charset="0"/>
                    <a:cs typeface="Times New Roman" pitchFamily="18" charset="0"/>
                  </a:rPr>
                  <a:t>= Time period</a:t>
                </a:r>
              </a:p>
              <a:p>
                <a:endParaRPr lang="en-US" sz="1600" dirty="0">
                  <a:latin typeface="Times New Roman" pitchFamily="18" charset="0"/>
                  <a:cs typeface="Times New Roman" pitchFamily="18" charset="0"/>
                </a:endParaRPr>
              </a:p>
            </p:txBody>
          </p:sp>
        </mc:Choice>
        <mc:Fallback xmlns="">
          <p:sp>
            <p:nvSpPr>
              <p:cNvPr id="22" name="TextBox 21"/>
              <p:cNvSpPr txBox="1">
                <a:spLocks noRot="1" noChangeAspect="1" noMove="1" noResize="1" noEditPoints="1" noAdjustHandles="1" noChangeArrowheads="1" noChangeShapeType="1" noTextEdit="1"/>
              </p:cNvSpPr>
              <p:nvPr/>
            </p:nvSpPr>
            <p:spPr>
              <a:xfrm>
                <a:off x="5007350" y="3028817"/>
                <a:ext cx="2819401" cy="2062103"/>
              </a:xfrm>
              <a:prstGeom prst="rect">
                <a:avLst/>
              </a:prstGeom>
              <a:blipFill rotWithShape="1">
                <a:blip r:embed="rId9"/>
                <a:stretch>
                  <a:fillRect l="-1080" t="-888" b="-2959"/>
                </a:stretch>
              </a:blipFill>
            </p:spPr>
            <p:txBody>
              <a:bodyPr/>
              <a:lstStyle/>
              <a:p>
                <a:r>
                  <a:rPr lang="en-US">
                    <a:noFill/>
                  </a:rPr>
                  <a:t> </a:t>
                </a:r>
              </a:p>
            </p:txBody>
          </p:sp>
        </mc:Fallback>
      </mc:AlternateContent>
    </p:spTree>
    <p:extLst>
      <p:ext uri="{BB962C8B-B14F-4D97-AF65-F5344CB8AC3E}">
        <p14:creationId xmlns:p14="http://schemas.microsoft.com/office/powerpoint/2010/main" val="259744941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p:cNvGrpSpPr/>
          <p:nvPr/>
        </p:nvGrpSpPr>
        <p:grpSpPr>
          <a:xfrm>
            <a:off x="0" y="674132"/>
            <a:ext cx="8210239" cy="6061866"/>
            <a:chOff x="22860" y="304800"/>
            <a:chExt cx="8210239" cy="6061866"/>
          </a:xfrm>
        </p:grpSpPr>
        <p:sp>
          <p:nvSpPr>
            <p:cNvPr id="2" name="TextBox 1"/>
            <p:cNvSpPr txBox="1"/>
            <p:nvPr/>
          </p:nvSpPr>
          <p:spPr>
            <a:xfrm>
              <a:off x="22860" y="304800"/>
              <a:ext cx="5562600" cy="369332"/>
            </a:xfrm>
            <a:prstGeom prst="rect">
              <a:avLst/>
            </a:prstGeom>
            <a:noFill/>
          </p:spPr>
          <p:txBody>
            <a:bodyPr wrap="square" rtlCol="0">
              <a:spAutoFit/>
            </a:bodyPr>
            <a:lstStyle/>
            <a:p>
              <a:r>
                <a:rPr lang="en-US" dirty="0">
                  <a:solidFill>
                    <a:srgbClr val="002060"/>
                  </a:solidFill>
                  <a:latin typeface="Times New Roman" pitchFamily="18" charset="0"/>
                  <a:cs typeface="Times New Roman" pitchFamily="18" charset="0"/>
                </a:rPr>
                <a:t>2</a:t>
              </a:r>
              <a:r>
                <a:rPr lang="en-US" dirty="0" smtClean="0">
                  <a:solidFill>
                    <a:srgbClr val="002060"/>
                  </a:solidFill>
                  <a:latin typeface="Times New Roman" pitchFamily="18" charset="0"/>
                  <a:cs typeface="Times New Roman" pitchFamily="18" charset="0"/>
                </a:rPr>
                <a:t>. When the observer is followed by the source.</a:t>
              </a:r>
            </a:p>
          </p:txBody>
        </p:sp>
        <p:pic>
          <p:nvPicPr>
            <p:cNvPr id="4" name="Picture 2" descr="The Doppler effect: From highly ridiculed to absolutely indispensable, Part  1"/>
            <p:cNvPicPr>
              <a:picLocks noChangeAspect="1" noChangeArrowheads="1"/>
            </p:cNvPicPr>
            <p:nvPr/>
          </p:nvPicPr>
          <p:blipFill rotWithShape="1">
            <a:blip r:embed="rId2">
              <a:extLst>
                <a:ext uri="{28A0092B-C50C-407E-A947-70E740481C1C}">
                  <a14:useLocalDpi xmlns:a14="http://schemas.microsoft.com/office/drawing/2010/main" val="0"/>
                </a:ext>
              </a:extLst>
            </a:blip>
            <a:srcRect l="36301" t="20112" r="36301" b="43115"/>
            <a:stretch/>
          </p:blipFill>
          <p:spPr bwMode="auto">
            <a:xfrm>
              <a:off x="152400" y="694348"/>
              <a:ext cx="1706880" cy="1744326"/>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Exploring the Doppler Effect With NASA – Science Lesson | NASA JPL Education"/>
            <p:cNvPicPr>
              <a:picLocks noChangeAspect="1" noChangeArrowheads="1"/>
            </p:cNvPicPr>
            <p:nvPr/>
          </p:nvPicPr>
          <p:blipFill rotWithShape="1">
            <a:blip r:embed="rId3">
              <a:extLst>
                <a:ext uri="{28A0092B-C50C-407E-A947-70E740481C1C}">
                  <a14:useLocalDpi xmlns:a14="http://schemas.microsoft.com/office/drawing/2010/main" val="0"/>
                </a:ext>
              </a:extLst>
            </a:blip>
            <a:srcRect l="71427" t="27971" r="16016" b="33968"/>
            <a:stretch/>
          </p:blipFill>
          <p:spPr bwMode="auto">
            <a:xfrm>
              <a:off x="2895600" y="694348"/>
              <a:ext cx="468863" cy="71242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Doppler Effect"/>
            <p:cNvPicPr>
              <a:picLocks noChangeAspect="1" noChangeArrowheads="1"/>
            </p:cNvPicPr>
            <p:nvPr/>
          </p:nvPicPr>
          <p:blipFill rotWithShape="1">
            <a:blip r:embed="rId4">
              <a:extLst>
                <a:ext uri="{28A0092B-C50C-407E-A947-70E740481C1C}">
                  <a14:useLocalDpi xmlns:a14="http://schemas.microsoft.com/office/drawing/2010/main" val="0"/>
                </a:ext>
              </a:extLst>
            </a:blip>
            <a:srcRect l="57597" t="19361" r="-23" b="40645"/>
            <a:stretch/>
          </p:blipFill>
          <p:spPr bwMode="auto">
            <a:xfrm>
              <a:off x="2667000" y="1440095"/>
              <a:ext cx="1146499" cy="420298"/>
            </a:xfrm>
            <a:prstGeom prst="rect">
              <a:avLst/>
            </a:prstGeom>
            <a:noFill/>
            <a:extLst>
              <a:ext uri="{909E8E84-426E-40DD-AFC4-6F175D3DCCD1}">
                <a14:hiddenFill xmlns:a14="http://schemas.microsoft.com/office/drawing/2010/main">
                  <a:solidFill>
                    <a:srgbClr val="FFFFFF"/>
                  </a:solidFill>
                </a14:hiddenFill>
              </a:ext>
            </a:extLst>
          </p:spPr>
        </p:pic>
        <p:cxnSp>
          <p:nvCxnSpPr>
            <p:cNvPr id="8" name="Straight Arrow Connector 7"/>
            <p:cNvCxnSpPr/>
            <p:nvPr/>
          </p:nvCxnSpPr>
          <p:spPr>
            <a:xfrm>
              <a:off x="1752600" y="1854173"/>
              <a:ext cx="533400" cy="0"/>
            </a:xfrm>
            <a:prstGeom prst="straightConnector1">
              <a:avLst/>
            </a:prstGeom>
            <a:ln w="28575">
              <a:solidFill>
                <a:srgbClr val="0070C0"/>
              </a:solidFill>
              <a:tailEnd type="arrow"/>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1873704" y="1560914"/>
              <a:ext cx="409186" cy="369332"/>
            </a:xfrm>
            <a:prstGeom prst="rect">
              <a:avLst/>
            </a:prstGeom>
            <a:noFill/>
          </p:spPr>
          <p:txBody>
            <a:bodyPr wrap="square" rtlCol="0">
              <a:spAutoFit/>
            </a:bodyPr>
            <a:lstStyle/>
            <a:p>
              <a:r>
                <a:rPr lang="en-US" b="1" dirty="0" smtClean="0">
                  <a:solidFill>
                    <a:srgbClr val="0070C0"/>
                  </a:solidFill>
                  <a:latin typeface="Times New Roman" pitchFamily="18" charset="0"/>
                  <a:cs typeface="Times New Roman" pitchFamily="18" charset="0"/>
                </a:rPr>
                <a:t>v</a:t>
              </a:r>
              <a:endParaRPr lang="en-US" b="1" dirty="0">
                <a:solidFill>
                  <a:srgbClr val="0070C0"/>
                </a:solidFill>
                <a:latin typeface="Times New Roman" pitchFamily="18" charset="0"/>
                <a:cs typeface="Times New Roman" pitchFamily="18" charset="0"/>
              </a:endParaRPr>
            </a:p>
          </p:txBody>
        </p:sp>
        <p:sp>
          <p:nvSpPr>
            <p:cNvPr id="12" name="Rectangle 11"/>
            <p:cNvSpPr/>
            <p:nvPr/>
          </p:nvSpPr>
          <p:spPr>
            <a:xfrm>
              <a:off x="3813499" y="693574"/>
              <a:ext cx="4419600" cy="1477328"/>
            </a:xfrm>
            <a:prstGeom prst="rect">
              <a:avLst/>
            </a:prstGeom>
          </p:spPr>
          <p:txBody>
            <a:bodyPr wrap="square">
              <a:spAutoFit/>
            </a:bodyPr>
            <a:lstStyle/>
            <a:p>
              <a:pPr algn="just"/>
              <a:r>
                <a:rPr lang="en-US" dirty="0">
                  <a:latin typeface="Times New Roman" pitchFamily="18" charset="0"/>
                  <a:cs typeface="Times New Roman" pitchFamily="18" charset="0"/>
                </a:rPr>
                <a:t>When </a:t>
              </a:r>
              <a:r>
                <a:rPr lang="en-US" dirty="0" smtClean="0">
                  <a:latin typeface="Times New Roman" pitchFamily="18" charset="0"/>
                  <a:cs typeface="Times New Roman" pitchFamily="18" charset="0"/>
                </a:rPr>
                <a:t>the observer moves </a:t>
              </a:r>
              <a:r>
                <a:rPr lang="en-US" dirty="0">
                  <a:latin typeface="Times New Roman" pitchFamily="18" charset="0"/>
                  <a:cs typeface="Times New Roman" pitchFamily="18" charset="0"/>
                </a:rPr>
                <a:t>away while the </a:t>
              </a:r>
              <a:r>
                <a:rPr lang="en-US" dirty="0" smtClean="0">
                  <a:latin typeface="Times New Roman" pitchFamily="18" charset="0"/>
                  <a:cs typeface="Times New Roman" pitchFamily="18" charset="0"/>
                </a:rPr>
                <a:t>source </a:t>
              </a:r>
              <a:r>
                <a:rPr lang="en-US" dirty="0">
                  <a:latin typeface="Times New Roman" pitchFamily="18" charset="0"/>
                  <a:cs typeface="Times New Roman" pitchFamily="18" charset="0"/>
                </a:rPr>
                <a:t>moves </a:t>
              </a:r>
              <a:r>
                <a:rPr lang="en-US" dirty="0" smtClean="0">
                  <a:latin typeface="Times New Roman" pitchFamily="18" charset="0"/>
                  <a:cs typeface="Times New Roman" pitchFamily="18" charset="0"/>
                </a:rPr>
                <a:t>towards </a:t>
              </a:r>
              <a:r>
                <a:rPr lang="en-US" dirty="0">
                  <a:latin typeface="Times New Roman" pitchFamily="18" charset="0"/>
                  <a:cs typeface="Times New Roman" pitchFamily="18" charset="0"/>
                </a:rPr>
                <a:t>it, In such case sound wave and source move in the </a:t>
              </a:r>
              <a:r>
                <a:rPr lang="en-US" dirty="0" smtClean="0">
                  <a:latin typeface="Times New Roman" pitchFamily="18" charset="0"/>
                  <a:cs typeface="Times New Roman" pitchFamily="18" charset="0"/>
                </a:rPr>
                <a:t>same </a:t>
              </a:r>
              <a:r>
                <a:rPr lang="en-US" dirty="0">
                  <a:latin typeface="Times New Roman" pitchFamily="18" charset="0"/>
                  <a:cs typeface="Times New Roman" pitchFamily="18" charset="0"/>
                </a:rPr>
                <a:t>direction and, the sound wave and observer also move in </a:t>
              </a:r>
              <a:r>
                <a:rPr lang="en-US" dirty="0" smtClean="0">
                  <a:latin typeface="Times New Roman" pitchFamily="18" charset="0"/>
                  <a:cs typeface="Times New Roman" pitchFamily="18" charset="0"/>
                </a:rPr>
                <a:t>same </a:t>
              </a:r>
              <a:r>
                <a:rPr lang="en-US" dirty="0">
                  <a:latin typeface="Times New Roman" pitchFamily="18" charset="0"/>
                  <a:cs typeface="Times New Roman" pitchFamily="18" charset="0"/>
                </a:rPr>
                <a:t>direction.</a:t>
              </a:r>
            </a:p>
          </p:txBody>
        </p:sp>
        <p:sp>
          <p:nvSpPr>
            <p:cNvPr id="13" name="TextBox 12"/>
            <p:cNvSpPr txBox="1"/>
            <p:nvPr/>
          </p:nvSpPr>
          <p:spPr>
            <a:xfrm>
              <a:off x="152400" y="2362200"/>
              <a:ext cx="7833516" cy="646331"/>
            </a:xfrm>
            <a:prstGeom prst="rect">
              <a:avLst/>
            </a:prstGeom>
            <a:noFill/>
          </p:spPr>
          <p:txBody>
            <a:bodyPr wrap="square" rtlCol="0">
              <a:spAutoFit/>
            </a:bodyPr>
            <a:lstStyle/>
            <a:p>
              <a:r>
                <a:rPr lang="en-US" dirty="0" smtClean="0">
                  <a:latin typeface="Times New Roman" pitchFamily="18" charset="0"/>
                  <a:cs typeface="Times New Roman" pitchFamily="18" charset="0"/>
                </a:rPr>
                <a:t>The </a:t>
              </a:r>
              <a:r>
                <a:rPr lang="en-US" dirty="0">
                  <a:latin typeface="Times New Roman" pitchFamily="18" charset="0"/>
                  <a:cs typeface="Times New Roman" pitchFamily="18" charset="0"/>
                </a:rPr>
                <a:t>observer moves </a:t>
              </a:r>
              <a:r>
                <a:rPr lang="en-US" b="1" dirty="0">
                  <a:latin typeface="Times New Roman" pitchFamily="18" charset="0"/>
                  <a:cs typeface="Times New Roman" pitchFamily="18" charset="0"/>
                </a:rPr>
                <a:t>away from</a:t>
              </a:r>
              <a:r>
                <a:rPr lang="en-US" dirty="0">
                  <a:latin typeface="Times New Roman" pitchFamily="18" charset="0"/>
                  <a:cs typeface="Times New Roman" pitchFamily="18" charset="0"/>
                </a:rPr>
                <a:t> the incoming waves, so the effective speed of waves relative to the observer </a:t>
              </a:r>
              <a:r>
                <a:rPr lang="en-US" b="1" dirty="0" smtClean="0">
                  <a:latin typeface="Times New Roman" pitchFamily="18" charset="0"/>
                  <a:cs typeface="Times New Roman" pitchFamily="18" charset="0"/>
                </a:rPr>
                <a:t>decreases</a:t>
              </a:r>
              <a:r>
                <a:rPr lang="en-US" dirty="0" smtClean="0">
                  <a:latin typeface="Times New Roman" pitchFamily="18" charset="0"/>
                  <a:cs typeface="Times New Roman" pitchFamily="18" charset="0"/>
                </a:rPr>
                <a:t>,</a:t>
              </a:r>
              <a:endParaRPr lang="en-US" dirty="0">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14" name="TextBox 13"/>
                <p:cNvSpPr txBox="1"/>
                <p:nvPr/>
              </p:nvSpPr>
              <p:spPr>
                <a:xfrm>
                  <a:off x="4093651" y="2685365"/>
                  <a:ext cx="3337560" cy="369332"/>
                </a:xfrm>
                <a:prstGeom prst="rect">
                  <a:avLst/>
                </a:prstGeom>
                <a:noFill/>
              </p:spPr>
              <p:txBody>
                <a:bodyPr wrap="square" rtlCol="0">
                  <a:spAutoFit/>
                </a:bodyPr>
                <a:lstStyle/>
                <a:p>
                  <a14:m>
                    <m:oMath xmlns:m="http://schemas.openxmlformats.org/officeDocument/2006/math">
                      <m:r>
                        <a:rPr lang="en-US" b="0" i="1" smtClean="0">
                          <a:latin typeface="Cambria Math"/>
                        </a:rPr>
                        <m:t> </m:t>
                      </m:r>
                      <m:r>
                        <a:rPr lang="en-US" b="1" i="1">
                          <a:latin typeface="Cambria Math"/>
                        </a:rPr>
                        <m:t>𝒗</m:t>
                      </m:r>
                      <m:r>
                        <a:rPr lang="en-US" b="1" i="1">
                          <a:latin typeface="Cambria Math"/>
                        </a:rPr>
                        <m:t>′</m:t>
                      </m:r>
                    </m:oMath>
                  </a14:m>
                  <a:r>
                    <a:rPr lang="en-US" b="1" dirty="0">
                      <a:latin typeface="Times New Roman" pitchFamily="18" charset="0"/>
                      <a:cs typeface="Times New Roman" pitchFamily="18" charset="0"/>
                    </a:rPr>
                    <a:t>= </a:t>
                  </a:r>
                  <a14:m>
                    <m:oMath xmlns:m="http://schemas.openxmlformats.org/officeDocument/2006/math">
                      <m:r>
                        <a:rPr lang="en-US" b="1" i="1" dirty="0">
                          <a:latin typeface="Cambria Math"/>
                          <a:cs typeface="Times New Roman" pitchFamily="18" charset="0"/>
                        </a:rPr>
                        <m:t>𝒗</m:t>
                      </m:r>
                      <m:r>
                        <a:rPr lang="en-US" b="1" i="1" dirty="0" smtClean="0">
                          <a:latin typeface="Cambria Math"/>
                          <a:cs typeface="Times New Roman" pitchFamily="18" charset="0"/>
                        </a:rPr>
                        <m:t>−</m:t>
                      </m:r>
                      <m:r>
                        <a:rPr lang="en-US" b="1" i="1" dirty="0">
                          <a:latin typeface="Cambria Math"/>
                          <a:cs typeface="Times New Roman" pitchFamily="18" charset="0"/>
                        </a:rPr>
                        <m:t>𝒗</m:t>
                      </m:r>
                      <m:r>
                        <a:rPr lang="en-US" b="1" i="1" dirty="0">
                          <a:latin typeface="Cambria Math"/>
                          <a:cs typeface="Times New Roman" pitchFamily="18" charset="0"/>
                        </a:rPr>
                        <m:t>₀</m:t>
                      </m:r>
                    </m:oMath>
                  </a14:m>
                  <a:endParaRPr lang="en-US" b="1" dirty="0"/>
                </a:p>
              </p:txBody>
            </p:sp>
          </mc:Choice>
          <mc:Fallback xmlns="">
            <p:sp>
              <p:nvSpPr>
                <p:cNvPr id="14" name="TextBox 13"/>
                <p:cNvSpPr txBox="1">
                  <a:spLocks noRot="1" noChangeAspect="1" noMove="1" noResize="1" noEditPoints="1" noAdjustHandles="1" noChangeArrowheads="1" noChangeShapeType="1" noTextEdit="1"/>
                </p:cNvSpPr>
                <p:nvPr/>
              </p:nvSpPr>
              <p:spPr>
                <a:xfrm>
                  <a:off x="4093651" y="2685365"/>
                  <a:ext cx="3337560" cy="369332"/>
                </a:xfrm>
                <a:prstGeom prst="rect">
                  <a:avLst/>
                </a:prstGeom>
                <a:blipFill rotWithShape="1">
                  <a:blip r:embed="rId5"/>
                  <a:stretch>
                    <a:fillRect t="-10000" b="-26667"/>
                  </a:stretch>
                </a:blipFill>
              </p:spPr>
              <p:txBody>
                <a:bodyPr/>
                <a:lstStyle/>
                <a:p>
                  <a:r>
                    <a:rPr lang="en-US">
                      <a:noFill/>
                    </a:rPr>
                    <a:t> </a:t>
                  </a:r>
                </a:p>
              </p:txBody>
            </p:sp>
          </mc:Fallback>
        </mc:AlternateContent>
        <p:sp>
          <p:nvSpPr>
            <p:cNvPr id="15" name="TextBox 14"/>
            <p:cNvSpPr txBox="1"/>
            <p:nvPr/>
          </p:nvSpPr>
          <p:spPr>
            <a:xfrm>
              <a:off x="182880" y="3120446"/>
              <a:ext cx="3352800" cy="369332"/>
            </a:xfrm>
            <a:prstGeom prst="rect">
              <a:avLst/>
            </a:prstGeom>
            <a:noFill/>
          </p:spPr>
          <p:txBody>
            <a:bodyPr wrap="square" rtlCol="0">
              <a:spAutoFit/>
            </a:bodyPr>
            <a:lstStyle/>
            <a:p>
              <a:r>
                <a:rPr lang="en-US" dirty="0">
                  <a:latin typeface="Times New Roman" pitchFamily="18" charset="0"/>
                  <a:cs typeface="Times New Roman" pitchFamily="18" charset="0"/>
                </a:rPr>
                <a:t>a</a:t>
              </a:r>
              <a:r>
                <a:rPr lang="en-US" dirty="0" smtClean="0">
                  <a:latin typeface="Times New Roman" pitchFamily="18" charset="0"/>
                  <a:cs typeface="Times New Roman" pitchFamily="18" charset="0"/>
                </a:rPr>
                <a:t>nd the apparent wavelength,</a:t>
              </a:r>
              <a:endParaRPr lang="en-US" dirty="0">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16" name="TextBox 15"/>
                <p:cNvSpPr txBox="1"/>
                <p:nvPr/>
              </p:nvSpPr>
              <p:spPr>
                <a:xfrm>
                  <a:off x="2566851" y="3439497"/>
                  <a:ext cx="4953000" cy="576889"/>
                </a:xfrm>
                <a:prstGeom prst="rect">
                  <a:avLst/>
                </a:prstGeom>
                <a:noFill/>
              </p:spPr>
              <p:txBody>
                <a:bodyPr wrap="square" rtlCol="0">
                  <a:spAutoFit/>
                </a:bodyPr>
                <a:lstStyle/>
                <a:p>
                  <a:r>
                    <a:rPr lang="el-GR" b="1" dirty="0" smtClean="0">
                      <a:latin typeface="Times New Roman" pitchFamily="18" charset="0"/>
                      <a:cs typeface="Times New Roman" pitchFamily="18" charset="0"/>
                    </a:rPr>
                    <a:t>λ</a:t>
                  </a:r>
                  <a:r>
                    <a:rPr lang="en-US" b="1" baseline="-25000" dirty="0">
                      <a:latin typeface="Times New Roman" pitchFamily="18" charset="0"/>
                      <a:cs typeface="Times New Roman" pitchFamily="18" charset="0"/>
                    </a:rPr>
                    <a:t>e</a:t>
                  </a:r>
                  <a:r>
                    <a:rPr lang="en-US" b="1" dirty="0">
                      <a:latin typeface="Times New Roman" pitchFamily="18" charset="0"/>
                      <a:cs typeface="Times New Roman" pitchFamily="18" charset="0"/>
                    </a:rPr>
                    <a:t>= </a:t>
                  </a:r>
                  <a14:m>
                    <m:oMath xmlns:m="http://schemas.openxmlformats.org/officeDocument/2006/math">
                      <m:f>
                        <m:fPr>
                          <m:ctrlPr>
                            <a:rPr lang="en-US" b="1" i="1" dirty="0">
                              <a:latin typeface="Cambria Math"/>
                              <a:cs typeface="Times New Roman" pitchFamily="18" charset="0"/>
                            </a:rPr>
                          </m:ctrlPr>
                        </m:fPr>
                        <m:num>
                          <m:r>
                            <m:rPr>
                              <m:nor/>
                            </m:rPr>
                            <a:rPr lang="en-US" b="1" i="0" dirty="0" smtClean="0">
                              <a:latin typeface="Cambria Math"/>
                              <a:cs typeface="Times New Roman" pitchFamily="18" charset="0"/>
                            </a:rPr>
                            <m:t>v</m:t>
                          </m:r>
                          <m:r>
                            <m:rPr>
                              <m:nor/>
                            </m:rPr>
                            <a:rPr lang="en-US" b="1" dirty="0">
                              <a:latin typeface="Times New Roman" pitchFamily="18" charset="0"/>
                              <a:cs typeface="Times New Roman" pitchFamily="18" charset="0"/>
                            </a:rPr>
                            <m:t> </m:t>
                          </m:r>
                          <m:r>
                            <m:rPr>
                              <m:nor/>
                            </m:rPr>
                            <a:rPr lang="en-US" b="1" i="0" dirty="0" smtClean="0">
                              <a:latin typeface="Times New Roman" pitchFamily="18" charset="0"/>
                              <a:cs typeface="Times New Roman" pitchFamily="18" charset="0"/>
                            </a:rPr>
                            <m:t>−</m:t>
                          </m:r>
                          <m:r>
                            <m:rPr>
                              <m:nor/>
                            </m:rPr>
                            <a:rPr lang="en-US" b="1" dirty="0">
                              <a:latin typeface="Times New Roman" pitchFamily="18" charset="0"/>
                              <a:cs typeface="Times New Roman" pitchFamily="18" charset="0"/>
                            </a:rPr>
                            <m:t> </m:t>
                          </m:r>
                          <m:r>
                            <m:rPr>
                              <m:nor/>
                            </m:rPr>
                            <a:rPr lang="en-US" b="1" i="0" dirty="0" smtClean="0">
                              <a:latin typeface="Times New Roman" pitchFamily="18" charset="0"/>
                              <a:cs typeface="Times New Roman" pitchFamily="18" charset="0"/>
                            </a:rPr>
                            <m:t>v</m:t>
                          </m:r>
                          <m:r>
                            <m:rPr>
                              <m:nor/>
                            </m:rPr>
                            <a:rPr lang="en-US" b="1" baseline="-25000" dirty="0">
                              <a:latin typeface="Times New Roman" pitchFamily="18" charset="0"/>
                              <a:cs typeface="Times New Roman" pitchFamily="18" charset="0"/>
                            </a:rPr>
                            <m:t>s</m:t>
                          </m:r>
                          <m:r>
                            <m:rPr>
                              <m:nor/>
                            </m:rPr>
                            <a:rPr lang="en-US" b="1" dirty="0">
                              <a:latin typeface="Times New Roman" pitchFamily="18" charset="0"/>
                              <a:cs typeface="Times New Roman" pitchFamily="18" charset="0"/>
                            </a:rPr>
                            <m:t> </m:t>
                          </m:r>
                        </m:num>
                        <m:den>
                          <m:r>
                            <a:rPr lang="en-US" b="1" i="1" dirty="0">
                              <a:latin typeface="Cambria Math"/>
                              <a:cs typeface="Times New Roman" pitchFamily="18" charset="0"/>
                            </a:rPr>
                            <m:t>𝒇</m:t>
                          </m:r>
                        </m:den>
                      </m:f>
                    </m:oMath>
                  </a14:m>
                  <a:endParaRPr lang="en-US" b="1" dirty="0">
                    <a:latin typeface="Times New Roman" pitchFamily="18" charset="0"/>
                    <a:cs typeface="Times New Roman" pitchFamily="18" charset="0"/>
                  </a:endParaRPr>
                </a:p>
              </p:txBody>
            </p:sp>
          </mc:Choice>
          <mc:Fallback xmlns="">
            <p:sp>
              <p:nvSpPr>
                <p:cNvPr id="16" name="TextBox 15"/>
                <p:cNvSpPr txBox="1">
                  <a:spLocks noRot="1" noChangeAspect="1" noMove="1" noResize="1" noEditPoints="1" noAdjustHandles="1" noChangeArrowheads="1" noChangeShapeType="1" noTextEdit="1"/>
                </p:cNvSpPr>
                <p:nvPr/>
              </p:nvSpPr>
              <p:spPr>
                <a:xfrm>
                  <a:off x="2566851" y="3439497"/>
                  <a:ext cx="4953000" cy="576889"/>
                </a:xfrm>
                <a:prstGeom prst="rect">
                  <a:avLst/>
                </a:prstGeom>
                <a:blipFill rotWithShape="1">
                  <a:blip r:embed="rId6"/>
                  <a:stretch>
                    <a:fillRect l="-984"/>
                  </a:stretch>
                </a:blipFill>
              </p:spPr>
              <p:txBody>
                <a:bodyPr/>
                <a:lstStyle/>
                <a:p>
                  <a:r>
                    <a:rPr lang="en-US">
                      <a:noFill/>
                    </a:rPr>
                    <a:t> </a:t>
                  </a:r>
                </a:p>
              </p:txBody>
            </p:sp>
          </mc:Fallback>
        </mc:AlternateContent>
        <p:sp>
          <p:nvSpPr>
            <p:cNvPr id="17" name="TextBox 16"/>
            <p:cNvSpPr txBox="1"/>
            <p:nvPr/>
          </p:nvSpPr>
          <p:spPr>
            <a:xfrm>
              <a:off x="276187" y="4041980"/>
              <a:ext cx="3033226" cy="369332"/>
            </a:xfrm>
            <a:prstGeom prst="rect">
              <a:avLst/>
            </a:prstGeom>
            <a:noFill/>
          </p:spPr>
          <p:txBody>
            <a:bodyPr wrap="square" rtlCol="0">
              <a:spAutoFit/>
            </a:bodyPr>
            <a:lstStyle/>
            <a:p>
              <a:r>
                <a:rPr lang="en-US" dirty="0">
                  <a:latin typeface="Times New Roman" pitchFamily="18" charset="0"/>
                  <a:cs typeface="Times New Roman" pitchFamily="18" charset="0"/>
                </a:rPr>
                <a:t>Apparent frequency </a:t>
              </a:r>
              <a:r>
                <a:rPr lang="en-US" dirty="0" smtClean="0">
                  <a:latin typeface="Times New Roman" pitchFamily="18" charset="0"/>
                  <a:cs typeface="Times New Roman" pitchFamily="18" charset="0"/>
                </a:rPr>
                <a:t>heard,</a:t>
              </a:r>
              <a:endParaRPr lang="en-US" dirty="0">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18" name="TextBox 17"/>
                <p:cNvSpPr txBox="1"/>
                <p:nvPr/>
              </p:nvSpPr>
              <p:spPr>
                <a:xfrm>
                  <a:off x="2667000" y="4612563"/>
                  <a:ext cx="2506980" cy="468270"/>
                </a:xfrm>
                <a:prstGeom prst="rect">
                  <a:avLst/>
                </a:prstGeom>
                <a:noFill/>
              </p:spPr>
              <p:txBody>
                <a:bodyPr wrap="square" rtlCol="0">
                  <a:spAutoFit/>
                </a:bodyPr>
                <a:lstStyle/>
                <a:p>
                  <a:r>
                    <a:rPr lang="en-US" b="1" dirty="0">
                      <a:latin typeface="Times New Roman" pitchFamily="18" charset="0"/>
                      <a:cs typeface="Times New Roman" pitchFamily="18" charset="0"/>
                    </a:rPr>
                    <a:t>f '= </a:t>
                  </a:r>
                  <a14:m>
                    <m:oMath xmlns:m="http://schemas.openxmlformats.org/officeDocument/2006/math">
                      <m:f>
                        <m:fPr>
                          <m:ctrlPr>
                            <a:rPr lang="en-US" b="1" i="1">
                              <a:latin typeface="Cambria Math"/>
                            </a:rPr>
                          </m:ctrlPr>
                        </m:fPr>
                        <m:num>
                          <m:r>
                            <a:rPr lang="en-US" b="1" i="1">
                              <a:latin typeface="Cambria Math"/>
                            </a:rPr>
                            <m:t>𝒗</m:t>
                          </m:r>
                          <m:r>
                            <a:rPr lang="en-US" b="1" i="1">
                              <a:latin typeface="Cambria Math"/>
                            </a:rPr>
                            <m:t>′</m:t>
                          </m:r>
                        </m:num>
                        <m:den>
                          <m:r>
                            <m:rPr>
                              <m:nor/>
                            </m:rPr>
                            <a:rPr lang="el-GR" b="1" dirty="0">
                              <a:latin typeface="Times New Roman" pitchFamily="18" charset="0"/>
                              <a:cs typeface="Times New Roman" pitchFamily="18" charset="0"/>
                            </a:rPr>
                            <m:t>λ</m:t>
                          </m:r>
                          <m:r>
                            <m:rPr>
                              <m:nor/>
                            </m:rPr>
                            <a:rPr lang="en-US" b="1" baseline="-25000" dirty="0">
                              <a:latin typeface="Times New Roman" pitchFamily="18" charset="0"/>
                              <a:cs typeface="Times New Roman" pitchFamily="18" charset="0"/>
                            </a:rPr>
                            <m:t>e</m:t>
                          </m:r>
                        </m:den>
                      </m:f>
                    </m:oMath>
                  </a14:m>
                  <a:endParaRPr lang="en-US" b="1" dirty="0"/>
                </a:p>
              </p:txBody>
            </p:sp>
          </mc:Choice>
          <mc:Fallback xmlns="">
            <p:sp>
              <p:nvSpPr>
                <p:cNvPr id="18" name="TextBox 17"/>
                <p:cNvSpPr txBox="1">
                  <a:spLocks noRot="1" noChangeAspect="1" noMove="1" noResize="1" noEditPoints="1" noAdjustHandles="1" noChangeArrowheads="1" noChangeShapeType="1" noTextEdit="1"/>
                </p:cNvSpPr>
                <p:nvPr/>
              </p:nvSpPr>
              <p:spPr>
                <a:xfrm>
                  <a:off x="2667000" y="4612563"/>
                  <a:ext cx="2506980" cy="468270"/>
                </a:xfrm>
                <a:prstGeom prst="rect">
                  <a:avLst/>
                </a:prstGeom>
                <a:blipFill rotWithShape="1">
                  <a:blip r:embed="rId7"/>
                  <a:stretch>
                    <a:fillRect l="-2190" b="-9211"/>
                  </a:stretch>
                </a:blipFill>
              </p:spPr>
              <p:txBody>
                <a:bodyPr/>
                <a:lstStyle/>
                <a:p>
                  <a:r>
                    <a:rPr lang="en-US">
                      <a:noFill/>
                    </a:rPr>
                    <a:t> </a:t>
                  </a:r>
                </a:p>
              </p:txBody>
            </p:sp>
          </mc:Fallback>
        </mc:AlternateContent>
        <p:sp>
          <p:nvSpPr>
            <p:cNvPr id="19" name="TextBox 18"/>
            <p:cNvSpPr txBox="1"/>
            <p:nvPr/>
          </p:nvSpPr>
          <p:spPr>
            <a:xfrm>
              <a:off x="304761" y="5029200"/>
              <a:ext cx="3246042" cy="369332"/>
            </a:xfrm>
            <a:prstGeom prst="rect">
              <a:avLst/>
            </a:prstGeom>
            <a:noFill/>
          </p:spPr>
          <p:txBody>
            <a:bodyPr wrap="square" rtlCol="0">
              <a:spAutoFit/>
            </a:bodyPr>
            <a:lstStyle/>
            <a:p>
              <a:r>
                <a:rPr lang="en-US" dirty="0" smtClean="0">
                  <a:latin typeface="Times New Roman" pitchFamily="18" charset="0"/>
                  <a:cs typeface="Times New Roman" pitchFamily="18" charset="0"/>
                </a:rPr>
                <a:t>Substituting values,</a:t>
              </a:r>
            </a:p>
          </p:txBody>
        </p:sp>
        <p:sp>
          <p:nvSpPr>
            <p:cNvPr id="20" name="TextBox 19"/>
            <p:cNvSpPr txBox="1"/>
            <p:nvPr/>
          </p:nvSpPr>
          <p:spPr>
            <a:xfrm>
              <a:off x="152400" y="5567761"/>
              <a:ext cx="3733800" cy="369332"/>
            </a:xfrm>
            <a:prstGeom prst="rect">
              <a:avLst/>
            </a:prstGeom>
            <a:noFill/>
          </p:spPr>
          <p:txBody>
            <a:bodyPr wrap="square" rtlCol="0">
              <a:spAutoFit/>
            </a:bodyPr>
            <a:lstStyle/>
            <a:p>
              <a:r>
                <a:rPr lang="en-US" dirty="0" smtClean="0">
                  <a:latin typeface="Times New Roman" pitchFamily="18" charset="0"/>
                  <a:cs typeface="Times New Roman" pitchFamily="18" charset="0"/>
                </a:rPr>
                <a:t>The apparent frequency of sound is,</a:t>
              </a:r>
              <a:endParaRPr lang="en-US" dirty="0">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21" name="TextBox 20"/>
                <p:cNvSpPr txBox="1"/>
                <p:nvPr/>
              </p:nvSpPr>
              <p:spPr>
                <a:xfrm>
                  <a:off x="3813499" y="5507520"/>
                  <a:ext cx="2667000" cy="859146"/>
                </a:xfrm>
                <a:prstGeom prst="rect">
                  <a:avLst/>
                </a:prstGeom>
                <a:noFill/>
              </p:spPr>
              <p:txBody>
                <a:bodyPr wrap="square" rtlCol="0">
                  <a:spAutoFit/>
                </a:bodyPr>
                <a:lstStyle/>
                <a:p>
                  <a:r>
                    <a:rPr lang="en-US" b="1" dirty="0" smtClean="0">
                      <a:latin typeface="Times New Roman" pitchFamily="18" charset="0"/>
                      <a:cs typeface="Times New Roman" pitchFamily="18" charset="0"/>
                    </a:rPr>
                    <a:t>f ' = </a:t>
                  </a:r>
                  <a14:m>
                    <m:oMath xmlns:m="http://schemas.openxmlformats.org/officeDocument/2006/math">
                      <m:d>
                        <m:dPr>
                          <m:ctrlPr>
                            <a:rPr lang="en-US" b="1" i="1">
                              <a:latin typeface="Cambria Math"/>
                            </a:rPr>
                          </m:ctrlPr>
                        </m:dPr>
                        <m:e>
                          <m:r>
                            <a:rPr lang="en-US" b="1">
                              <a:latin typeface="Cambria Math"/>
                            </a:rPr>
                            <m:t> </m:t>
                          </m:r>
                          <m:f>
                            <m:fPr>
                              <m:ctrlPr>
                                <a:rPr lang="en-US" b="1" i="1">
                                  <a:latin typeface="Cambria Math"/>
                                </a:rPr>
                              </m:ctrlPr>
                            </m:fPr>
                            <m:num>
                              <m:r>
                                <a:rPr lang="en-US" b="1" i="1" dirty="0">
                                  <a:latin typeface="Cambria Math"/>
                                  <a:cs typeface="Times New Roman" pitchFamily="18" charset="0"/>
                                </a:rPr>
                                <m:t>𝒗</m:t>
                              </m:r>
                              <m:r>
                                <a:rPr lang="en-US" b="1" i="1" dirty="0" smtClean="0">
                                  <a:latin typeface="Cambria Math"/>
                                  <a:cs typeface="Times New Roman" pitchFamily="18" charset="0"/>
                                </a:rPr>
                                <m:t>−</m:t>
                              </m:r>
                              <m:r>
                                <a:rPr lang="en-US" b="1" i="1" dirty="0">
                                  <a:latin typeface="Cambria Math"/>
                                  <a:cs typeface="Times New Roman" pitchFamily="18" charset="0"/>
                                </a:rPr>
                                <m:t>𝒗</m:t>
                              </m:r>
                              <m:r>
                                <a:rPr lang="en-US" b="1" i="1" dirty="0">
                                  <a:latin typeface="Cambria Math"/>
                                  <a:cs typeface="Times New Roman" pitchFamily="18" charset="0"/>
                                </a:rPr>
                                <m:t>₀</m:t>
                              </m:r>
                            </m:num>
                            <m:den>
                              <m:r>
                                <m:rPr>
                                  <m:nor/>
                                </m:rPr>
                                <a:rPr lang="en-US" b="1" i="0" dirty="0" smtClean="0">
                                  <a:latin typeface="Cambria Math"/>
                                  <a:cs typeface="Times New Roman" pitchFamily="18" charset="0"/>
                                </a:rPr>
                                <m:t>v</m:t>
                              </m:r>
                              <m:r>
                                <m:rPr>
                                  <m:nor/>
                                </m:rPr>
                                <a:rPr lang="en-US" b="1" i="0" dirty="0" smtClean="0">
                                  <a:latin typeface="Cambria Math"/>
                                  <a:cs typeface="Times New Roman" pitchFamily="18" charset="0"/>
                                </a:rPr>
                                <m:t>−</m:t>
                              </m:r>
                              <m:r>
                                <m:rPr>
                                  <m:nor/>
                                </m:rPr>
                                <a:rPr lang="en-US" b="1" i="0" dirty="0" smtClean="0">
                                  <a:latin typeface="Times New Roman" pitchFamily="18" charset="0"/>
                                  <a:cs typeface="Times New Roman" pitchFamily="18" charset="0"/>
                                </a:rPr>
                                <m:t>v</m:t>
                              </m:r>
                              <m:r>
                                <m:rPr>
                                  <m:nor/>
                                </m:rPr>
                                <a:rPr lang="en-US" b="1" baseline="-25000" dirty="0" smtClean="0">
                                  <a:latin typeface="Times New Roman" pitchFamily="18" charset="0"/>
                                  <a:cs typeface="Times New Roman" pitchFamily="18" charset="0"/>
                                </a:rPr>
                                <m:t>s</m:t>
                              </m:r>
                            </m:den>
                          </m:f>
                        </m:e>
                      </m:d>
                    </m:oMath>
                  </a14:m>
                  <a:r>
                    <a:rPr lang="en-US" b="1" dirty="0">
                      <a:latin typeface="Times New Roman" pitchFamily="18" charset="0"/>
                      <a:cs typeface="Times New Roman" pitchFamily="18" charset="0"/>
                    </a:rPr>
                    <a:t>f</a:t>
                  </a:r>
                </a:p>
                <a:p>
                  <a:endParaRPr lang="en-US" dirty="0"/>
                </a:p>
              </p:txBody>
            </p:sp>
          </mc:Choice>
          <mc:Fallback xmlns="">
            <p:sp>
              <p:nvSpPr>
                <p:cNvPr id="21" name="TextBox 20"/>
                <p:cNvSpPr txBox="1">
                  <a:spLocks noRot="1" noChangeAspect="1" noMove="1" noResize="1" noEditPoints="1" noAdjustHandles="1" noChangeArrowheads="1" noChangeShapeType="1" noTextEdit="1"/>
                </p:cNvSpPr>
                <p:nvPr/>
              </p:nvSpPr>
              <p:spPr>
                <a:xfrm>
                  <a:off x="3813499" y="5507520"/>
                  <a:ext cx="2667000" cy="859146"/>
                </a:xfrm>
                <a:prstGeom prst="rect">
                  <a:avLst/>
                </a:prstGeom>
                <a:blipFill rotWithShape="1">
                  <a:blip r:embed="rId8"/>
                  <a:stretch>
                    <a:fillRect l="-2059" b="-106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p:cNvSpPr txBox="1"/>
                <p:nvPr/>
              </p:nvSpPr>
              <p:spPr>
                <a:xfrm>
                  <a:off x="5070798" y="3068101"/>
                  <a:ext cx="2819401" cy="2062103"/>
                </a:xfrm>
                <a:prstGeom prst="rect">
                  <a:avLst/>
                </a:prstGeom>
                <a:noFill/>
              </p:spPr>
              <p:txBody>
                <a:bodyPr wrap="square" rtlCol="0">
                  <a:spAutoFit/>
                </a:bodyPr>
                <a:lstStyle/>
                <a:p>
                  <a:r>
                    <a:rPr lang="en-US" sz="1600" b="1" dirty="0" smtClean="0">
                      <a:solidFill>
                        <a:srgbClr val="FF0000"/>
                      </a:solidFill>
                      <a:latin typeface="Times New Roman" pitchFamily="18" charset="0"/>
                      <a:cs typeface="Times New Roman" pitchFamily="18" charset="0"/>
                    </a:rPr>
                    <a:t>V</a:t>
                  </a:r>
                  <a:r>
                    <a:rPr lang="en-US" sz="1600" dirty="0" smtClean="0">
                      <a:latin typeface="Times New Roman" pitchFamily="18" charset="0"/>
                      <a:cs typeface="Times New Roman" pitchFamily="18" charset="0"/>
                    </a:rPr>
                    <a:t>=Velocity of sound</a:t>
                  </a:r>
                </a:p>
                <a:p>
                  <a14:m>
                    <m:oMath xmlns:m="http://schemas.openxmlformats.org/officeDocument/2006/math">
                      <m:r>
                        <a:rPr lang="en-US" sz="1600" b="1" i="0" dirty="0" smtClean="0">
                          <a:solidFill>
                            <a:srgbClr val="FF0000"/>
                          </a:solidFill>
                          <a:latin typeface="Cambria Math"/>
                          <a:cs typeface="Times New Roman" pitchFamily="18" charset="0"/>
                        </a:rPr>
                        <m:t>𝐯</m:t>
                      </m:r>
                      <m:r>
                        <a:rPr lang="en-US" sz="1600" b="1" i="0" dirty="0" smtClean="0">
                          <a:solidFill>
                            <a:srgbClr val="FF0000"/>
                          </a:solidFill>
                          <a:latin typeface="Cambria Math"/>
                          <a:cs typeface="Times New Roman" pitchFamily="18" charset="0"/>
                        </a:rPr>
                        <m:t>₀</m:t>
                      </m:r>
                    </m:oMath>
                  </a14:m>
                  <a:r>
                    <a:rPr lang="en-US" sz="1600" dirty="0" smtClean="0">
                      <a:latin typeface="Times New Roman" pitchFamily="18" charset="0"/>
                      <a:cs typeface="Times New Roman" pitchFamily="18" charset="0"/>
                    </a:rPr>
                    <a:t>= Velocity of observer</a:t>
                  </a:r>
                </a:p>
                <a:p>
                  <a14:m>
                    <m:oMath xmlns:m="http://schemas.openxmlformats.org/officeDocument/2006/math">
                      <m:r>
                        <m:rPr>
                          <m:nor/>
                        </m:rPr>
                        <a:rPr lang="en-US" sz="1600" b="1" dirty="0">
                          <a:solidFill>
                            <a:srgbClr val="FF0000"/>
                          </a:solidFill>
                          <a:latin typeface="Times New Roman" pitchFamily="18" charset="0"/>
                          <a:cs typeface="Times New Roman" pitchFamily="18" charset="0"/>
                        </a:rPr>
                        <m:t>V</m:t>
                      </m:r>
                      <m:r>
                        <m:rPr>
                          <m:nor/>
                        </m:rPr>
                        <a:rPr lang="en-US" sz="1600" b="1" baseline="-25000" dirty="0">
                          <a:solidFill>
                            <a:srgbClr val="FF0000"/>
                          </a:solidFill>
                          <a:latin typeface="Times New Roman" pitchFamily="18" charset="0"/>
                          <a:cs typeface="Times New Roman" pitchFamily="18" charset="0"/>
                        </a:rPr>
                        <m:t>s</m:t>
                      </m:r>
                    </m:oMath>
                  </a14:m>
                  <a:r>
                    <a:rPr lang="en-US" sz="1600" dirty="0">
                      <a:latin typeface="Times New Roman" pitchFamily="18" charset="0"/>
                      <a:cs typeface="Times New Roman" pitchFamily="18" charset="0"/>
                    </a:rPr>
                    <a:t>= Velocity of </a:t>
                  </a:r>
                  <a:r>
                    <a:rPr lang="en-US" sz="1600" dirty="0" smtClean="0">
                      <a:latin typeface="Times New Roman" pitchFamily="18" charset="0"/>
                      <a:cs typeface="Times New Roman" pitchFamily="18" charset="0"/>
                    </a:rPr>
                    <a:t>source</a:t>
                  </a:r>
                </a:p>
                <a:p>
                  <a:r>
                    <a:rPr lang="en-US" sz="1600" b="1" dirty="0" smtClean="0">
                      <a:solidFill>
                        <a:srgbClr val="FF0000"/>
                      </a:solidFill>
                      <a:latin typeface="Times New Roman" pitchFamily="18" charset="0"/>
                      <a:cs typeface="Times New Roman" pitchFamily="18" charset="0"/>
                    </a:rPr>
                    <a:t>F </a:t>
                  </a:r>
                  <a:r>
                    <a:rPr lang="en-US" sz="1600" dirty="0" smtClean="0">
                      <a:latin typeface="Times New Roman" pitchFamily="18" charset="0"/>
                      <a:cs typeface="Times New Roman" pitchFamily="18" charset="0"/>
                    </a:rPr>
                    <a:t>= </a:t>
                  </a:r>
                  <a:r>
                    <a:rPr lang="en-US" sz="1600" dirty="0" err="1" smtClean="0">
                      <a:latin typeface="Times New Roman" pitchFamily="18" charset="0"/>
                      <a:cs typeface="Times New Roman" pitchFamily="18" charset="0"/>
                    </a:rPr>
                    <a:t>Orginal</a:t>
                  </a:r>
                  <a:r>
                    <a:rPr lang="en-US" sz="1600" dirty="0" smtClean="0">
                      <a:latin typeface="Times New Roman" pitchFamily="18" charset="0"/>
                      <a:cs typeface="Times New Roman" pitchFamily="18" charset="0"/>
                    </a:rPr>
                    <a:t> frequency of sound</a:t>
                  </a:r>
                </a:p>
                <a:p>
                  <a:r>
                    <a:rPr lang="en-US" sz="1600" b="1" dirty="0" smtClean="0">
                      <a:solidFill>
                        <a:srgbClr val="FF0000"/>
                      </a:solidFill>
                      <a:latin typeface="Times New Roman" pitchFamily="18" charset="0"/>
                      <a:cs typeface="Times New Roman" pitchFamily="18" charset="0"/>
                    </a:rPr>
                    <a:t>f </a:t>
                  </a:r>
                  <a:r>
                    <a:rPr lang="en-US" sz="1600" b="1" dirty="0">
                      <a:solidFill>
                        <a:srgbClr val="FF0000"/>
                      </a:solidFill>
                      <a:latin typeface="Times New Roman" pitchFamily="18" charset="0"/>
                      <a:cs typeface="Times New Roman" pitchFamily="18" charset="0"/>
                    </a:rPr>
                    <a:t>'</a:t>
                  </a:r>
                  <a:r>
                    <a:rPr lang="en-US" sz="1600" dirty="0" smtClean="0">
                      <a:latin typeface="Times New Roman" pitchFamily="18" charset="0"/>
                      <a:cs typeface="Times New Roman" pitchFamily="18" charset="0"/>
                    </a:rPr>
                    <a:t>= Apparent frequency</a:t>
                  </a:r>
                </a:p>
                <a:p>
                  <a:r>
                    <a:rPr lang="el-GR" sz="1600" b="1" dirty="0">
                      <a:solidFill>
                        <a:srgbClr val="FF0000"/>
                      </a:solidFill>
                      <a:latin typeface="Times New Roman" pitchFamily="18" charset="0"/>
                      <a:cs typeface="Times New Roman" pitchFamily="18" charset="0"/>
                    </a:rPr>
                    <a:t>λ</a:t>
                  </a:r>
                  <a:r>
                    <a:rPr lang="en-US" sz="1600" b="1" baseline="-25000" dirty="0">
                      <a:solidFill>
                        <a:srgbClr val="FF0000"/>
                      </a:solidFill>
                      <a:latin typeface="Times New Roman" pitchFamily="18" charset="0"/>
                      <a:cs typeface="Times New Roman" pitchFamily="18" charset="0"/>
                    </a:rPr>
                    <a:t>e</a:t>
                  </a:r>
                  <a:r>
                    <a:rPr lang="en-US" sz="1600" dirty="0">
                      <a:latin typeface="Times New Roman" pitchFamily="18" charset="0"/>
                      <a:cs typeface="Times New Roman" pitchFamily="18" charset="0"/>
                    </a:rPr>
                    <a:t>= Effective wavelength</a:t>
                  </a:r>
                </a:p>
                <a:p>
                  <a:r>
                    <a:rPr lang="en-US" sz="1600" b="1" dirty="0">
                      <a:solidFill>
                        <a:srgbClr val="FF0000"/>
                      </a:solidFill>
                      <a:latin typeface="Times New Roman" pitchFamily="18" charset="0"/>
                      <a:cs typeface="Times New Roman" pitchFamily="18" charset="0"/>
                    </a:rPr>
                    <a:t>T</a:t>
                  </a:r>
                  <a:r>
                    <a:rPr lang="en-US" sz="1600" dirty="0">
                      <a:latin typeface="Times New Roman" pitchFamily="18" charset="0"/>
                      <a:cs typeface="Times New Roman" pitchFamily="18" charset="0"/>
                    </a:rPr>
                    <a:t>= Time period</a:t>
                  </a:r>
                </a:p>
                <a:p>
                  <a:endParaRPr lang="en-US" sz="1600" dirty="0">
                    <a:latin typeface="Times New Roman" pitchFamily="18" charset="0"/>
                    <a:cs typeface="Times New Roman" pitchFamily="18" charset="0"/>
                  </a:endParaRPr>
                </a:p>
              </p:txBody>
            </p:sp>
          </mc:Choice>
          <mc:Fallback xmlns="">
            <p:sp>
              <p:nvSpPr>
                <p:cNvPr id="22" name="TextBox 21"/>
                <p:cNvSpPr txBox="1">
                  <a:spLocks noRot="1" noChangeAspect="1" noMove="1" noResize="1" noEditPoints="1" noAdjustHandles="1" noChangeArrowheads="1" noChangeShapeType="1" noTextEdit="1"/>
                </p:cNvSpPr>
                <p:nvPr/>
              </p:nvSpPr>
              <p:spPr>
                <a:xfrm>
                  <a:off x="5070798" y="3068101"/>
                  <a:ext cx="2819401" cy="2062103"/>
                </a:xfrm>
                <a:prstGeom prst="rect">
                  <a:avLst/>
                </a:prstGeom>
                <a:blipFill rotWithShape="1">
                  <a:blip r:embed="rId9"/>
                  <a:stretch>
                    <a:fillRect l="-1299" t="-885" b="-2655"/>
                  </a:stretch>
                </a:blipFill>
              </p:spPr>
              <p:txBody>
                <a:bodyPr/>
                <a:lstStyle/>
                <a:p>
                  <a:r>
                    <a:rPr lang="en-US">
                      <a:noFill/>
                    </a:rPr>
                    <a:t> </a:t>
                  </a:r>
                </a:p>
              </p:txBody>
            </p:sp>
          </mc:Fallback>
        </mc:AlternateContent>
      </p:grpSp>
      <p:sp>
        <p:nvSpPr>
          <p:cNvPr id="23" name="TextBox 22"/>
          <p:cNvSpPr txBox="1"/>
          <p:nvPr/>
        </p:nvSpPr>
        <p:spPr>
          <a:xfrm>
            <a:off x="152399" y="76200"/>
            <a:ext cx="1903037" cy="461665"/>
          </a:xfrm>
          <a:prstGeom prst="rect">
            <a:avLst/>
          </a:prstGeom>
          <a:noFill/>
        </p:spPr>
        <p:txBody>
          <a:bodyPr wrap="square" rtlCol="0">
            <a:spAutoFit/>
          </a:bodyPr>
          <a:lstStyle/>
          <a:p>
            <a:r>
              <a:rPr lang="en-US" sz="2400" b="1" dirty="0" smtClean="0">
                <a:solidFill>
                  <a:srgbClr val="002060"/>
                </a:solidFill>
                <a:latin typeface="Times New Roman" pitchFamily="18" charset="0"/>
                <a:cs typeface="Times New Roman" pitchFamily="18" charset="0"/>
              </a:rPr>
              <a:t>CASE </a:t>
            </a:r>
            <a:r>
              <a:rPr lang="en-US" sz="2400" b="1" dirty="0" smtClean="0">
                <a:solidFill>
                  <a:srgbClr val="002060"/>
                </a:solidFill>
                <a:latin typeface="Times New Roman" pitchFamily="18" charset="0"/>
                <a:cs typeface="Times New Roman" pitchFamily="18" charset="0"/>
              </a:rPr>
              <a:t>VII</a:t>
            </a:r>
            <a:r>
              <a:rPr lang="en-US" sz="2400" b="1" dirty="0" smtClean="0">
                <a:solidFill>
                  <a:srgbClr val="002060"/>
                </a:solidFill>
                <a:latin typeface="Times New Roman" pitchFamily="18" charset="0"/>
                <a:cs typeface="Times New Roman" pitchFamily="18" charset="0"/>
              </a:rPr>
              <a:t>:</a:t>
            </a:r>
            <a:endParaRPr lang="en-US" sz="2400" b="1" dirty="0">
              <a:solidFill>
                <a:srgbClr val="002060"/>
              </a:solidFill>
              <a:latin typeface="Times New Roman" pitchFamily="18" charset="0"/>
              <a:cs typeface="Times New Roman" pitchFamily="18" charset="0"/>
            </a:endParaRPr>
          </a:p>
        </p:txBody>
      </p:sp>
    </p:spTree>
    <p:extLst>
      <p:ext uri="{BB962C8B-B14F-4D97-AF65-F5344CB8AC3E}">
        <p14:creationId xmlns:p14="http://schemas.microsoft.com/office/powerpoint/2010/main" val="185773602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81000" y="125963"/>
            <a:ext cx="7239000" cy="1077218"/>
          </a:xfrm>
          <a:prstGeom prst="rect">
            <a:avLst/>
          </a:prstGeom>
          <a:noFill/>
        </p:spPr>
        <p:txBody>
          <a:bodyPr wrap="square" rtlCol="0">
            <a:spAutoFit/>
          </a:bodyPr>
          <a:lstStyle/>
          <a:p>
            <a:r>
              <a:rPr lang="en-US" sz="3200" b="1" dirty="0" smtClean="0">
                <a:solidFill>
                  <a:schemeClr val="accent5">
                    <a:lumMod val="50000"/>
                  </a:schemeClr>
                </a:solidFill>
                <a:latin typeface="Times New Roman" pitchFamily="18" charset="0"/>
                <a:cs typeface="Times New Roman" pitchFamily="18" charset="0"/>
              </a:rPr>
              <a:t>REAL-LIFE EXAMPLES &amp; APPLICATIONS</a:t>
            </a:r>
            <a:endParaRPr lang="en-US" sz="3200" b="1" dirty="0">
              <a:solidFill>
                <a:schemeClr val="accent5">
                  <a:lumMod val="50000"/>
                </a:schemeClr>
              </a:solidFill>
              <a:latin typeface="Times New Roman" pitchFamily="18" charset="0"/>
              <a:cs typeface="Times New Roman" pitchFamily="18" charset="0"/>
            </a:endParaRPr>
          </a:p>
        </p:txBody>
      </p:sp>
      <p:sp>
        <p:nvSpPr>
          <p:cNvPr id="5" name="TextBox 4"/>
          <p:cNvSpPr txBox="1"/>
          <p:nvPr/>
        </p:nvSpPr>
        <p:spPr>
          <a:xfrm>
            <a:off x="381000" y="1447800"/>
            <a:ext cx="6705600" cy="4708981"/>
          </a:xfrm>
          <a:prstGeom prst="rect">
            <a:avLst/>
          </a:prstGeom>
          <a:noFill/>
        </p:spPr>
        <p:txBody>
          <a:bodyPr wrap="square" rtlCol="0">
            <a:spAutoFit/>
          </a:bodyPr>
          <a:lstStyle/>
          <a:p>
            <a:pPr marL="342900" indent="-342900">
              <a:buFont typeface="+mj-lt"/>
              <a:buAutoNum type="arabicPeriod"/>
            </a:pPr>
            <a:r>
              <a:rPr lang="en-US" sz="2000" b="1" dirty="0" smtClean="0">
                <a:latin typeface="Times New Roman" pitchFamily="18" charset="0"/>
                <a:cs typeface="Times New Roman" pitchFamily="18" charset="0"/>
              </a:rPr>
              <a:t>Ambulance Siren:</a:t>
            </a:r>
            <a:r>
              <a:rPr lang="en-US" sz="2000" dirty="0" smtClean="0">
                <a:latin typeface="Times New Roman" pitchFamily="18" charset="0"/>
                <a:cs typeface="Times New Roman" pitchFamily="18" charset="0"/>
              </a:rPr>
              <a:t/>
            </a:r>
            <a:br>
              <a:rPr lang="en-US" sz="2000" dirty="0" smtClean="0">
                <a:latin typeface="Times New Roman" pitchFamily="18" charset="0"/>
                <a:cs typeface="Times New Roman" pitchFamily="18" charset="0"/>
              </a:rPr>
            </a:br>
            <a:r>
              <a:rPr lang="en-US" sz="2000" dirty="0" smtClean="0">
                <a:latin typeface="Times New Roman" pitchFamily="18" charset="0"/>
                <a:cs typeface="Times New Roman" pitchFamily="18" charset="0"/>
              </a:rPr>
              <a:t>When an ambulance comes toward us, the siren sounds high-pitched, and when it moves away, the pitch decreases.</a:t>
            </a:r>
          </a:p>
          <a:p>
            <a:pPr marL="342900" indent="-342900">
              <a:buFont typeface="+mj-lt"/>
              <a:buAutoNum type="arabicPeriod"/>
            </a:pPr>
            <a:r>
              <a:rPr lang="en-US" sz="2000" b="1" dirty="0" smtClean="0">
                <a:latin typeface="Times New Roman" pitchFamily="18" charset="0"/>
                <a:cs typeface="Times New Roman" pitchFamily="18" charset="0"/>
              </a:rPr>
              <a:t>Train Whistles:</a:t>
            </a:r>
            <a:r>
              <a:rPr lang="en-US" sz="2000" dirty="0" smtClean="0">
                <a:latin typeface="Times New Roman" pitchFamily="18" charset="0"/>
                <a:cs typeface="Times New Roman" pitchFamily="18" charset="0"/>
              </a:rPr>
              <a:t/>
            </a:r>
            <a:br>
              <a:rPr lang="en-US" sz="2000" dirty="0" smtClean="0">
                <a:latin typeface="Times New Roman" pitchFamily="18" charset="0"/>
                <a:cs typeface="Times New Roman" pitchFamily="18" charset="0"/>
              </a:rPr>
            </a:br>
            <a:r>
              <a:rPr lang="en-US" sz="2000" dirty="0" smtClean="0">
                <a:latin typeface="Times New Roman" pitchFamily="18" charset="0"/>
                <a:cs typeface="Times New Roman" pitchFamily="18" charset="0"/>
              </a:rPr>
              <a:t>The sound of a moving train changes as it approaches and passes by a station.</a:t>
            </a:r>
          </a:p>
          <a:p>
            <a:pPr marL="342900" indent="-342900">
              <a:buFont typeface="+mj-lt"/>
              <a:buAutoNum type="arabicPeriod"/>
            </a:pPr>
            <a:r>
              <a:rPr lang="en-US" sz="2000" b="1" dirty="0" smtClean="0">
                <a:latin typeface="Times New Roman" pitchFamily="18" charset="0"/>
                <a:cs typeface="Times New Roman" pitchFamily="18" charset="0"/>
              </a:rPr>
              <a:t>Radar Guns (Police):</a:t>
            </a:r>
            <a:r>
              <a:rPr lang="en-US" sz="2000" dirty="0" smtClean="0">
                <a:latin typeface="Times New Roman" pitchFamily="18" charset="0"/>
                <a:cs typeface="Times New Roman" pitchFamily="18" charset="0"/>
              </a:rPr>
              <a:t/>
            </a:r>
            <a:br>
              <a:rPr lang="en-US" sz="2000" dirty="0" smtClean="0">
                <a:latin typeface="Times New Roman" pitchFamily="18" charset="0"/>
                <a:cs typeface="Times New Roman" pitchFamily="18" charset="0"/>
              </a:rPr>
            </a:br>
            <a:r>
              <a:rPr lang="en-US" sz="2000" dirty="0" smtClean="0">
                <a:latin typeface="Times New Roman" pitchFamily="18" charset="0"/>
                <a:cs typeface="Times New Roman" pitchFamily="18" charset="0"/>
              </a:rPr>
              <a:t>Doppler radar is used by traffic police to measure the speed of moving vehicles.</a:t>
            </a:r>
          </a:p>
          <a:p>
            <a:pPr marL="342900" indent="-342900">
              <a:buFont typeface="+mj-lt"/>
              <a:buAutoNum type="arabicPeriod"/>
            </a:pPr>
            <a:r>
              <a:rPr lang="en-US" sz="2000" b="1" dirty="0" smtClean="0">
                <a:latin typeface="Times New Roman" pitchFamily="18" charset="0"/>
                <a:cs typeface="Times New Roman" pitchFamily="18" charset="0"/>
              </a:rPr>
              <a:t>Weather Forecasting:</a:t>
            </a:r>
            <a:r>
              <a:rPr lang="en-US" sz="2000" dirty="0" smtClean="0">
                <a:latin typeface="Times New Roman" pitchFamily="18" charset="0"/>
                <a:cs typeface="Times New Roman" pitchFamily="18" charset="0"/>
              </a:rPr>
              <a:t/>
            </a:r>
            <a:br>
              <a:rPr lang="en-US" sz="2000" dirty="0" smtClean="0">
                <a:latin typeface="Times New Roman" pitchFamily="18" charset="0"/>
                <a:cs typeface="Times New Roman" pitchFamily="18" charset="0"/>
              </a:rPr>
            </a:br>
            <a:r>
              <a:rPr lang="en-US" sz="2000" dirty="0" smtClean="0">
                <a:latin typeface="Times New Roman" pitchFamily="18" charset="0"/>
                <a:cs typeface="Times New Roman" pitchFamily="18" charset="0"/>
              </a:rPr>
              <a:t>Doppler radar is used to detect storms, wind direction, and rainfall.</a:t>
            </a:r>
          </a:p>
          <a:p>
            <a:pPr marL="342900" indent="-342900">
              <a:buFont typeface="+mj-lt"/>
              <a:buAutoNum type="arabicPeriod"/>
            </a:pPr>
            <a:r>
              <a:rPr lang="en-US" sz="2000" b="1" dirty="0" smtClean="0">
                <a:latin typeface="Times New Roman" pitchFamily="18" charset="0"/>
                <a:cs typeface="Times New Roman" pitchFamily="18" charset="0"/>
              </a:rPr>
              <a:t>Medical Field:</a:t>
            </a:r>
            <a:r>
              <a:rPr lang="en-US" sz="2000" dirty="0" smtClean="0">
                <a:latin typeface="Times New Roman" pitchFamily="18" charset="0"/>
                <a:cs typeface="Times New Roman" pitchFamily="18" charset="0"/>
              </a:rPr>
              <a:t/>
            </a:r>
            <a:br>
              <a:rPr lang="en-US" sz="2000" dirty="0" smtClean="0">
                <a:latin typeface="Times New Roman" pitchFamily="18" charset="0"/>
                <a:cs typeface="Times New Roman" pitchFamily="18" charset="0"/>
              </a:rPr>
            </a:br>
            <a:r>
              <a:rPr lang="en-US" sz="2000" dirty="0" smtClean="0">
                <a:latin typeface="Times New Roman" pitchFamily="18" charset="0"/>
                <a:cs typeface="Times New Roman" pitchFamily="18" charset="0"/>
              </a:rPr>
              <a:t>Doppler ultrasound is used to measure the flow of blood in arteries and detect heart issues.</a:t>
            </a:r>
            <a:endParaRPr lang="en-US" sz="2000" dirty="0">
              <a:latin typeface="Times New Roman" pitchFamily="18" charset="0"/>
              <a:cs typeface="Times New Roman" pitchFamily="18" charset="0"/>
            </a:endParaRPr>
          </a:p>
        </p:txBody>
      </p:sp>
    </p:spTree>
    <p:extLst>
      <p:ext uri="{BB962C8B-B14F-4D97-AF65-F5344CB8AC3E}">
        <p14:creationId xmlns:p14="http://schemas.microsoft.com/office/powerpoint/2010/main" val="207470385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81000" y="125963"/>
            <a:ext cx="8001000" cy="584775"/>
          </a:xfrm>
          <a:prstGeom prst="rect">
            <a:avLst/>
          </a:prstGeom>
          <a:noFill/>
        </p:spPr>
        <p:txBody>
          <a:bodyPr wrap="square" rtlCol="0">
            <a:spAutoFit/>
          </a:bodyPr>
          <a:lstStyle/>
          <a:p>
            <a:r>
              <a:rPr lang="en-US" sz="3200" b="1" dirty="0" smtClean="0">
                <a:solidFill>
                  <a:schemeClr val="accent5">
                    <a:lumMod val="50000"/>
                  </a:schemeClr>
                </a:solidFill>
                <a:latin typeface="Times New Roman" pitchFamily="18" charset="0"/>
                <a:cs typeface="Times New Roman" pitchFamily="18" charset="0"/>
              </a:rPr>
              <a:t>LIMITATIONS OF DOPPLER’S EFFECT</a:t>
            </a:r>
            <a:endParaRPr lang="en-US" sz="3200" b="1" dirty="0">
              <a:solidFill>
                <a:schemeClr val="accent5">
                  <a:lumMod val="50000"/>
                </a:schemeClr>
              </a:solidFill>
              <a:latin typeface="Times New Roman" pitchFamily="18" charset="0"/>
              <a:cs typeface="Times New Roman" pitchFamily="18" charset="0"/>
            </a:endParaRPr>
          </a:p>
        </p:txBody>
      </p:sp>
      <p:sp>
        <p:nvSpPr>
          <p:cNvPr id="7" name="Rectangle 2"/>
          <p:cNvSpPr>
            <a:spLocks noChangeArrowheads="1"/>
          </p:cNvSpPr>
          <p:nvPr/>
        </p:nvSpPr>
        <p:spPr bwMode="auto">
          <a:xfrm>
            <a:off x="186614" y="1219200"/>
            <a:ext cx="7315200"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1" fontAlgn="base" latinLnBrk="0" hangingPunct="1">
              <a:lnSpc>
                <a:spcPct val="100000"/>
              </a:lnSpc>
              <a:spcBef>
                <a:spcPct val="0"/>
              </a:spcBef>
              <a:spcAft>
                <a:spcPct val="0"/>
              </a:spcAft>
              <a:buClrTx/>
              <a:buSzTx/>
              <a:buFont typeface="+mj-lt"/>
              <a:buAutoNum type="arabicPeriod"/>
              <a:tabLst/>
            </a:pPr>
            <a:r>
              <a:rPr kumimoji="0" lang="en-US" sz="2000" b="1" i="0" u="none" strike="noStrike" cap="none" normalizeH="0" baseline="0" dirty="0" smtClean="0">
                <a:ln>
                  <a:noFill/>
                </a:ln>
                <a:solidFill>
                  <a:schemeClr val="tx1"/>
                </a:solidFill>
                <a:effectLst/>
                <a:latin typeface="Times New Roman" pitchFamily="18" charset="0"/>
                <a:cs typeface="Times New Roman" pitchFamily="18" charset="0"/>
              </a:rPr>
              <a:t>Assumes Low Speed:</a:t>
            </a:r>
            <a:r>
              <a:rPr kumimoji="0" lang="en-US" sz="2000" b="0" i="0" u="none" strike="noStrike" cap="none" normalizeH="0" baseline="0" dirty="0" smtClean="0">
                <a:ln>
                  <a:noFill/>
                </a:ln>
                <a:solidFill>
                  <a:schemeClr val="tx1"/>
                </a:solidFill>
                <a:effectLst/>
                <a:latin typeface="Times New Roman" pitchFamily="18" charset="0"/>
                <a:cs typeface="Times New Roman" pitchFamily="18" charset="0"/>
              </a:rPr>
              <a:t/>
            </a:r>
            <a:br>
              <a:rPr kumimoji="0" lang="en-US" sz="2000" b="0" i="0" u="none" strike="noStrike" cap="none" normalizeH="0" baseline="0" dirty="0" smtClean="0">
                <a:ln>
                  <a:noFill/>
                </a:ln>
                <a:solidFill>
                  <a:schemeClr val="tx1"/>
                </a:solidFill>
                <a:effectLst/>
                <a:latin typeface="Times New Roman" pitchFamily="18" charset="0"/>
                <a:cs typeface="Times New Roman" pitchFamily="18" charset="0"/>
              </a:rPr>
            </a:br>
            <a:r>
              <a:rPr kumimoji="0" lang="en-US" sz="2000" b="0" i="0" u="none" strike="noStrike" cap="none" normalizeH="0" baseline="0" dirty="0" smtClean="0">
                <a:ln>
                  <a:noFill/>
                </a:ln>
                <a:solidFill>
                  <a:schemeClr val="tx1"/>
                </a:solidFill>
                <a:effectLst/>
                <a:latin typeface="Times New Roman" pitchFamily="18" charset="0"/>
                <a:cs typeface="Times New Roman" pitchFamily="18" charset="0"/>
              </a:rPr>
              <a:t>The formulas work accurately only when the speeds of the source and observer are much smaller than the speed of sound.</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sz="2000" b="1" i="0" u="none" strike="noStrike" cap="none" normalizeH="0" baseline="0" dirty="0" smtClean="0">
                <a:ln>
                  <a:noFill/>
                </a:ln>
                <a:solidFill>
                  <a:schemeClr val="tx1"/>
                </a:solidFill>
                <a:effectLst/>
                <a:latin typeface="Times New Roman" pitchFamily="18" charset="0"/>
                <a:cs typeface="Times New Roman" pitchFamily="18" charset="0"/>
              </a:rPr>
              <a:t>Medium Required:</a:t>
            </a:r>
            <a:r>
              <a:rPr kumimoji="0" lang="en-US" sz="2000" b="0" i="0" u="none" strike="noStrike" cap="none" normalizeH="0" baseline="0" dirty="0" smtClean="0">
                <a:ln>
                  <a:noFill/>
                </a:ln>
                <a:solidFill>
                  <a:schemeClr val="tx1"/>
                </a:solidFill>
                <a:effectLst/>
                <a:latin typeface="Times New Roman" pitchFamily="18" charset="0"/>
                <a:cs typeface="Times New Roman" pitchFamily="18" charset="0"/>
              </a:rPr>
              <a:t/>
            </a:r>
            <a:br>
              <a:rPr kumimoji="0" lang="en-US" sz="2000" b="0" i="0" u="none" strike="noStrike" cap="none" normalizeH="0" baseline="0" dirty="0" smtClean="0">
                <a:ln>
                  <a:noFill/>
                </a:ln>
                <a:solidFill>
                  <a:schemeClr val="tx1"/>
                </a:solidFill>
                <a:effectLst/>
                <a:latin typeface="Times New Roman" pitchFamily="18" charset="0"/>
                <a:cs typeface="Times New Roman" pitchFamily="18" charset="0"/>
              </a:rPr>
            </a:br>
            <a:r>
              <a:rPr kumimoji="0" lang="en-US" sz="2000" b="0" i="0" u="none" strike="noStrike" cap="none" normalizeH="0" baseline="0" dirty="0" smtClean="0">
                <a:ln>
                  <a:noFill/>
                </a:ln>
                <a:solidFill>
                  <a:schemeClr val="tx1"/>
                </a:solidFill>
                <a:effectLst/>
                <a:latin typeface="Times New Roman" pitchFamily="18" charset="0"/>
                <a:cs typeface="Times New Roman" pitchFamily="18" charset="0"/>
              </a:rPr>
              <a:t>Sound Doppler Effect cannot occur in a vacuum because sound needs a medium.</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sz="2000" b="1" i="0" u="none" strike="noStrike" cap="none" normalizeH="0" baseline="0" dirty="0" smtClean="0">
                <a:ln>
                  <a:noFill/>
                </a:ln>
                <a:solidFill>
                  <a:schemeClr val="tx1"/>
                </a:solidFill>
                <a:effectLst/>
                <a:latin typeface="Times New Roman" pitchFamily="18" charset="0"/>
                <a:cs typeface="Times New Roman" pitchFamily="18" charset="0"/>
              </a:rPr>
              <a:t>Wind Effect:</a:t>
            </a:r>
            <a:r>
              <a:rPr kumimoji="0" lang="en-US" sz="2000" b="0" i="0" u="none" strike="noStrike" cap="none" normalizeH="0" baseline="0" dirty="0" smtClean="0">
                <a:ln>
                  <a:noFill/>
                </a:ln>
                <a:solidFill>
                  <a:schemeClr val="tx1"/>
                </a:solidFill>
                <a:effectLst/>
                <a:latin typeface="Times New Roman" pitchFamily="18" charset="0"/>
                <a:cs typeface="Times New Roman" pitchFamily="18" charset="0"/>
              </a:rPr>
              <a:t/>
            </a:r>
            <a:br>
              <a:rPr kumimoji="0" lang="en-US" sz="2000" b="0" i="0" u="none" strike="noStrike" cap="none" normalizeH="0" baseline="0" dirty="0" smtClean="0">
                <a:ln>
                  <a:noFill/>
                </a:ln>
                <a:solidFill>
                  <a:schemeClr val="tx1"/>
                </a:solidFill>
                <a:effectLst/>
                <a:latin typeface="Times New Roman" pitchFamily="18" charset="0"/>
                <a:cs typeface="Times New Roman" pitchFamily="18" charset="0"/>
              </a:rPr>
            </a:br>
            <a:r>
              <a:rPr kumimoji="0" lang="en-US" sz="2000" b="0" i="0" u="none" strike="noStrike" cap="none" normalizeH="0" baseline="0" dirty="0" smtClean="0">
                <a:ln>
                  <a:noFill/>
                </a:ln>
                <a:solidFill>
                  <a:schemeClr val="tx1"/>
                </a:solidFill>
                <a:effectLst/>
                <a:latin typeface="Times New Roman" pitchFamily="18" charset="0"/>
                <a:cs typeface="Times New Roman" pitchFamily="18" charset="0"/>
              </a:rPr>
              <a:t>The presence of wind can change the speed of sound and cause errors.</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sz="2000" b="1" i="0" u="none" strike="noStrike" cap="none" normalizeH="0" baseline="0" dirty="0" smtClean="0">
                <a:ln>
                  <a:noFill/>
                </a:ln>
                <a:solidFill>
                  <a:schemeClr val="tx1"/>
                </a:solidFill>
                <a:effectLst/>
                <a:latin typeface="Times New Roman" pitchFamily="18" charset="0"/>
                <a:cs typeface="Times New Roman" pitchFamily="18" charset="0"/>
              </a:rPr>
              <a:t>Complex Motion:</a:t>
            </a:r>
            <a:r>
              <a:rPr kumimoji="0" lang="en-US" sz="2000" b="0" i="0" u="none" strike="noStrike" cap="none" normalizeH="0" baseline="0" dirty="0" smtClean="0">
                <a:ln>
                  <a:noFill/>
                </a:ln>
                <a:solidFill>
                  <a:schemeClr val="tx1"/>
                </a:solidFill>
                <a:effectLst/>
                <a:latin typeface="Times New Roman" pitchFamily="18" charset="0"/>
                <a:cs typeface="Times New Roman" pitchFamily="18" charset="0"/>
              </a:rPr>
              <a:t/>
            </a:r>
            <a:br>
              <a:rPr kumimoji="0" lang="en-US" sz="2000" b="0" i="0" u="none" strike="noStrike" cap="none" normalizeH="0" baseline="0" dirty="0" smtClean="0">
                <a:ln>
                  <a:noFill/>
                </a:ln>
                <a:solidFill>
                  <a:schemeClr val="tx1"/>
                </a:solidFill>
                <a:effectLst/>
                <a:latin typeface="Times New Roman" pitchFamily="18" charset="0"/>
                <a:cs typeface="Times New Roman" pitchFamily="18" charset="0"/>
              </a:rPr>
            </a:br>
            <a:r>
              <a:rPr kumimoji="0" lang="en-US" sz="2000" b="0" i="0" u="none" strike="noStrike" cap="none" normalizeH="0" baseline="0" dirty="0" smtClean="0">
                <a:ln>
                  <a:noFill/>
                </a:ln>
                <a:solidFill>
                  <a:schemeClr val="tx1"/>
                </a:solidFill>
                <a:effectLst/>
                <a:latin typeface="Times New Roman" pitchFamily="18" charset="0"/>
                <a:cs typeface="Times New Roman" pitchFamily="18" charset="0"/>
              </a:rPr>
              <a:t>If the source or observer moves in a curved path instead of a straight line, the calculations become complicated.</a:t>
            </a:r>
          </a:p>
        </p:txBody>
      </p:sp>
    </p:spTree>
    <p:extLst>
      <p:ext uri="{BB962C8B-B14F-4D97-AF65-F5344CB8AC3E}">
        <p14:creationId xmlns:p14="http://schemas.microsoft.com/office/powerpoint/2010/main" val="122482805"/>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537</TotalTime>
  <Words>1207</Words>
  <Application>Microsoft Office PowerPoint</Application>
  <PresentationFormat>On-screen Show (4:3)</PresentationFormat>
  <Paragraphs>159</Paragraphs>
  <Slides>11</Slides>
  <Notes>0</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dell</dc:creator>
  <cp:lastModifiedBy>dell</cp:lastModifiedBy>
  <cp:revision>45</cp:revision>
  <dcterms:created xsi:type="dcterms:W3CDTF">2025-11-29T16:50:25Z</dcterms:created>
  <dcterms:modified xsi:type="dcterms:W3CDTF">2026-07-29T16:06:28Z</dcterms:modified>
</cp:coreProperties>
</file>